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开场 20 秒：各位老师好，我的课题是基于多智能体协同的物业报修工单自动派发与闭环验证系统。系统用 4 个专职 Agent 加 1 个编排中心，把报修从理解、派单、监控到验收全部自动流转，每一步都可追溯。</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目录：八个部分，重点在第三、四部分的 Agent 与闭环，以及第五、六部分的演示与数据。</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五个痛点：描述不规范、紧急难识别、派单靠经验、过程不透明、完工缺验收。历史数据里超时工单闭环率只有 57.5%，说明超时治理就是闭环关键。</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现状分三条线：规则系统可解释但泛化弱；工单系统解决线上化但派单验收仍靠人；多智能体与 LLM 是趋势但有黑箱和成本问题。因此本课题选择可解释规则 + 状态机 + 离线先验。</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架构分四层：接入、服务、编排、数据。编排中心管理状态机与事件流，下面是四个专职 Agent；右边是 Pandas 离线分析，把 3000 条历史工单变成派单先验。</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1 用规则和关键词加权把口语文本转成结构字段，并且安全优先；Agent 2 先按工种硬过滤，再用六因子评分选人，所有候选得分都写入日志。</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3 监控接单和处理时限，生成 L0/L1/L2 三级预警并升级；Agent 4 按类型做 5 项验收检查，安全类工单更严格，不通过就退回整改。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状态机六状态加验收分支。重点在退回整改：验收不通过不关闭工单，补充材料重新提交，通过才写 closed_at；人工改派也会重置时限并留痕。</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这条时间线是系统真实跑出来的：T+00 理解和派单，T+25 接单超时提醒，T+26 接单，T+35 处理超时升级主管，T+38 因为 0 张照片被退回，T+45 补 2 张照片后闭环。截图是真实运行页面。</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实现上，后端 FastAPI + SQLite WAL，前端原生页面加本地 ECharts，不依赖外网；pytest 22 项覆盖理解、派单、监控、验收、演示和 API。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3000 条历史工单：闭环率 93.6%、超时率 12.1%、平均处理 92.9 分钟。类型上给排水占 32.1%；时间上双高峰；最关键的结论是超时工单闭环率只有 57.5%。这些统计直接变成在线派单先验。</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 条样本：类型理解 98.83%，紧急度 96.50%，工种匹配 99.17%，综合派单 98.83%；验收通过率只有 71.33%，原因是历史记录里 16.7% 没照片、15% 说明不匹配，这恰好说明验收规则有效。要强调这是同分布测试，指标偏乐观。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决策日志回答五个问题：谁在做、为什么、花了多久、关联哪条工单、输出了什么。这是答辩时解释“为什么派给王建国”“为什么验收退回”的直接证据。</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三个创新点：第一，多智能体协同的闭环，从分类扩展到全流程并可退回；第二，可追溯决策日志，每一步有依据和耗时；第三，离线分析反哺在线评分，体现数据专业底色。</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演示五步：总览、智能派单、完整闭环演示、工单中心、决策日志。部署只需要一条 run.sh，首次运行自动生成数据并初始化，完全离线可演示。</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不足与展望诚实说明：规则泛化有限、监控按请求触发、SQLite 单机、模拟数据且照片只校验数量。对应未来工作是 LLM 兜底、常驻调度、PostgreSQL 和图像识别。</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总结：系统用 4 个专职 Agent 加 1 个编排中心，把物业报修变成可解释、可追溯、可复现的闭环。感谢老师指导，请各位老师批评指正。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863840" y="-2103120"/>
            <a:ext cx="6583680" cy="6583680"/>
          </a:xfrm>
          <a:prstGeom prst="ellipse">
            <a:avLst/>
          </a:prstGeom>
          <a:noFill/>
          <a:ln w="1524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326880" y="3566160"/>
            <a:ext cx="4206240" cy="4206240"/>
          </a:xfrm>
          <a:prstGeom prst="ellipse">
            <a:avLst/>
          </a:prstGeom>
          <a:solidFill>
            <a:srgbClr val="122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424160" y="-822960"/>
            <a:ext cx="2103120" cy="2103120"/>
          </a:xfrm>
          <a:prstGeom prst="ellipse">
            <a:avLst/>
          </a:prstGeom>
          <a:no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777240" y="1051560"/>
            <a:ext cx="822960" cy="457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713232"/>
            <a:ext cx="6400800" cy="274320"/>
          </a:xfrm>
          <a:prstGeom prst="rect">
            <a:avLst/>
          </a:prstGeom>
          <a:noFill/>
        </p:spPr>
        <p:txBody>
          <a:bodyPr wrap="square" lIns="0" rIns="0" tIns="0" bIns="0" anchor="t">
            <a:spAutoFit/>
          </a:bodyPr>
          <a:lstStyle/>
          <a:p>
            <a:pPr algn="l">
              <a:lnSpc>
                <a:spcPct val="112000"/>
              </a:lnSpc>
            </a:pPr>
            <a:r>
              <a:rPr sz="1300" b="1" i="0">
                <a:solidFill>
                  <a:srgbClr val="93C5FD"/>
                </a:solidFill>
                <a:latin typeface="微软雅黑"/>
                <a:ea typeface="微软雅黑"/>
              </a:rPr>
              <a:t>毕业设计 / 课程设计 · 答辩汇报</a:t>
            </a:r>
          </a:p>
        </p:txBody>
      </p:sp>
      <p:sp>
        <p:nvSpPr>
          <p:cNvPr id="8" name="TextBox 7"/>
          <p:cNvSpPr txBox="1"/>
          <p:nvPr/>
        </p:nvSpPr>
        <p:spPr>
          <a:xfrm>
            <a:off x="777240" y="1417320"/>
            <a:ext cx="7498079" cy="731520"/>
          </a:xfrm>
          <a:prstGeom prst="rect">
            <a:avLst/>
          </a:prstGeom>
          <a:noFill/>
        </p:spPr>
        <p:txBody>
          <a:bodyPr wrap="square" lIns="0" rIns="0" tIns="0" bIns="0" anchor="t">
            <a:spAutoFit/>
          </a:bodyPr>
          <a:lstStyle/>
          <a:p>
            <a:pPr algn="l">
              <a:lnSpc>
                <a:spcPct val="112000"/>
              </a:lnSpc>
            </a:pPr>
            <a:r>
              <a:rPr sz="3400" b="1" i="0">
                <a:solidFill>
                  <a:srgbClr val="FFFFFF"/>
                </a:solidFill>
                <a:latin typeface="微软雅黑"/>
                <a:ea typeface="微软雅黑"/>
              </a:rPr>
              <a:t>基于多智能体协同的</a:t>
            </a:r>
          </a:p>
        </p:txBody>
      </p:sp>
      <p:sp>
        <p:nvSpPr>
          <p:cNvPr id="9" name="TextBox 8"/>
          <p:cNvSpPr txBox="1"/>
          <p:nvPr/>
        </p:nvSpPr>
        <p:spPr>
          <a:xfrm>
            <a:off x="777240" y="2121408"/>
            <a:ext cx="7589520" cy="1371600"/>
          </a:xfrm>
          <a:prstGeom prst="rect">
            <a:avLst/>
          </a:prstGeom>
          <a:noFill/>
        </p:spPr>
        <p:txBody>
          <a:bodyPr wrap="square" lIns="0" rIns="0" tIns="0" bIns="0" anchor="t">
            <a:spAutoFit/>
          </a:bodyPr>
          <a:lstStyle/>
          <a:p>
            <a:pPr algn="l">
              <a:lnSpc>
                <a:spcPct val="112000"/>
              </a:lnSpc>
            </a:pPr>
            <a:r>
              <a:rPr sz="3300" b="1" i="0">
                <a:solidFill>
                  <a:srgbClr val="FFFFFF"/>
                </a:solidFill>
                <a:latin typeface="微软雅黑"/>
                <a:ea typeface="微软雅黑"/>
              </a:rPr>
              <a:t>物业报修工单自动派发与闭环验证系统</a:t>
            </a:r>
          </a:p>
        </p:txBody>
      </p:sp>
      <p:sp>
        <p:nvSpPr>
          <p:cNvPr id="10" name="TextBox 9"/>
          <p:cNvSpPr txBox="1"/>
          <p:nvPr/>
        </p:nvSpPr>
        <p:spPr>
          <a:xfrm>
            <a:off x="795528" y="3273552"/>
            <a:ext cx="6949440" cy="365760"/>
          </a:xfrm>
          <a:prstGeom prst="rect">
            <a:avLst/>
          </a:prstGeom>
          <a:noFill/>
        </p:spPr>
        <p:txBody>
          <a:bodyPr wrap="square" lIns="0" rIns="0" tIns="0" bIns="0" anchor="t">
            <a:spAutoFit/>
          </a:bodyPr>
          <a:lstStyle/>
          <a:p>
            <a:pPr algn="l">
              <a:lnSpc>
                <a:spcPct val="112000"/>
              </a:lnSpc>
            </a:pPr>
            <a:r>
              <a:rPr sz="1900" b="1" i="0">
                <a:solidFill>
                  <a:srgbClr val="67E8F9"/>
                </a:solidFill>
                <a:latin typeface="微软雅黑"/>
                <a:ea typeface="微软雅黑"/>
              </a:rPr>
              <a:t>智修云 · 多智能体物业工单闭环系统</a:t>
            </a:r>
          </a:p>
        </p:txBody>
      </p:sp>
      <p:sp>
        <p:nvSpPr>
          <p:cNvPr id="11" name="Rectangle 10"/>
          <p:cNvSpPr/>
          <p:nvPr/>
        </p:nvSpPr>
        <p:spPr>
          <a:xfrm>
            <a:off x="795528" y="3858768"/>
            <a:ext cx="4937760" cy="10972"/>
          </a:xfrm>
          <a:prstGeom prst="rect">
            <a:avLst/>
          </a:prstGeom>
          <a:solidFill>
            <a:srgbClr val="335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95528" y="4023360"/>
            <a:ext cx="7315200" cy="320040"/>
          </a:xfrm>
          <a:prstGeom prst="rect">
            <a:avLst/>
          </a:prstGeom>
          <a:noFill/>
        </p:spPr>
        <p:txBody>
          <a:bodyPr wrap="square" lIns="0" rIns="0" tIns="0" bIns="0" anchor="t">
            <a:spAutoFit/>
          </a:bodyPr>
          <a:lstStyle/>
          <a:p>
            <a:pPr algn="l">
              <a:lnSpc>
                <a:spcPct val="112000"/>
              </a:lnSpc>
            </a:pPr>
            <a:r>
              <a:rPr sz="1300" b="0" i="0">
                <a:solidFill>
                  <a:srgbClr val="CBD5E1"/>
                </a:solidFill>
                <a:latin typeface="微软雅黑"/>
                <a:ea typeface="微软雅黑"/>
              </a:rPr>
              <a:t>报修理解  →  智能派单  →  过程监控  →  闭环验证  →  数据看板</a:t>
            </a:r>
          </a:p>
        </p:txBody>
      </p:sp>
      <p:sp>
        <p:nvSpPr>
          <p:cNvPr id="13" name="TextBox 12"/>
          <p:cNvSpPr txBox="1"/>
          <p:nvPr/>
        </p:nvSpPr>
        <p:spPr>
          <a:xfrm>
            <a:off x="795528" y="5074920"/>
            <a:ext cx="5852160" cy="274320"/>
          </a:xfrm>
          <a:prstGeom prst="rect">
            <a:avLst/>
          </a:prstGeom>
          <a:noFill/>
        </p:spPr>
        <p:txBody>
          <a:bodyPr wrap="square" lIns="0" rIns="0" tIns="0" bIns="0" anchor="t">
            <a:spAutoFit/>
          </a:bodyPr>
          <a:lstStyle/>
          <a:p>
            <a:pPr algn="l">
              <a:lnSpc>
                <a:spcPct val="112000"/>
              </a:lnSpc>
            </a:pPr>
            <a:r>
              <a:rPr sz="1300" b="0" i="0">
                <a:solidFill>
                  <a:srgbClr val="CBD5E1"/>
                </a:solidFill>
                <a:latin typeface="微软雅黑"/>
                <a:ea typeface="微软雅黑"/>
              </a:rPr>
              <a:t>答辩人：____________　指导教师：____________</a:t>
            </a:r>
          </a:p>
        </p:txBody>
      </p:sp>
      <p:sp>
        <p:nvSpPr>
          <p:cNvPr id="14" name="TextBox 13"/>
          <p:cNvSpPr txBox="1"/>
          <p:nvPr/>
        </p:nvSpPr>
        <p:spPr>
          <a:xfrm>
            <a:off x="795528" y="5440680"/>
            <a:ext cx="5852160" cy="274320"/>
          </a:xfrm>
          <a:prstGeom prst="rect">
            <a:avLst/>
          </a:prstGeom>
          <a:noFill/>
        </p:spPr>
        <p:txBody>
          <a:bodyPr wrap="square" lIns="0" rIns="0" tIns="0" bIns="0" anchor="t">
            <a:spAutoFit/>
          </a:bodyPr>
          <a:lstStyle/>
          <a:p>
            <a:pPr algn="l">
              <a:lnSpc>
                <a:spcPct val="112000"/>
              </a:lnSpc>
            </a:pPr>
            <a:r>
              <a:rPr sz="1300" b="0" i="0">
                <a:solidFill>
                  <a:srgbClr val="94A3B8"/>
                </a:solidFill>
                <a:latin typeface="微软雅黑"/>
                <a:ea typeface="微软雅黑"/>
              </a:rPr>
              <a:t>专业：____________　　日期：2026 年 10 月</a:t>
            </a:r>
          </a:p>
        </p:txBody>
      </p:sp>
      <p:sp>
        <p:nvSpPr>
          <p:cNvPr id="15" name="Rounded Rectangle 14"/>
          <p:cNvSpPr/>
          <p:nvPr/>
        </p:nvSpPr>
        <p:spPr>
          <a:xfrm>
            <a:off x="8732520" y="3931920"/>
            <a:ext cx="1371600" cy="868680"/>
          </a:xfrm>
          <a:prstGeom prst="roundRect">
            <a:avLst>
              <a:gd name="adj" fmla="val 12000"/>
            </a:avLst>
          </a:prstGeom>
          <a:solidFill>
            <a:srgbClr val="163055"/>
          </a:solidFill>
          <a:ln w="1016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860536" y="4041648"/>
            <a:ext cx="1188720" cy="365760"/>
          </a:xfrm>
          <a:prstGeom prst="rect">
            <a:avLst/>
          </a:prstGeom>
          <a:noFill/>
        </p:spPr>
        <p:txBody>
          <a:bodyPr wrap="square" lIns="0" rIns="0" tIns="0" bIns="0" anchor="t">
            <a:spAutoFit/>
          </a:bodyPr>
          <a:lstStyle/>
          <a:p>
            <a:pPr algn="l">
              <a:lnSpc>
                <a:spcPct val="112000"/>
              </a:lnSpc>
            </a:pPr>
            <a:r>
              <a:rPr sz="2200" b="1" i="0">
                <a:solidFill>
                  <a:srgbClr val="FFFFFF"/>
                </a:solidFill>
                <a:latin typeface="微软雅黑"/>
                <a:ea typeface="微软雅黑"/>
              </a:rPr>
              <a:t>3000</a:t>
            </a:r>
          </a:p>
        </p:txBody>
      </p:sp>
      <p:sp>
        <p:nvSpPr>
          <p:cNvPr id="17" name="TextBox 16"/>
          <p:cNvSpPr txBox="1"/>
          <p:nvPr/>
        </p:nvSpPr>
        <p:spPr>
          <a:xfrm>
            <a:off x="8860536" y="4453128"/>
            <a:ext cx="1188720" cy="228600"/>
          </a:xfrm>
          <a:prstGeom prst="rect">
            <a:avLst/>
          </a:prstGeom>
          <a:noFill/>
        </p:spPr>
        <p:txBody>
          <a:bodyPr wrap="square" lIns="0" rIns="0" tIns="0" bIns="0" anchor="t">
            <a:spAutoFit/>
          </a:bodyPr>
          <a:lstStyle/>
          <a:p>
            <a:pPr algn="l">
              <a:lnSpc>
                <a:spcPct val="112000"/>
              </a:lnSpc>
            </a:pPr>
            <a:r>
              <a:rPr sz="950" b="0" i="0">
                <a:solidFill>
                  <a:srgbClr val="94A3B8"/>
                </a:solidFill>
                <a:latin typeface="微软雅黑"/>
                <a:ea typeface="微软雅黑"/>
              </a:rPr>
              <a:t>条历史工单</a:t>
            </a:r>
          </a:p>
        </p:txBody>
      </p:sp>
      <p:sp>
        <p:nvSpPr>
          <p:cNvPr id="18" name="Rounded Rectangle 17"/>
          <p:cNvSpPr/>
          <p:nvPr/>
        </p:nvSpPr>
        <p:spPr>
          <a:xfrm>
            <a:off x="10213848" y="3931920"/>
            <a:ext cx="1371600" cy="868680"/>
          </a:xfrm>
          <a:prstGeom prst="roundRect">
            <a:avLst>
              <a:gd name="adj" fmla="val 12000"/>
            </a:avLst>
          </a:prstGeom>
          <a:solidFill>
            <a:srgbClr val="163055"/>
          </a:solidFill>
          <a:ln w="1016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341864" y="4041648"/>
            <a:ext cx="1188720" cy="365760"/>
          </a:xfrm>
          <a:prstGeom prst="rect">
            <a:avLst/>
          </a:prstGeom>
          <a:noFill/>
        </p:spPr>
        <p:txBody>
          <a:bodyPr wrap="square" lIns="0" rIns="0" tIns="0" bIns="0" anchor="t">
            <a:spAutoFit/>
          </a:bodyPr>
          <a:lstStyle/>
          <a:p>
            <a:pPr algn="l">
              <a:lnSpc>
                <a:spcPct val="112000"/>
              </a:lnSpc>
            </a:pPr>
            <a:r>
              <a:rPr sz="2200" b="1" i="0">
                <a:solidFill>
                  <a:srgbClr val="FFFFFF"/>
                </a:solidFill>
                <a:latin typeface="微软雅黑"/>
                <a:ea typeface="微软雅黑"/>
              </a:rPr>
              <a:t>4 + 1</a:t>
            </a:r>
          </a:p>
        </p:txBody>
      </p:sp>
      <p:sp>
        <p:nvSpPr>
          <p:cNvPr id="20" name="TextBox 19"/>
          <p:cNvSpPr txBox="1"/>
          <p:nvPr/>
        </p:nvSpPr>
        <p:spPr>
          <a:xfrm>
            <a:off x="10341864" y="4453128"/>
            <a:ext cx="1188720" cy="228600"/>
          </a:xfrm>
          <a:prstGeom prst="rect">
            <a:avLst/>
          </a:prstGeom>
          <a:noFill/>
        </p:spPr>
        <p:txBody>
          <a:bodyPr wrap="square" lIns="0" rIns="0" tIns="0" bIns="0" anchor="t">
            <a:spAutoFit/>
          </a:bodyPr>
          <a:lstStyle/>
          <a:p>
            <a:pPr algn="l">
              <a:lnSpc>
                <a:spcPct val="112000"/>
              </a:lnSpc>
            </a:pPr>
            <a:r>
              <a:rPr sz="950" b="0" i="0">
                <a:solidFill>
                  <a:srgbClr val="94A3B8"/>
                </a:solidFill>
                <a:latin typeface="微软雅黑"/>
                <a:ea typeface="微软雅黑"/>
              </a:rPr>
              <a:t>Agent 协作节点</a:t>
            </a:r>
          </a:p>
        </p:txBody>
      </p:sp>
      <p:sp>
        <p:nvSpPr>
          <p:cNvPr id="21" name="Rounded Rectangle 20"/>
          <p:cNvSpPr/>
          <p:nvPr/>
        </p:nvSpPr>
        <p:spPr>
          <a:xfrm>
            <a:off x="8732520" y="4937760"/>
            <a:ext cx="1371600" cy="868680"/>
          </a:xfrm>
          <a:prstGeom prst="roundRect">
            <a:avLst>
              <a:gd name="adj" fmla="val 12000"/>
            </a:avLst>
          </a:prstGeom>
          <a:solidFill>
            <a:srgbClr val="163055"/>
          </a:solidFill>
          <a:ln w="1016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860536" y="5047488"/>
            <a:ext cx="1188720" cy="365760"/>
          </a:xfrm>
          <a:prstGeom prst="rect">
            <a:avLst/>
          </a:prstGeom>
          <a:noFill/>
        </p:spPr>
        <p:txBody>
          <a:bodyPr wrap="square" lIns="0" rIns="0" tIns="0" bIns="0" anchor="t">
            <a:spAutoFit/>
          </a:bodyPr>
          <a:lstStyle/>
          <a:p>
            <a:pPr algn="l">
              <a:lnSpc>
                <a:spcPct val="112000"/>
              </a:lnSpc>
            </a:pPr>
            <a:r>
              <a:rPr sz="2200" b="1" i="0">
                <a:solidFill>
                  <a:srgbClr val="FFFFFF"/>
                </a:solidFill>
                <a:latin typeface="微软雅黑"/>
                <a:ea typeface="微软雅黑"/>
              </a:rPr>
              <a:t>93.6%</a:t>
            </a:r>
          </a:p>
        </p:txBody>
      </p:sp>
      <p:sp>
        <p:nvSpPr>
          <p:cNvPr id="23" name="TextBox 22"/>
          <p:cNvSpPr txBox="1"/>
          <p:nvPr/>
        </p:nvSpPr>
        <p:spPr>
          <a:xfrm>
            <a:off x="8860536" y="5458968"/>
            <a:ext cx="1188720" cy="228600"/>
          </a:xfrm>
          <a:prstGeom prst="rect">
            <a:avLst/>
          </a:prstGeom>
          <a:noFill/>
        </p:spPr>
        <p:txBody>
          <a:bodyPr wrap="square" lIns="0" rIns="0" tIns="0" bIns="0" anchor="t">
            <a:spAutoFit/>
          </a:bodyPr>
          <a:lstStyle/>
          <a:p>
            <a:pPr algn="l">
              <a:lnSpc>
                <a:spcPct val="112000"/>
              </a:lnSpc>
            </a:pPr>
            <a:r>
              <a:rPr sz="950" b="0" i="0">
                <a:solidFill>
                  <a:srgbClr val="94A3B8"/>
                </a:solidFill>
                <a:latin typeface="微软雅黑"/>
                <a:ea typeface="微软雅黑"/>
              </a:rPr>
              <a:t>历史工单闭环率</a:t>
            </a:r>
          </a:p>
        </p:txBody>
      </p:sp>
      <p:sp>
        <p:nvSpPr>
          <p:cNvPr id="24" name="Rounded Rectangle 23"/>
          <p:cNvSpPr/>
          <p:nvPr/>
        </p:nvSpPr>
        <p:spPr>
          <a:xfrm>
            <a:off x="10213848" y="4937760"/>
            <a:ext cx="1371600" cy="868680"/>
          </a:xfrm>
          <a:prstGeom prst="roundRect">
            <a:avLst>
              <a:gd name="adj" fmla="val 12000"/>
            </a:avLst>
          </a:prstGeom>
          <a:solidFill>
            <a:srgbClr val="163055"/>
          </a:solidFill>
          <a:ln w="1016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341864" y="5047488"/>
            <a:ext cx="1188720" cy="365760"/>
          </a:xfrm>
          <a:prstGeom prst="rect">
            <a:avLst/>
          </a:prstGeom>
          <a:noFill/>
        </p:spPr>
        <p:txBody>
          <a:bodyPr wrap="square" lIns="0" rIns="0" tIns="0" bIns="0" anchor="t">
            <a:spAutoFit/>
          </a:bodyPr>
          <a:lstStyle/>
          <a:p>
            <a:pPr algn="l">
              <a:lnSpc>
                <a:spcPct val="112000"/>
              </a:lnSpc>
            </a:pPr>
            <a:r>
              <a:rPr sz="2200" b="1" i="0">
                <a:solidFill>
                  <a:srgbClr val="FFFFFF"/>
                </a:solidFill>
                <a:latin typeface="微软雅黑"/>
                <a:ea typeface="微软雅黑"/>
              </a:rPr>
              <a:t>0.46ms</a:t>
            </a:r>
          </a:p>
        </p:txBody>
      </p:sp>
      <p:sp>
        <p:nvSpPr>
          <p:cNvPr id="26" name="TextBox 25"/>
          <p:cNvSpPr txBox="1"/>
          <p:nvPr/>
        </p:nvSpPr>
        <p:spPr>
          <a:xfrm>
            <a:off x="10341864" y="5458968"/>
            <a:ext cx="1188720" cy="228600"/>
          </a:xfrm>
          <a:prstGeom prst="rect">
            <a:avLst/>
          </a:prstGeom>
          <a:noFill/>
        </p:spPr>
        <p:txBody>
          <a:bodyPr wrap="square" lIns="0" rIns="0" tIns="0" bIns="0" anchor="t">
            <a:spAutoFit/>
          </a:bodyPr>
          <a:lstStyle/>
          <a:p>
            <a:pPr algn="l">
              <a:lnSpc>
                <a:spcPct val="112000"/>
              </a:lnSpc>
            </a:pPr>
            <a:r>
              <a:rPr sz="950" b="0" i="0">
                <a:solidFill>
                  <a:srgbClr val="94A3B8"/>
                </a:solidFill>
                <a:latin typeface="微软雅黑"/>
                <a:ea typeface="微软雅黑"/>
              </a:rPr>
              <a:t>平均决策耗时</a:t>
            </a:r>
          </a:p>
        </p:txBody>
      </p:sp>
      <p:sp>
        <p:nvSpPr>
          <p:cNvPr id="27" name="Rectangle 26"/>
          <p:cNvSpPr/>
          <p:nvPr/>
        </p:nvSpPr>
        <p:spPr>
          <a:xfrm>
            <a:off x="658368" y="6428232"/>
            <a:ext cx="10881360" cy="7315"/>
          </a:xfrm>
          <a:prstGeom prst="rect">
            <a:avLst/>
          </a:prstGeom>
          <a:solidFill>
            <a:srgbClr val="335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94A3B8"/>
                </a:solidFill>
                <a:latin typeface="微软雅黑"/>
                <a:ea typeface="微软雅黑"/>
              </a:rPr>
              <a:t>智修云 · 多智能体物业工单闭环系统</a:t>
            </a:r>
          </a:p>
        </p:txBody>
      </p:sp>
      <p:sp>
        <p:nvSpPr>
          <p:cNvPr id="29" name="TextBox 28"/>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94A3B8"/>
                </a:solidFill>
                <a:latin typeface="微软雅黑"/>
                <a:ea typeface="微软雅黑"/>
              </a:rPr>
              <a:t>01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CONTENTS</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目录</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从问题到方案，再到数据验证：一条完整的答辩主线</a:t>
            </a:r>
          </a:p>
        </p:txBody>
      </p:sp>
      <p:sp>
        <p:nvSpPr>
          <p:cNvPr id="7" name="TextBox 6"/>
          <p:cNvSpPr txBox="1"/>
          <p:nvPr/>
        </p:nvSpPr>
        <p:spPr>
          <a:xfrm>
            <a:off x="822960" y="1618488"/>
            <a:ext cx="566928" cy="365760"/>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01</a:t>
            </a:r>
          </a:p>
        </p:txBody>
      </p:sp>
      <p:sp>
        <p:nvSpPr>
          <p:cNvPr id="8" name="TextBox 7"/>
          <p:cNvSpPr txBox="1"/>
          <p:nvPr/>
        </p:nvSpPr>
        <p:spPr>
          <a:xfrm>
            <a:off x="1481328" y="1600200"/>
            <a:ext cx="4206240" cy="347472"/>
          </a:xfrm>
          <a:prstGeom prst="rect">
            <a:avLst/>
          </a:prstGeom>
          <a:noFill/>
        </p:spPr>
        <p:txBody>
          <a:bodyPr wrap="square" lIns="0" rIns="0" tIns="0" bIns="0" anchor="t">
            <a:spAutoFit/>
          </a:bodyPr>
          <a:lstStyle/>
          <a:p>
            <a:pPr algn="l">
              <a:lnSpc>
                <a:spcPct val="112000"/>
              </a:lnSpc>
            </a:pPr>
            <a:r>
              <a:rPr sz="1800" b="1" i="0">
                <a:solidFill>
                  <a:srgbClr val="0B1F3A"/>
                </a:solidFill>
                <a:latin typeface="微软雅黑"/>
                <a:ea typeface="微软雅黑"/>
              </a:rPr>
              <a:t>研究背景与现状</a:t>
            </a:r>
          </a:p>
        </p:txBody>
      </p:sp>
      <p:sp>
        <p:nvSpPr>
          <p:cNvPr id="9" name="TextBox 8"/>
          <p:cNvSpPr txBox="1"/>
          <p:nvPr/>
        </p:nvSpPr>
        <p:spPr>
          <a:xfrm>
            <a:off x="1481328" y="1993392"/>
            <a:ext cx="4480560" cy="256032"/>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传统报修五重困境 · 技术趋势</a:t>
            </a:r>
          </a:p>
        </p:txBody>
      </p:sp>
      <p:sp>
        <p:nvSpPr>
          <p:cNvPr id="10" name="Rectangle 9"/>
          <p:cNvSpPr/>
          <p:nvPr/>
        </p:nvSpPr>
        <p:spPr>
          <a:xfrm>
            <a:off x="822960" y="2468880"/>
            <a:ext cx="498348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309360" y="1618488"/>
            <a:ext cx="566928" cy="365760"/>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02</a:t>
            </a:r>
          </a:p>
        </p:txBody>
      </p:sp>
      <p:sp>
        <p:nvSpPr>
          <p:cNvPr id="12" name="TextBox 11"/>
          <p:cNvSpPr txBox="1"/>
          <p:nvPr/>
        </p:nvSpPr>
        <p:spPr>
          <a:xfrm>
            <a:off x="6967728" y="1600200"/>
            <a:ext cx="4206240" cy="347472"/>
          </a:xfrm>
          <a:prstGeom prst="rect">
            <a:avLst/>
          </a:prstGeom>
          <a:noFill/>
        </p:spPr>
        <p:txBody>
          <a:bodyPr wrap="square" lIns="0" rIns="0" tIns="0" bIns="0" anchor="t">
            <a:spAutoFit/>
          </a:bodyPr>
          <a:lstStyle/>
          <a:p>
            <a:pPr algn="l">
              <a:lnSpc>
                <a:spcPct val="112000"/>
              </a:lnSpc>
            </a:pPr>
            <a:r>
              <a:rPr sz="1800" b="1" i="0">
                <a:solidFill>
                  <a:srgbClr val="0B1F3A"/>
                </a:solidFill>
                <a:latin typeface="微软雅黑"/>
                <a:ea typeface="微软雅黑"/>
              </a:rPr>
              <a:t>系统目标与架构</a:t>
            </a:r>
          </a:p>
        </p:txBody>
      </p:sp>
      <p:sp>
        <p:nvSpPr>
          <p:cNvPr id="13" name="TextBox 12"/>
          <p:cNvSpPr txBox="1"/>
          <p:nvPr/>
        </p:nvSpPr>
        <p:spPr>
          <a:xfrm>
            <a:off x="6967728" y="1993392"/>
            <a:ext cx="4480560" cy="256032"/>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可解释 · 可追溯 · 可复现</a:t>
            </a:r>
          </a:p>
        </p:txBody>
      </p:sp>
      <p:sp>
        <p:nvSpPr>
          <p:cNvPr id="14" name="Rectangle 13"/>
          <p:cNvSpPr/>
          <p:nvPr/>
        </p:nvSpPr>
        <p:spPr>
          <a:xfrm>
            <a:off x="6309360" y="2468880"/>
            <a:ext cx="498348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2960" y="2734056"/>
            <a:ext cx="566928" cy="365760"/>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03</a:t>
            </a:r>
          </a:p>
        </p:txBody>
      </p:sp>
      <p:sp>
        <p:nvSpPr>
          <p:cNvPr id="16" name="TextBox 15"/>
          <p:cNvSpPr txBox="1"/>
          <p:nvPr/>
        </p:nvSpPr>
        <p:spPr>
          <a:xfrm>
            <a:off x="1481328" y="2715768"/>
            <a:ext cx="4206240" cy="347472"/>
          </a:xfrm>
          <a:prstGeom prst="rect">
            <a:avLst/>
          </a:prstGeom>
          <a:noFill/>
        </p:spPr>
        <p:txBody>
          <a:bodyPr wrap="square" lIns="0" rIns="0" tIns="0" bIns="0" anchor="t">
            <a:spAutoFit/>
          </a:bodyPr>
          <a:lstStyle/>
          <a:p>
            <a:pPr algn="l">
              <a:lnSpc>
                <a:spcPct val="112000"/>
              </a:lnSpc>
            </a:pPr>
            <a:r>
              <a:rPr sz="1800" b="1" i="0">
                <a:solidFill>
                  <a:srgbClr val="0B1F3A"/>
                </a:solidFill>
                <a:latin typeface="微软雅黑"/>
                <a:ea typeface="微软雅黑"/>
              </a:rPr>
              <a:t>Agent 设计</a:t>
            </a:r>
          </a:p>
        </p:txBody>
      </p:sp>
      <p:sp>
        <p:nvSpPr>
          <p:cNvPr id="17" name="TextBox 16"/>
          <p:cNvSpPr txBox="1"/>
          <p:nvPr/>
        </p:nvSpPr>
        <p:spPr>
          <a:xfrm>
            <a:off x="1481328" y="3108960"/>
            <a:ext cx="4480560" cy="256032"/>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理解 · 派单 · 监控 · 验证</a:t>
            </a:r>
          </a:p>
        </p:txBody>
      </p:sp>
      <p:sp>
        <p:nvSpPr>
          <p:cNvPr id="18" name="Rectangle 17"/>
          <p:cNvSpPr/>
          <p:nvPr/>
        </p:nvSpPr>
        <p:spPr>
          <a:xfrm>
            <a:off x="822960" y="3584448"/>
            <a:ext cx="498348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09360" y="2734056"/>
            <a:ext cx="566928" cy="365760"/>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04</a:t>
            </a:r>
          </a:p>
        </p:txBody>
      </p:sp>
      <p:sp>
        <p:nvSpPr>
          <p:cNvPr id="20" name="TextBox 19"/>
          <p:cNvSpPr txBox="1"/>
          <p:nvPr/>
        </p:nvSpPr>
        <p:spPr>
          <a:xfrm>
            <a:off x="6967728" y="2715768"/>
            <a:ext cx="4206240" cy="347472"/>
          </a:xfrm>
          <a:prstGeom prst="rect">
            <a:avLst/>
          </a:prstGeom>
          <a:noFill/>
        </p:spPr>
        <p:txBody>
          <a:bodyPr wrap="square" lIns="0" rIns="0" tIns="0" bIns="0" anchor="t">
            <a:spAutoFit/>
          </a:bodyPr>
          <a:lstStyle/>
          <a:p>
            <a:pPr algn="l">
              <a:lnSpc>
                <a:spcPct val="112000"/>
              </a:lnSpc>
            </a:pPr>
            <a:r>
              <a:rPr sz="1800" b="1" i="0">
                <a:solidFill>
                  <a:srgbClr val="0B1F3A"/>
                </a:solidFill>
                <a:latin typeface="微软雅黑"/>
                <a:ea typeface="微软雅黑"/>
              </a:rPr>
              <a:t>状态机与闭环</a:t>
            </a:r>
          </a:p>
        </p:txBody>
      </p:sp>
      <p:sp>
        <p:nvSpPr>
          <p:cNvPr id="21" name="TextBox 20"/>
          <p:cNvSpPr txBox="1"/>
          <p:nvPr/>
        </p:nvSpPr>
        <p:spPr>
          <a:xfrm>
            <a:off x="6967728" y="3108960"/>
            <a:ext cx="4480560" cy="256032"/>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退回整改 · 人工接管</a:t>
            </a:r>
          </a:p>
        </p:txBody>
      </p:sp>
      <p:sp>
        <p:nvSpPr>
          <p:cNvPr id="22" name="Rectangle 21"/>
          <p:cNvSpPr/>
          <p:nvPr/>
        </p:nvSpPr>
        <p:spPr>
          <a:xfrm>
            <a:off x="6309360" y="3584448"/>
            <a:ext cx="498348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3849623"/>
            <a:ext cx="566928" cy="365760"/>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05</a:t>
            </a:r>
          </a:p>
        </p:txBody>
      </p:sp>
      <p:sp>
        <p:nvSpPr>
          <p:cNvPr id="24" name="TextBox 23"/>
          <p:cNvSpPr txBox="1"/>
          <p:nvPr/>
        </p:nvSpPr>
        <p:spPr>
          <a:xfrm>
            <a:off x="1481328" y="3831335"/>
            <a:ext cx="4206240" cy="347472"/>
          </a:xfrm>
          <a:prstGeom prst="rect">
            <a:avLst/>
          </a:prstGeom>
          <a:noFill/>
        </p:spPr>
        <p:txBody>
          <a:bodyPr wrap="square" lIns="0" rIns="0" tIns="0" bIns="0" anchor="t">
            <a:spAutoFit/>
          </a:bodyPr>
          <a:lstStyle/>
          <a:p>
            <a:pPr algn="l">
              <a:lnSpc>
                <a:spcPct val="112000"/>
              </a:lnSpc>
            </a:pPr>
            <a:r>
              <a:rPr sz="1800" b="1" i="0">
                <a:solidFill>
                  <a:srgbClr val="0B1F3A"/>
                </a:solidFill>
                <a:latin typeface="微软雅黑"/>
                <a:ea typeface="微软雅黑"/>
              </a:rPr>
              <a:t>系统演示与实现</a:t>
            </a:r>
          </a:p>
        </p:txBody>
      </p:sp>
      <p:sp>
        <p:nvSpPr>
          <p:cNvPr id="25" name="TextBox 24"/>
          <p:cNvSpPr txBox="1"/>
          <p:nvPr/>
        </p:nvSpPr>
        <p:spPr>
          <a:xfrm>
            <a:off x="1481328" y="4224527"/>
            <a:ext cx="4480560" cy="256032"/>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时间线 · 看板 · 技术栈</a:t>
            </a:r>
          </a:p>
        </p:txBody>
      </p:sp>
      <p:sp>
        <p:nvSpPr>
          <p:cNvPr id="26" name="Rectangle 25"/>
          <p:cNvSpPr/>
          <p:nvPr/>
        </p:nvSpPr>
        <p:spPr>
          <a:xfrm>
            <a:off x="822960" y="4700016"/>
            <a:ext cx="498348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09360" y="3849623"/>
            <a:ext cx="566928" cy="365760"/>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06</a:t>
            </a:r>
          </a:p>
        </p:txBody>
      </p:sp>
      <p:sp>
        <p:nvSpPr>
          <p:cNvPr id="28" name="TextBox 27"/>
          <p:cNvSpPr txBox="1"/>
          <p:nvPr/>
        </p:nvSpPr>
        <p:spPr>
          <a:xfrm>
            <a:off x="6967728" y="3831335"/>
            <a:ext cx="4206240" cy="347472"/>
          </a:xfrm>
          <a:prstGeom prst="rect">
            <a:avLst/>
          </a:prstGeom>
          <a:noFill/>
        </p:spPr>
        <p:txBody>
          <a:bodyPr wrap="square" lIns="0" rIns="0" tIns="0" bIns="0" anchor="t">
            <a:spAutoFit/>
          </a:bodyPr>
          <a:lstStyle/>
          <a:p>
            <a:pPr algn="l">
              <a:lnSpc>
                <a:spcPct val="112000"/>
              </a:lnSpc>
            </a:pPr>
            <a:r>
              <a:rPr sz="1800" b="1" i="0">
                <a:solidFill>
                  <a:srgbClr val="0B1F3A"/>
                </a:solidFill>
                <a:latin typeface="微软雅黑"/>
                <a:ea typeface="微软雅黑"/>
              </a:rPr>
              <a:t>数据分析与评估</a:t>
            </a:r>
          </a:p>
        </p:txBody>
      </p:sp>
      <p:sp>
        <p:nvSpPr>
          <p:cNvPr id="29" name="TextBox 28"/>
          <p:cNvSpPr txBox="1"/>
          <p:nvPr/>
        </p:nvSpPr>
        <p:spPr>
          <a:xfrm>
            <a:off x="6967728" y="4224527"/>
            <a:ext cx="4480560" cy="256032"/>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3000 单分析 · 600 样本评估</a:t>
            </a:r>
          </a:p>
        </p:txBody>
      </p:sp>
      <p:sp>
        <p:nvSpPr>
          <p:cNvPr id="30" name="Rectangle 29"/>
          <p:cNvSpPr/>
          <p:nvPr/>
        </p:nvSpPr>
        <p:spPr>
          <a:xfrm>
            <a:off x="6309360" y="4700016"/>
            <a:ext cx="498348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2960" y="4965192"/>
            <a:ext cx="566928" cy="365760"/>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07</a:t>
            </a:r>
          </a:p>
        </p:txBody>
      </p:sp>
      <p:sp>
        <p:nvSpPr>
          <p:cNvPr id="32" name="TextBox 31"/>
          <p:cNvSpPr txBox="1"/>
          <p:nvPr/>
        </p:nvSpPr>
        <p:spPr>
          <a:xfrm>
            <a:off x="1481328" y="4946904"/>
            <a:ext cx="4206240" cy="347472"/>
          </a:xfrm>
          <a:prstGeom prst="rect">
            <a:avLst/>
          </a:prstGeom>
          <a:noFill/>
        </p:spPr>
        <p:txBody>
          <a:bodyPr wrap="square" lIns="0" rIns="0" tIns="0" bIns="0" anchor="t">
            <a:spAutoFit/>
          </a:bodyPr>
          <a:lstStyle/>
          <a:p>
            <a:pPr algn="l">
              <a:lnSpc>
                <a:spcPct val="112000"/>
              </a:lnSpc>
            </a:pPr>
            <a:r>
              <a:rPr sz="1800" b="1" i="0">
                <a:solidFill>
                  <a:srgbClr val="0B1F3A"/>
                </a:solidFill>
                <a:latin typeface="微软雅黑"/>
                <a:ea typeface="微软雅黑"/>
              </a:rPr>
              <a:t>创新点</a:t>
            </a:r>
          </a:p>
        </p:txBody>
      </p:sp>
      <p:sp>
        <p:nvSpPr>
          <p:cNvPr id="33" name="TextBox 32"/>
          <p:cNvSpPr txBox="1"/>
          <p:nvPr/>
        </p:nvSpPr>
        <p:spPr>
          <a:xfrm>
            <a:off x="1481328" y="5340096"/>
            <a:ext cx="4480560" cy="256032"/>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三个创新 · 对应课题要求</a:t>
            </a:r>
          </a:p>
        </p:txBody>
      </p:sp>
      <p:sp>
        <p:nvSpPr>
          <p:cNvPr id="34" name="Rectangle 33"/>
          <p:cNvSpPr/>
          <p:nvPr/>
        </p:nvSpPr>
        <p:spPr>
          <a:xfrm>
            <a:off x="822960" y="5815584"/>
            <a:ext cx="498348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09360" y="4965192"/>
            <a:ext cx="566928" cy="365760"/>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08</a:t>
            </a:r>
          </a:p>
        </p:txBody>
      </p:sp>
      <p:sp>
        <p:nvSpPr>
          <p:cNvPr id="36" name="TextBox 35"/>
          <p:cNvSpPr txBox="1"/>
          <p:nvPr/>
        </p:nvSpPr>
        <p:spPr>
          <a:xfrm>
            <a:off x="6967728" y="4946904"/>
            <a:ext cx="4206240" cy="347472"/>
          </a:xfrm>
          <a:prstGeom prst="rect">
            <a:avLst/>
          </a:prstGeom>
          <a:noFill/>
        </p:spPr>
        <p:txBody>
          <a:bodyPr wrap="square" lIns="0" rIns="0" tIns="0" bIns="0" anchor="t">
            <a:spAutoFit/>
          </a:bodyPr>
          <a:lstStyle/>
          <a:p>
            <a:pPr algn="l">
              <a:lnSpc>
                <a:spcPct val="112000"/>
              </a:lnSpc>
            </a:pPr>
            <a:r>
              <a:rPr sz="1800" b="1" i="0">
                <a:solidFill>
                  <a:srgbClr val="0B1F3A"/>
                </a:solidFill>
                <a:latin typeface="微软雅黑"/>
                <a:ea typeface="微软雅黑"/>
              </a:rPr>
              <a:t>总结与展望</a:t>
            </a:r>
          </a:p>
        </p:txBody>
      </p:sp>
      <p:sp>
        <p:nvSpPr>
          <p:cNvPr id="37" name="TextBox 36"/>
          <p:cNvSpPr txBox="1"/>
          <p:nvPr/>
        </p:nvSpPr>
        <p:spPr>
          <a:xfrm>
            <a:off x="6967728" y="5340096"/>
            <a:ext cx="4480560" cy="256032"/>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边界诚实 · 未来工作</a:t>
            </a:r>
          </a:p>
        </p:txBody>
      </p:sp>
      <p:sp>
        <p:nvSpPr>
          <p:cNvPr id="38" name="Rectangle 37"/>
          <p:cNvSpPr/>
          <p:nvPr/>
        </p:nvSpPr>
        <p:spPr>
          <a:xfrm>
            <a:off x="6309360" y="5815584"/>
            <a:ext cx="498348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41" name="TextBox 40"/>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02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01 / 研究背景</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传统物业报修的五重困境</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业主一句口语描述，要经过接单、判断、派单、催办、验收多个手工环节</a:t>
            </a:r>
          </a:p>
        </p:txBody>
      </p:sp>
      <p:sp>
        <p:nvSpPr>
          <p:cNvPr id="7" name="Rounded Rectangle 6"/>
          <p:cNvSpPr/>
          <p:nvPr/>
        </p:nvSpPr>
        <p:spPr>
          <a:xfrm>
            <a:off x="685800" y="1517904"/>
            <a:ext cx="2084831" cy="2331720"/>
          </a:xfrm>
          <a:prstGeom prst="roundRect">
            <a:avLst>
              <a:gd name="adj" fmla="val 8000"/>
            </a:avLst>
          </a:prstGeom>
          <a:solidFill>
            <a:srgbClr val="F8FAFC"/>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1517904"/>
            <a:ext cx="2084831"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50392" y="1691640"/>
            <a:ext cx="731520" cy="365760"/>
          </a:xfrm>
          <a:prstGeom prst="rect">
            <a:avLst/>
          </a:prstGeom>
          <a:noFill/>
        </p:spPr>
        <p:txBody>
          <a:bodyPr wrap="square" lIns="0" rIns="0" tIns="0" bIns="0" anchor="t">
            <a:spAutoFit/>
          </a:bodyPr>
          <a:lstStyle/>
          <a:p>
            <a:pPr algn="l">
              <a:lnSpc>
                <a:spcPct val="112000"/>
              </a:lnSpc>
            </a:pPr>
            <a:r>
              <a:rPr sz="2300" b="1" i="0">
                <a:solidFill>
                  <a:srgbClr val="2563EB"/>
                </a:solidFill>
                <a:latin typeface="微软雅黑"/>
                <a:ea typeface="微软雅黑"/>
              </a:rPr>
              <a:t>01</a:t>
            </a:r>
          </a:p>
        </p:txBody>
      </p:sp>
      <p:sp>
        <p:nvSpPr>
          <p:cNvPr id="10" name="TextBox 9"/>
          <p:cNvSpPr txBox="1"/>
          <p:nvPr/>
        </p:nvSpPr>
        <p:spPr>
          <a:xfrm>
            <a:off x="850392" y="2130552"/>
            <a:ext cx="1783080" cy="320040"/>
          </a:xfrm>
          <a:prstGeom prst="rect">
            <a:avLst/>
          </a:prstGeom>
          <a:noFill/>
        </p:spPr>
        <p:txBody>
          <a:bodyPr wrap="square" lIns="0" rIns="0" tIns="0" bIns="0" anchor="t">
            <a:spAutoFit/>
          </a:bodyPr>
          <a:lstStyle/>
          <a:p>
            <a:pPr algn="l">
              <a:lnSpc>
                <a:spcPct val="112000"/>
              </a:lnSpc>
            </a:pPr>
            <a:r>
              <a:rPr sz="1650" b="1" i="0">
                <a:solidFill>
                  <a:srgbClr val="0B1F3A"/>
                </a:solidFill>
                <a:latin typeface="微软雅黑"/>
                <a:ea typeface="微软雅黑"/>
              </a:rPr>
              <a:t>描述不规范</a:t>
            </a:r>
          </a:p>
        </p:txBody>
      </p:sp>
      <p:sp>
        <p:nvSpPr>
          <p:cNvPr id="11" name="TextBox 10"/>
          <p:cNvSpPr txBox="1"/>
          <p:nvPr/>
        </p:nvSpPr>
        <p:spPr>
          <a:xfrm>
            <a:off x="850392" y="2542032"/>
            <a:ext cx="1783080" cy="1188720"/>
          </a:xfrm>
          <a:prstGeom prst="rect">
            <a:avLst/>
          </a:prstGeom>
          <a:noFill/>
        </p:spPr>
        <p:txBody>
          <a:bodyPr wrap="square" lIns="0" rIns="0" tIns="0" bIns="0" anchor="t">
            <a:spAutoFit/>
          </a:bodyPr>
          <a:lstStyle/>
          <a:p>
            <a:pPr algn="l">
              <a:lnSpc>
                <a:spcPct val="122000"/>
              </a:lnSpc>
            </a:pPr>
            <a:r>
              <a:rPr sz="1250" b="0" i="0">
                <a:solidFill>
                  <a:srgbClr val="64748B"/>
                </a:solidFill>
                <a:latin typeface="微软雅黑"/>
                <a:ea typeface="微软雅黑"/>
              </a:rPr>
              <a:t>口语化描述难以归类，人工阅读与转写耗时</a:t>
            </a:r>
          </a:p>
        </p:txBody>
      </p:sp>
      <p:sp>
        <p:nvSpPr>
          <p:cNvPr id="12" name="Rounded Rectangle 11"/>
          <p:cNvSpPr/>
          <p:nvPr/>
        </p:nvSpPr>
        <p:spPr>
          <a:xfrm>
            <a:off x="2907792" y="1517904"/>
            <a:ext cx="2084831" cy="2331720"/>
          </a:xfrm>
          <a:prstGeom prst="roundRect">
            <a:avLst>
              <a:gd name="adj" fmla="val 8000"/>
            </a:avLst>
          </a:prstGeom>
          <a:solidFill>
            <a:srgbClr val="F8FAFC"/>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07792" y="1517904"/>
            <a:ext cx="2084831"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72384" y="1691640"/>
            <a:ext cx="731520" cy="365760"/>
          </a:xfrm>
          <a:prstGeom prst="rect">
            <a:avLst/>
          </a:prstGeom>
          <a:noFill/>
        </p:spPr>
        <p:txBody>
          <a:bodyPr wrap="square" lIns="0" rIns="0" tIns="0" bIns="0" anchor="t">
            <a:spAutoFit/>
          </a:bodyPr>
          <a:lstStyle/>
          <a:p>
            <a:pPr algn="l">
              <a:lnSpc>
                <a:spcPct val="112000"/>
              </a:lnSpc>
            </a:pPr>
            <a:r>
              <a:rPr sz="2300" b="1" i="0">
                <a:solidFill>
                  <a:srgbClr val="2563EB"/>
                </a:solidFill>
                <a:latin typeface="微软雅黑"/>
                <a:ea typeface="微软雅黑"/>
              </a:rPr>
              <a:t>02</a:t>
            </a:r>
          </a:p>
        </p:txBody>
      </p:sp>
      <p:sp>
        <p:nvSpPr>
          <p:cNvPr id="15" name="TextBox 14"/>
          <p:cNvSpPr txBox="1"/>
          <p:nvPr/>
        </p:nvSpPr>
        <p:spPr>
          <a:xfrm>
            <a:off x="3072384" y="2130552"/>
            <a:ext cx="1783080" cy="320040"/>
          </a:xfrm>
          <a:prstGeom prst="rect">
            <a:avLst/>
          </a:prstGeom>
          <a:noFill/>
        </p:spPr>
        <p:txBody>
          <a:bodyPr wrap="square" lIns="0" rIns="0" tIns="0" bIns="0" anchor="t">
            <a:spAutoFit/>
          </a:bodyPr>
          <a:lstStyle/>
          <a:p>
            <a:pPr algn="l">
              <a:lnSpc>
                <a:spcPct val="112000"/>
              </a:lnSpc>
            </a:pPr>
            <a:r>
              <a:rPr sz="1650" b="1" i="0">
                <a:solidFill>
                  <a:srgbClr val="0B1F3A"/>
                </a:solidFill>
                <a:latin typeface="微软雅黑"/>
                <a:ea typeface="微软雅黑"/>
              </a:rPr>
              <a:t>紧急难识别</a:t>
            </a:r>
          </a:p>
        </p:txBody>
      </p:sp>
      <p:sp>
        <p:nvSpPr>
          <p:cNvPr id="16" name="TextBox 15"/>
          <p:cNvSpPr txBox="1"/>
          <p:nvPr/>
        </p:nvSpPr>
        <p:spPr>
          <a:xfrm>
            <a:off x="3072384" y="2542032"/>
            <a:ext cx="1783080" cy="1188720"/>
          </a:xfrm>
          <a:prstGeom prst="rect">
            <a:avLst/>
          </a:prstGeom>
          <a:noFill/>
        </p:spPr>
        <p:txBody>
          <a:bodyPr wrap="square" lIns="0" rIns="0" tIns="0" bIns="0" anchor="t">
            <a:spAutoFit/>
          </a:bodyPr>
          <a:lstStyle/>
          <a:p>
            <a:pPr algn="l">
              <a:lnSpc>
                <a:spcPct val="122000"/>
              </a:lnSpc>
            </a:pPr>
            <a:r>
              <a:rPr sz="1250" b="0" i="0">
                <a:solidFill>
                  <a:srgbClr val="64748B"/>
                </a:solidFill>
                <a:latin typeface="微软雅黑"/>
                <a:ea typeface="微软雅黑"/>
              </a:rPr>
              <a:t>被困、燃气等紧急诉求混在普通工单里</a:t>
            </a:r>
          </a:p>
        </p:txBody>
      </p:sp>
      <p:sp>
        <p:nvSpPr>
          <p:cNvPr id="17" name="Rounded Rectangle 16"/>
          <p:cNvSpPr/>
          <p:nvPr/>
        </p:nvSpPr>
        <p:spPr>
          <a:xfrm>
            <a:off x="5129784" y="1517904"/>
            <a:ext cx="2084831" cy="2331720"/>
          </a:xfrm>
          <a:prstGeom prst="roundRect">
            <a:avLst>
              <a:gd name="adj" fmla="val 8000"/>
            </a:avLst>
          </a:prstGeom>
          <a:solidFill>
            <a:srgbClr val="F8FAFC"/>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29784" y="1517904"/>
            <a:ext cx="2084831"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294376" y="1691640"/>
            <a:ext cx="731520" cy="365760"/>
          </a:xfrm>
          <a:prstGeom prst="rect">
            <a:avLst/>
          </a:prstGeom>
          <a:noFill/>
        </p:spPr>
        <p:txBody>
          <a:bodyPr wrap="square" lIns="0" rIns="0" tIns="0" bIns="0" anchor="t">
            <a:spAutoFit/>
          </a:bodyPr>
          <a:lstStyle/>
          <a:p>
            <a:pPr algn="l">
              <a:lnSpc>
                <a:spcPct val="112000"/>
              </a:lnSpc>
            </a:pPr>
            <a:r>
              <a:rPr sz="2300" b="1" i="0">
                <a:solidFill>
                  <a:srgbClr val="2563EB"/>
                </a:solidFill>
                <a:latin typeface="微软雅黑"/>
                <a:ea typeface="微软雅黑"/>
              </a:rPr>
              <a:t>03</a:t>
            </a:r>
          </a:p>
        </p:txBody>
      </p:sp>
      <p:sp>
        <p:nvSpPr>
          <p:cNvPr id="20" name="TextBox 19"/>
          <p:cNvSpPr txBox="1"/>
          <p:nvPr/>
        </p:nvSpPr>
        <p:spPr>
          <a:xfrm>
            <a:off x="5294376" y="2130552"/>
            <a:ext cx="1783080" cy="320040"/>
          </a:xfrm>
          <a:prstGeom prst="rect">
            <a:avLst/>
          </a:prstGeom>
          <a:noFill/>
        </p:spPr>
        <p:txBody>
          <a:bodyPr wrap="square" lIns="0" rIns="0" tIns="0" bIns="0" anchor="t">
            <a:spAutoFit/>
          </a:bodyPr>
          <a:lstStyle/>
          <a:p>
            <a:pPr algn="l">
              <a:lnSpc>
                <a:spcPct val="112000"/>
              </a:lnSpc>
            </a:pPr>
            <a:r>
              <a:rPr sz="1650" b="1" i="0">
                <a:solidFill>
                  <a:srgbClr val="0B1F3A"/>
                </a:solidFill>
                <a:latin typeface="微软雅黑"/>
                <a:ea typeface="微软雅黑"/>
              </a:rPr>
              <a:t>派单靠经验</a:t>
            </a:r>
          </a:p>
        </p:txBody>
      </p:sp>
      <p:sp>
        <p:nvSpPr>
          <p:cNvPr id="21" name="TextBox 20"/>
          <p:cNvSpPr txBox="1"/>
          <p:nvPr/>
        </p:nvSpPr>
        <p:spPr>
          <a:xfrm>
            <a:off x="5294376" y="2542032"/>
            <a:ext cx="1783080" cy="1188720"/>
          </a:xfrm>
          <a:prstGeom prst="rect">
            <a:avLst/>
          </a:prstGeom>
          <a:noFill/>
        </p:spPr>
        <p:txBody>
          <a:bodyPr wrap="square" lIns="0" rIns="0" tIns="0" bIns="0" anchor="t">
            <a:spAutoFit/>
          </a:bodyPr>
          <a:lstStyle/>
          <a:p>
            <a:pPr algn="l">
              <a:lnSpc>
                <a:spcPct val="122000"/>
              </a:lnSpc>
            </a:pPr>
            <a:r>
              <a:rPr sz="1250" b="0" i="0">
                <a:solidFill>
                  <a:srgbClr val="64748B"/>
                </a:solidFill>
                <a:latin typeface="微软雅黑"/>
                <a:ea typeface="微软雅黑"/>
              </a:rPr>
              <a:t>技能、片区、负载难以兼顾，容易派错人</a:t>
            </a:r>
          </a:p>
        </p:txBody>
      </p:sp>
      <p:sp>
        <p:nvSpPr>
          <p:cNvPr id="22" name="Rounded Rectangle 21"/>
          <p:cNvSpPr/>
          <p:nvPr/>
        </p:nvSpPr>
        <p:spPr>
          <a:xfrm>
            <a:off x="7351776" y="1517904"/>
            <a:ext cx="2084831" cy="2331720"/>
          </a:xfrm>
          <a:prstGeom prst="roundRect">
            <a:avLst>
              <a:gd name="adj" fmla="val 8000"/>
            </a:avLst>
          </a:prstGeom>
          <a:solidFill>
            <a:srgbClr val="F8FAFC"/>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51776" y="1517904"/>
            <a:ext cx="2084831"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516368" y="1691640"/>
            <a:ext cx="731520" cy="365760"/>
          </a:xfrm>
          <a:prstGeom prst="rect">
            <a:avLst/>
          </a:prstGeom>
          <a:noFill/>
        </p:spPr>
        <p:txBody>
          <a:bodyPr wrap="square" lIns="0" rIns="0" tIns="0" bIns="0" anchor="t">
            <a:spAutoFit/>
          </a:bodyPr>
          <a:lstStyle/>
          <a:p>
            <a:pPr algn="l">
              <a:lnSpc>
                <a:spcPct val="112000"/>
              </a:lnSpc>
            </a:pPr>
            <a:r>
              <a:rPr sz="2300" b="1" i="0">
                <a:solidFill>
                  <a:srgbClr val="2563EB"/>
                </a:solidFill>
                <a:latin typeface="微软雅黑"/>
                <a:ea typeface="微软雅黑"/>
              </a:rPr>
              <a:t>04</a:t>
            </a:r>
          </a:p>
        </p:txBody>
      </p:sp>
      <p:sp>
        <p:nvSpPr>
          <p:cNvPr id="25" name="TextBox 24"/>
          <p:cNvSpPr txBox="1"/>
          <p:nvPr/>
        </p:nvSpPr>
        <p:spPr>
          <a:xfrm>
            <a:off x="7516368" y="2130552"/>
            <a:ext cx="1783080" cy="320040"/>
          </a:xfrm>
          <a:prstGeom prst="rect">
            <a:avLst/>
          </a:prstGeom>
          <a:noFill/>
        </p:spPr>
        <p:txBody>
          <a:bodyPr wrap="square" lIns="0" rIns="0" tIns="0" bIns="0" anchor="t">
            <a:spAutoFit/>
          </a:bodyPr>
          <a:lstStyle/>
          <a:p>
            <a:pPr algn="l">
              <a:lnSpc>
                <a:spcPct val="112000"/>
              </a:lnSpc>
            </a:pPr>
            <a:r>
              <a:rPr sz="1650" b="1" i="0">
                <a:solidFill>
                  <a:srgbClr val="0B1F3A"/>
                </a:solidFill>
                <a:latin typeface="微软雅黑"/>
                <a:ea typeface="微软雅黑"/>
              </a:rPr>
              <a:t>过程不透明</a:t>
            </a:r>
          </a:p>
        </p:txBody>
      </p:sp>
      <p:sp>
        <p:nvSpPr>
          <p:cNvPr id="26" name="TextBox 25"/>
          <p:cNvSpPr txBox="1"/>
          <p:nvPr/>
        </p:nvSpPr>
        <p:spPr>
          <a:xfrm>
            <a:off x="7516368" y="2542032"/>
            <a:ext cx="1783080" cy="1188720"/>
          </a:xfrm>
          <a:prstGeom prst="rect">
            <a:avLst/>
          </a:prstGeom>
          <a:noFill/>
        </p:spPr>
        <p:txBody>
          <a:bodyPr wrap="square" lIns="0" rIns="0" tIns="0" bIns="0" anchor="t">
            <a:spAutoFit/>
          </a:bodyPr>
          <a:lstStyle/>
          <a:p>
            <a:pPr algn="l">
              <a:lnSpc>
                <a:spcPct val="122000"/>
              </a:lnSpc>
            </a:pPr>
            <a:r>
              <a:rPr sz="1250" b="0" i="0">
                <a:solidFill>
                  <a:srgbClr val="64748B"/>
                </a:solidFill>
                <a:latin typeface="微软雅黑"/>
                <a:ea typeface="微软雅黑"/>
              </a:rPr>
              <a:t>超时无人提醒，业主反复催办，升级滞后</a:t>
            </a:r>
          </a:p>
        </p:txBody>
      </p:sp>
      <p:sp>
        <p:nvSpPr>
          <p:cNvPr id="27" name="Rounded Rectangle 26"/>
          <p:cNvSpPr/>
          <p:nvPr/>
        </p:nvSpPr>
        <p:spPr>
          <a:xfrm>
            <a:off x="9573768" y="1517904"/>
            <a:ext cx="2084831" cy="2331720"/>
          </a:xfrm>
          <a:prstGeom prst="roundRect">
            <a:avLst>
              <a:gd name="adj" fmla="val 8000"/>
            </a:avLst>
          </a:prstGeom>
          <a:solidFill>
            <a:srgbClr val="F8FAFC"/>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573768" y="1517904"/>
            <a:ext cx="2084831"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738360" y="1691640"/>
            <a:ext cx="731520" cy="365760"/>
          </a:xfrm>
          <a:prstGeom prst="rect">
            <a:avLst/>
          </a:prstGeom>
          <a:noFill/>
        </p:spPr>
        <p:txBody>
          <a:bodyPr wrap="square" lIns="0" rIns="0" tIns="0" bIns="0" anchor="t">
            <a:spAutoFit/>
          </a:bodyPr>
          <a:lstStyle/>
          <a:p>
            <a:pPr algn="l">
              <a:lnSpc>
                <a:spcPct val="112000"/>
              </a:lnSpc>
            </a:pPr>
            <a:r>
              <a:rPr sz="2300" b="1" i="0">
                <a:solidFill>
                  <a:srgbClr val="EF4444"/>
                </a:solidFill>
                <a:latin typeface="微软雅黑"/>
                <a:ea typeface="微软雅黑"/>
              </a:rPr>
              <a:t>05</a:t>
            </a:r>
          </a:p>
        </p:txBody>
      </p:sp>
      <p:sp>
        <p:nvSpPr>
          <p:cNvPr id="30" name="TextBox 29"/>
          <p:cNvSpPr txBox="1"/>
          <p:nvPr/>
        </p:nvSpPr>
        <p:spPr>
          <a:xfrm>
            <a:off x="9738360" y="2130552"/>
            <a:ext cx="1783080" cy="320040"/>
          </a:xfrm>
          <a:prstGeom prst="rect">
            <a:avLst/>
          </a:prstGeom>
          <a:noFill/>
        </p:spPr>
        <p:txBody>
          <a:bodyPr wrap="square" lIns="0" rIns="0" tIns="0" bIns="0" anchor="t">
            <a:spAutoFit/>
          </a:bodyPr>
          <a:lstStyle/>
          <a:p>
            <a:pPr algn="l">
              <a:lnSpc>
                <a:spcPct val="112000"/>
              </a:lnSpc>
            </a:pPr>
            <a:r>
              <a:rPr sz="1650" b="1" i="0">
                <a:solidFill>
                  <a:srgbClr val="0B1F3A"/>
                </a:solidFill>
                <a:latin typeface="微软雅黑"/>
                <a:ea typeface="微软雅黑"/>
              </a:rPr>
              <a:t>完工缺验收</a:t>
            </a:r>
          </a:p>
        </p:txBody>
      </p:sp>
      <p:sp>
        <p:nvSpPr>
          <p:cNvPr id="31" name="TextBox 30"/>
          <p:cNvSpPr txBox="1"/>
          <p:nvPr/>
        </p:nvSpPr>
        <p:spPr>
          <a:xfrm>
            <a:off x="9738360" y="2542032"/>
            <a:ext cx="1783080" cy="1188720"/>
          </a:xfrm>
          <a:prstGeom prst="rect">
            <a:avLst/>
          </a:prstGeom>
          <a:noFill/>
        </p:spPr>
        <p:txBody>
          <a:bodyPr wrap="square" lIns="0" rIns="0" tIns="0" bIns="0" anchor="t">
            <a:spAutoFit/>
          </a:bodyPr>
          <a:lstStyle/>
          <a:p>
            <a:pPr algn="l">
              <a:lnSpc>
                <a:spcPct val="122000"/>
              </a:lnSpc>
            </a:pPr>
            <a:r>
              <a:rPr sz="1250" b="0" i="0">
                <a:solidFill>
                  <a:srgbClr val="64748B"/>
                </a:solidFill>
                <a:latin typeface="微软雅黑"/>
                <a:ea typeface="微软雅黑"/>
              </a:rPr>
              <a:t>照片与记录不全也能关单，问题反复返工</a:t>
            </a:r>
          </a:p>
        </p:txBody>
      </p:sp>
      <p:sp>
        <p:nvSpPr>
          <p:cNvPr id="32" name="Rounded Rectangle 31"/>
          <p:cNvSpPr/>
          <p:nvPr/>
        </p:nvSpPr>
        <p:spPr>
          <a:xfrm>
            <a:off x="685800" y="4133087"/>
            <a:ext cx="5440680" cy="192024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14400" y="4297680"/>
            <a:ext cx="1828800" cy="274320"/>
          </a:xfrm>
          <a:prstGeom prst="rect">
            <a:avLst/>
          </a:prstGeom>
          <a:noFill/>
        </p:spPr>
        <p:txBody>
          <a:bodyPr wrap="square" lIns="0" rIns="0" tIns="0" bIns="0" anchor="t">
            <a:spAutoFit/>
          </a:bodyPr>
          <a:lstStyle/>
          <a:p>
            <a:pPr algn="l">
              <a:lnSpc>
                <a:spcPct val="112000"/>
              </a:lnSpc>
            </a:pPr>
            <a:r>
              <a:rPr sz="1500" b="1" i="0">
                <a:solidFill>
                  <a:srgbClr val="0B1F3A"/>
                </a:solidFill>
                <a:latin typeface="微软雅黑"/>
                <a:ea typeface="微软雅黑"/>
              </a:rPr>
              <a:t>问题本质</a:t>
            </a:r>
          </a:p>
        </p:txBody>
      </p:sp>
      <p:sp>
        <p:nvSpPr>
          <p:cNvPr id="34" name="TextBox 33"/>
          <p:cNvSpPr txBox="1"/>
          <p:nvPr/>
        </p:nvSpPr>
        <p:spPr>
          <a:xfrm>
            <a:off x="914400" y="4663440"/>
            <a:ext cx="5029200" cy="1234440"/>
          </a:xfrm>
          <a:prstGeom prst="rect">
            <a:avLst/>
          </a:prstGeom>
          <a:noFill/>
        </p:spPr>
        <p:txBody>
          <a:bodyPr wrap="square" lIns="0" rIns="0" tIns="0" bIns="0" anchor="t">
            <a:spAutoFit/>
          </a:bodyPr>
          <a:lstStyle/>
          <a:p>
            <a:pPr marL="201168" indent="-201168">
              <a:lnSpc>
                <a:spcPct val="112000"/>
              </a:lnSpc>
              <a:spcAft>
                <a:spcPts val="500"/>
              </a:spcAft>
            </a:pPr>
            <a:r>
              <a:rPr sz="1600" b="1" i="0">
                <a:solidFill>
                  <a:srgbClr val="2563EB"/>
                </a:solidFill>
                <a:latin typeface="微软雅黑"/>
                <a:ea typeface="微软雅黑"/>
              </a:rPr>
              <a:t>•  </a:t>
            </a:r>
            <a:r>
              <a:rPr sz="1600" b="0" i="0">
                <a:solidFill>
                  <a:srgbClr val="0B1F3A"/>
                </a:solidFill>
                <a:latin typeface="微软雅黑"/>
                <a:ea typeface="微软雅黑"/>
              </a:rPr>
              <a:t>信息非结构化：文本到字段全靠人工</a:t>
            </a:r>
          </a:p>
          <a:p>
            <a:pPr marL="201168" indent="-201168">
              <a:lnSpc>
                <a:spcPct val="112000"/>
              </a:lnSpc>
              <a:spcAft>
                <a:spcPts val="500"/>
              </a:spcAft>
            </a:pPr>
            <a:r>
              <a:rPr sz="1600" b="1" i="0">
                <a:solidFill>
                  <a:srgbClr val="2563EB"/>
                </a:solidFill>
                <a:latin typeface="微软雅黑"/>
                <a:ea typeface="微软雅黑"/>
              </a:rPr>
              <a:t>•  </a:t>
            </a:r>
            <a:r>
              <a:rPr sz="1600" b="0" i="0">
                <a:solidFill>
                  <a:srgbClr val="0B1F3A"/>
                </a:solidFill>
                <a:latin typeface="微软雅黑"/>
                <a:ea typeface="微软雅黑"/>
              </a:rPr>
              <a:t>响应无分级：紧急度缺少统一口径</a:t>
            </a:r>
          </a:p>
          <a:p>
            <a:pPr marL="201168" indent="-201168">
              <a:lnSpc>
                <a:spcPct val="112000"/>
              </a:lnSpc>
              <a:spcAft>
                <a:spcPts val="500"/>
              </a:spcAft>
            </a:pPr>
            <a:r>
              <a:rPr sz="1600" b="1" i="0">
                <a:solidFill>
                  <a:srgbClr val="2563EB"/>
                </a:solidFill>
                <a:latin typeface="微软雅黑"/>
                <a:ea typeface="微软雅黑"/>
              </a:rPr>
              <a:t>•  </a:t>
            </a:r>
            <a:r>
              <a:rPr sz="1600" b="0" i="0">
                <a:solidFill>
                  <a:srgbClr val="0B1F3A"/>
                </a:solidFill>
                <a:latin typeface="微软雅黑"/>
                <a:ea typeface="微软雅黑"/>
              </a:rPr>
              <a:t>过程无状态：责任、时限、证据链不完整</a:t>
            </a:r>
          </a:p>
        </p:txBody>
      </p:sp>
      <p:sp>
        <p:nvSpPr>
          <p:cNvPr id="35" name="Rounded Rectangle 34"/>
          <p:cNvSpPr/>
          <p:nvPr/>
        </p:nvSpPr>
        <p:spPr>
          <a:xfrm>
            <a:off x="6355080" y="4133087"/>
            <a:ext cx="5166360" cy="192024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601968" y="4315968"/>
            <a:ext cx="2743200" cy="274320"/>
          </a:xfrm>
          <a:prstGeom prst="rect">
            <a:avLst/>
          </a:prstGeom>
          <a:noFill/>
        </p:spPr>
        <p:txBody>
          <a:bodyPr wrap="square" lIns="0" rIns="0" tIns="0" bIns="0" anchor="t">
            <a:spAutoFit/>
          </a:bodyPr>
          <a:lstStyle/>
          <a:p>
            <a:pPr algn="l">
              <a:lnSpc>
                <a:spcPct val="112000"/>
              </a:lnSpc>
            </a:pPr>
            <a:r>
              <a:rPr sz="1300" b="0" i="0">
                <a:solidFill>
                  <a:srgbClr val="94A3B8"/>
                </a:solidFill>
                <a:latin typeface="微软雅黑"/>
                <a:ea typeface="微软雅黑"/>
              </a:rPr>
              <a:t>超时工单闭环率仅</a:t>
            </a:r>
          </a:p>
        </p:txBody>
      </p:sp>
      <p:sp>
        <p:nvSpPr>
          <p:cNvPr id="37" name="TextBox 36"/>
          <p:cNvSpPr txBox="1"/>
          <p:nvPr/>
        </p:nvSpPr>
        <p:spPr>
          <a:xfrm>
            <a:off x="6583680" y="4590288"/>
            <a:ext cx="4754880" cy="548640"/>
          </a:xfrm>
          <a:prstGeom prst="rect">
            <a:avLst/>
          </a:prstGeom>
          <a:noFill/>
        </p:spPr>
        <p:txBody>
          <a:bodyPr wrap="square" lIns="0" rIns="0" tIns="0" bIns="0" anchor="t">
            <a:spAutoFit/>
          </a:bodyPr>
          <a:lstStyle/>
          <a:p>
            <a:pPr algn="l">
              <a:lnSpc>
                <a:spcPct val="112000"/>
              </a:lnSpc>
            </a:pPr>
            <a:r>
              <a:rPr sz="3400" b="1" i="0">
                <a:solidFill>
                  <a:srgbClr val="F87171"/>
                </a:solidFill>
                <a:latin typeface="微软雅黑"/>
                <a:ea typeface="微软雅黑"/>
              </a:rPr>
              <a:t>57.5%</a:t>
            </a:r>
            <a:r>
              <a:rPr sz="1600" b="1" i="0">
                <a:solidFill>
                  <a:srgbClr val="FFFFFF"/>
                </a:solidFill>
                <a:latin typeface="微软雅黑"/>
                <a:ea typeface="微软雅黑"/>
              </a:rPr>
              <a:t>　　非超时工单 98.5%</a:t>
            </a:r>
          </a:p>
        </p:txBody>
      </p:sp>
      <p:sp>
        <p:nvSpPr>
          <p:cNvPr id="38" name="TextBox 37"/>
          <p:cNvSpPr txBox="1"/>
          <p:nvPr/>
        </p:nvSpPr>
        <p:spPr>
          <a:xfrm>
            <a:off x="6601968" y="5285232"/>
            <a:ext cx="4663440" cy="548640"/>
          </a:xfrm>
          <a:prstGeom prst="rect">
            <a:avLst/>
          </a:prstGeom>
          <a:noFill/>
        </p:spPr>
        <p:txBody>
          <a:bodyPr wrap="square" lIns="0" rIns="0" tIns="0" bIns="0" anchor="t">
            <a:spAutoFit/>
          </a:bodyPr>
          <a:lstStyle/>
          <a:p>
            <a:pPr algn="l">
              <a:lnSpc>
                <a:spcPct val="120000"/>
              </a:lnSpc>
            </a:pPr>
            <a:r>
              <a:rPr sz="1150" b="0" i="0">
                <a:solidFill>
                  <a:srgbClr val="CBD5E1"/>
                </a:solidFill>
                <a:latin typeface="微软雅黑"/>
                <a:ea typeface="微软雅黑"/>
              </a:rPr>
              <a:t>3000 条历史工单统计：超时是闭环失败的首要风险</a:t>
            </a:r>
          </a:p>
        </p:txBody>
      </p:sp>
      <p:sp>
        <p:nvSpPr>
          <p:cNvPr id="39" name="Rectangle 38"/>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41" name="TextBox 40"/>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03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01 / 研究现状</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从规则系统到多智能体：技术路线在演进</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物业工单系统解决“线上化”，多智能体与 LLM 正在解决“自动化 + 可解释”</a:t>
            </a:r>
          </a:p>
        </p:txBody>
      </p:sp>
      <p:sp>
        <p:nvSpPr>
          <p:cNvPr id="7" name="Rounded Rectangle 6"/>
          <p:cNvSpPr/>
          <p:nvPr/>
        </p:nvSpPr>
        <p:spPr>
          <a:xfrm>
            <a:off x="685800" y="1554480"/>
            <a:ext cx="3520440" cy="3063240"/>
          </a:xfrm>
          <a:prstGeom prst="roundRect">
            <a:avLst>
              <a:gd name="adj" fmla="val 8000"/>
            </a:avLst>
          </a:prstGeom>
          <a:solidFill>
            <a:srgbClr val="F8FAFC"/>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05256" y="1737360"/>
            <a:ext cx="640080" cy="320040"/>
          </a:xfrm>
          <a:prstGeom prst="rect">
            <a:avLst/>
          </a:prstGeom>
          <a:noFill/>
        </p:spPr>
        <p:txBody>
          <a:bodyPr wrap="square" lIns="0" rIns="0" tIns="0" bIns="0" anchor="t">
            <a:spAutoFit/>
          </a:bodyPr>
          <a:lstStyle/>
          <a:p>
            <a:pPr algn="l">
              <a:lnSpc>
                <a:spcPct val="112000"/>
              </a:lnSpc>
            </a:pPr>
            <a:r>
              <a:rPr sz="2000" b="1" i="0">
                <a:solidFill>
                  <a:srgbClr val="2563EB"/>
                </a:solidFill>
                <a:latin typeface="微软雅黑"/>
                <a:ea typeface="微软雅黑"/>
              </a:rPr>
              <a:t>01</a:t>
            </a:r>
          </a:p>
        </p:txBody>
      </p:sp>
      <p:sp>
        <p:nvSpPr>
          <p:cNvPr id="9" name="TextBox 8"/>
          <p:cNvSpPr txBox="1"/>
          <p:nvPr/>
        </p:nvSpPr>
        <p:spPr>
          <a:xfrm>
            <a:off x="905256" y="2148840"/>
            <a:ext cx="3017520" cy="320040"/>
          </a:xfrm>
          <a:prstGeom prst="rect">
            <a:avLst/>
          </a:prstGeom>
          <a:noFill/>
        </p:spPr>
        <p:txBody>
          <a:bodyPr wrap="square" lIns="0" rIns="0" tIns="0" bIns="0" anchor="t">
            <a:spAutoFit/>
          </a:bodyPr>
          <a:lstStyle/>
          <a:p>
            <a:pPr algn="l">
              <a:lnSpc>
                <a:spcPct val="112000"/>
              </a:lnSpc>
            </a:pPr>
            <a:r>
              <a:rPr sz="1700" b="1" i="0">
                <a:solidFill>
                  <a:srgbClr val="0B1F3A"/>
                </a:solidFill>
                <a:latin typeface="微软雅黑"/>
                <a:ea typeface="微软雅黑"/>
              </a:rPr>
              <a:t>规则与专家系统</a:t>
            </a:r>
          </a:p>
        </p:txBody>
      </p:sp>
      <p:sp>
        <p:nvSpPr>
          <p:cNvPr id="10" name="TextBox 9"/>
          <p:cNvSpPr txBox="1"/>
          <p:nvPr/>
        </p:nvSpPr>
        <p:spPr>
          <a:xfrm>
            <a:off x="905256" y="2606040"/>
            <a:ext cx="3063240" cy="1463040"/>
          </a:xfrm>
          <a:prstGeom prst="rect">
            <a:avLst/>
          </a:prstGeom>
          <a:noFill/>
        </p:spPr>
        <p:txBody>
          <a:bodyPr wrap="square" lIns="0" rIns="0" tIns="0" bIns="0" anchor="t">
            <a:spAutoFit/>
          </a:bodyPr>
          <a:lstStyle/>
          <a:p>
            <a:pPr algn="l">
              <a:lnSpc>
                <a:spcPct val="135000"/>
              </a:lnSpc>
            </a:pPr>
            <a:r>
              <a:rPr sz="1400" b="0" i="0">
                <a:solidFill>
                  <a:srgbClr val="64748B"/>
                </a:solidFill>
                <a:latin typeface="微软雅黑"/>
                <a:ea typeface="微软雅黑"/>
              </a:rPr>
              <a:t>关键词/正则分类、专家规则：可解释、成本低、部署轻；但规则维护重，对新表达泛化有限。</a:t>
            </a:r>
          </a:p>
        </p:txBody>
      </p:sp>
      <p:sp>
        <p:nvSpPr>
          <p:cNvPr id="11" name="TextBox 10"/>
          <p:cNvSpPr txBox="1"/>
          <p:nvPr/>
        </p:nvSpPr>
        <p:spPr>
          <a:xfrm>
            <a:off x="905256" y="4160520"/>
            <a:ext cx="292608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可解释性 ★★★</a:t>
            </a:r>
          </a:p>
        </p:txBody>
      </p:sp>
      <p:sp>
        <p:nvSpPr>
          <p:cNvPr id="12" name="Rounded Rectangle 11"/>
          <p:cNvSpPr/>
          <p:nvPr/>
        </p:nvSpPr>
        <p:spPr>
          <a:xfrm>
            <a:off x="4398264" y="1554480"/>
            <a:ext cx="3520440" cy="3063240"/>
          </a:xfrm>
          <a:prstGeom prst="roundRect">
            <a:avLst>
              <a:gd name="adj" fmla="val 8000"/>
            </a:avLst>
          </a:prstGeom>
          <a:solidFill>
            <a:srgbClr val="F8FAFC"/>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17720" y="1737360"/>
            <a:ext cx="640080" cy="320040"/>
          </a:xfrm>
          <a:prstGeom prst="rect">
            <a:avLst/>
          </a:prstGeom>
          <a:noFill/>
        </p:spPr>
        <p:txBody>
          <a:bodyPr wrap="square" lIns="0" rIns="0" tIns="0" bIns="0" anchor="t">
            <a:spAutoFit/>
          </a:bodyPr>
          <a:lstStyle/>
          <a:p>
            <a:pPr algn="l">
              <a:lnSpc>
                <a:spcPct val="112000"/>
              </a:lnSpc>
            </a:pPr>
            <a:r>
              <a:rPr sz="2000" b="1" i="0">
                <a:solidFill>
                  <a:srgbClr val="06B6D4"/>
                </a:solidFill>
                <a:latin typeface="微软雅黑"/>
                <a:ea typeface="微软雅黑"/>
              </a:rPr>
              <a:t>02</a:t>
            </a:r>
          </a:p>
        </p:txBody>
      </p:sp>
      <p:sp>
        <p:nvSpPr>
          <p:cNvPr id="14" name="TextBox 13"/>
          <p:cNvSpPr txBox="1"/>
          <p:nvPr/>
        </p:nvSpPr>
        <p:spPr>
          <a:xfrm>
            <a:off x="4617720" y="2148840"/>
            <a:ext cx="3017520" cy="320040"/>
          </a:xfrm>
          <a:prstGeom prst="rect">
            <a:avLst/>
          </a:prstGeom>
          <a:noFill/>
        </p:spPr>
        <p:txBody>
          <a:bodyPr wrap="square" lIns="0" rIns="0" tIns="0" bIns="0" anchor="t">
            <a:spAutoFit/>
          </a:bodyPr>
          <a:lstStyle/>
          <a:p>
            <a:pPr algn="l">
              <a:lnSpc>
                <a:spcPct val="112000"/>
              </a:lnSpc>
            </a:pPr>
            <a:r>
              <a:rPr sz="1700" b="1" i="0">
                <a:solidFill>
                  <a:srgbClr val="0B1F3A"/>
                </a:solidFill>
                <a:latin typeface="微软雅黑"/>
                <a:ea typeface="微软雅黑"/>
              </a:rPr>
              <a:t>物业工单 / ERP</a:t>
            </a:r>
          </a:p>
        </p:txBody>
      </p:sp>
      <p:sp>
        <p:nvSpPr>
          <p:cNvPr id="15" name="TextBox 14"/>
          <p:cNvSpPr txBox="1"/>
          <p:nvPr/>
        </p:nvSpPr>
        <p:spPr>
          <a:xfrm>
            <a:off x="4617720" y="2606040"/>
            <a:ext cx="3063240" cy="1463040"/>
          </a:xfrm>
          <a:prstGeom prst="rect">
            <a:avLst/>
          </a:prstGeom>
          <a:noFill/>
        </p:spPr>
        <p:txBody>
          <a:bodyPr wrap="square" lIns="0" rIns="0" tIns="0" bIns="0" anchor="t">
            <a:spAutoFit/>
          </a:bodyPr>
          <a:lstStyle/>
          <a:p>
            <a:pPr algn="l">
              <a:lnSpc>
                <a:spcPct val="135000"/>
              </a:lnSpc>
            </a:pPr>
            <a:r>
              <a:rPr sz="1400" b="0" i="0">
                <a:solidFill>
                  <a:srgbClr val="64748B"/>
                </a:solidFill>
                <a:latin typeface="微软雅黑"/>
                <a:ea typeface="微软雅黑"/>
              </a:rPr>
              <a:t>报修、派单、完工流程线上化，节点留痕；但派单与验收仍高度依赖人工经验，缺少自动闭环。</a:t>
            </a:r>
          </a:p>
        </p:txBody>
      </p:sp>
      <p:sp>
        <p:nvSpPr>
          <p:cNvPr id="16" name="TextBox 15"/>
          <p:cNvSpPr txBox="1"/>
          <p:nvPr/>
        </p:nvSpPr>
        <p:spPr>
          <a:xfrm>
            <a:off x="4617720" y="4160520"/>
            <a:ext cx="2926080" cy="256032"/>
          </a:xfrm>
          <a:prstGeom prst="rect">
            <a:avLst/>
          </a:prstGeom>
          <a:noFill/>
        </p:spPr>
        <p:txBody>
          <a:bodyPr wrap="square" lIns="0" rIns="0" tIns="0" bIns="0" anchor="t">
            <a:spAutoFit/>
          </a:bodyPr>
          <a:lstStyle/>
          <a:p>
            <a:pPr algn="l">
              <a:lnSpc>
                <a:spcPct val="112000"/>
              </a:lnSpc>
            </a:pPr>
            <a:r>
              <a:rPr sz="1100" b="1" i="0">
                <a:solidFill>
                  <a:srgbClr val="06B6D4"/>
                </a:solidFill>
                <a:latin typeface="微软雅黑"/>
                <a:ea typeface="微软雅黑"/>
              </a:rPr>
              <a:t>流程化 ★★★</a:t>
            </a:r>
          </a:p>
        </p:txBody>
      </p:sp>
      <p:sp>
        <p:nvSpPr>
          <p:cNvPr id="17" name="Rounded Rectangle 16"/>
          <p:cNvSpPr/>
          <p:nvPr/>
        </p:nvSpPr>
        <p:spPr>
          <a:xfrm>
            <a:off x="8110727" y="1554480"/>
            <a:ext cx="3520440" cy="3063240"/>
          </a:xfrm>
          <a:prstGeom prst="roundRect">
            <a:avLst>
              <a:gd name="adj" fmla="val 8000"/>
            </a:avLst>
          </a:prstGeom>
          <a:solidFill>
            <a:srgbClr val="F8FAFC"/>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330183" y="1737360"/>
            <a:ext cx="640080" cy="320040"/>
          </a:xfrm>
          <a:prstGeom prst="rect">
            <a:avLst/>
          </a:prstGeom>
          <a:noFill/>
        </p:spPr>
        <p:txBody>
          <a:bodyPr wrap="square" lIns="0" rIns="0" tIns="0" bIns="0" anchor="t">
            <a:spAutoFit/>
          </a:bodyPr>
          <a:lstStyle/>
          <a:p>
            <a:pPr algn="l">
              <a:lnSpc>
                <a:spcPct val="112000"/>
              </a:lnSpc>
            </a:pPr>
            <a:r>
              <a:rPr sz="2000" b="1" i="0">
                <a:solidFill>
                  <a:srgbClr val="F59E0B"/>
                </a:solidFill>
                <a:latin typeface="微软雅黑"/>
                <a:ea typeface="微软雅黑"/>
              </a:rPr>
              <a:t>03</a:t>
            </a:r>
          </a:p>
        </p:txBody>
      </p:sp>
      <p:sp>
        <p:nvSpPr>
          <p:cNvPr id="19" name="TextBox 18"/>
          <p:cNvSpPr txBox="1"/>
          <p:nvPr/>
        </p:nvSpPr>
        <p:spPr>
          <a:xfrm>
            <a:off x="8330183" y="2148840"/>
            <a:ext cx="3017520" cy="320040"/>
          </a:xfrm>
          <a:prstGeom prst="rect">
            <a:avLst/>
          </a:prstGeom>
          <a:noFill/>
        </p:spPr>
        <p:txBody>
          <a:bodyPr wrap="square" lIns="0" rIns="0" tIns="0" bIns="0" anchor="t">
            <a:spAutoFit/>
          </a:bodyPr>
          <a:lstStyle/>
          <a:p>
            <a:pPr algn="l">
              <a:lnSpc>
                <a:spcPct val="112000"/>
              </a:lnSpc>
            </a:pPr>
            <a:r>
              <a:rPr sz="1700" b="1" i="0">
                <a:solidFill>
                  <a:srgbClr val="0B1F3A"/>
                </a:solidFill>
                <a:latin typeface="微软雅黑"/>
                <a:ea typeface="微软雅黑"/>
              </a:rPr>
              <a:t>多智能体 / LLM</a:t>
            </a:r>
          </a:p>
        </p:txBody>
      </p:sp>
      <p:sp>
        <p:nvSpPr>
          <p:cNvPr id="20" name="TextBox 19"/>
          <p:cNvSpPr txBox="1"/>
          <p:nvPr/>
        </p:nvSpPr>
        <p:spPr>
          <a:xfrm>
            <a:off x="8330183" y="2606040"/>
            <a:ext cx="3063240" cy="1463040"/>
          </a:xfrm>
          <a:prstGeom prst="rect">
            <a:avLst/>
          </a:prstGeom>
          <a:noFill/>
        </p:spPr>
        <p:txBody>
          <a:bodyPr wrap="square" lIns="0" rIns="0" tIns="0" bIns="0" anchor="t">
            <a:spAutoFit/>
          </a:bodyPr>
          <a:lstStyle/>
          <a:p>
            <a:pPr algn="l">
              <a:lnSpc>
                <a:spcPct val="135000"/>
              </a:lnSpc>
            </a:pPr>
            <a:r>
              <a:rPr sz="1400" b="0" i="0">
                <a:solidFill>
                  <a:srgbClr val="64748B"/>
                </a:solidFill>
                <a:latin typeface="微软雅黑"/>
                <a:ea typeface="微软雅黑"/>
              </a:rPr>
              <a:t>ReAct、工具调用与 Agent 协作成为趋势；但大模型存在黑箱、成本与稳定性问题，工程落地需约束。</a:t>
            </a:r>
          </a:p>
        </p:txBody>
      </p:sp>
      <p:sp>
        <p:nvSpPr>
          <p:cNvPr id="21" name="TextBox 20"/>
          <p:cNvSpPr txBox="1"/>
          <p:nvPr/>
        </p:nvSpPr>
        <p:spPr>
          <a:xfrm>
            <a:off x="8330183" y="4160520"/>
            <a:ext cx="2926080" cy="256032"/>
          </a:xfrm>
          <a:prstGeom prst="rect">
            <a:avLst/>
          </a:prstGeom>
          <a:noFill/>
        </p:spPr>
        <p:txBody>
          <a:bodyPr wrap="square" lIns="0" rIns="0" tIns="0" bIns="0" anchor="t">
            <a:spAutoFit/>
          </a:bodyPr>
          <a:lstStyle/>
          <a:p>
            <a:pPr algn="l">
              <a:lnSpc>
                <a:spcPct val="112000"/>
              </a:lnSpc>
            </a:pPr>
            <a:r>
              <a:rPr sz="1100" b="1" i="0">
                <a:solidFill>
                  <a:srgbClr val="F59E0B"/>
                </a:solidFill>
                <a:latin typeface="微软雅黑"/>
                <a:ea typeface="微软雅黑"/>
              </a:rPr>
              <a:t>自动化 ★★★</a:t>
            </a:r>
          </a:p>
        </p:txBody>
      </p:sp>
      <p:sp>
        <p:nvSpPr>
          <p:cNvPr id="22" name="Rounded Rectangle 21"/>
          <p:cNvSpPr/>
          <p:nvPr/>
        </p:nvSpPr>
        <p:spPr>
          <a:xfrm>
            <a:off x="685800" y="4892040"/>
            <a:ext cx="10835640" cy="1170432"/>
          </a:xfrm>
          <a:prstGeom prst="roundRect">
            <a:avLst>
              <a:gd name="adj" fmla="val 8000"/>
            </a:avLst>
          </a:prstGeom>
          <a:solidFill>
            <a:srgbClr val="EFF6FF"/>
          </a:solidFill>
          <a:ln w="1143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5047488"/>
            <a:ext cx="10378440" cy="365760"/>
          </a:xfrm>
          <a:prstGeom prst="rect">
            <a:avLst/>
          </a:prstGeom>
          <a:noFill/>
        </p:spPr>
        <p:txBody>
          <a:bodyPr wrap="square" lIns="0" rIns="0" tIns="0" bIns="0" anchor="t">
            <a:spAutoFit/>
          </a:bodyPr>
          <a:lstStyle/>
          <a:p>
            <a:pPr algn="l">
              <a:lnSpc>
                <a:spcPct val="112000"/>
              </a:lnSpc>
            </a:pPr>
            <a:r>
              <a:rPr sz="1500" b="1" i="0">
                <a:solidFill>
                  <a:srgbClr val="2563EB"/>
                </a:solidFill>
                <a:latin typeface="微软雅黑"/>
                <a:ea typeface="微软雅黑"/>
              </a:rPr>
              <a:t>本课题定位：</a:t>
            </a:r>
            <a:r>
              <a:rPr sz="1400" b="0" i="0">
                <a:solidFill>
                  <a:srgbClr val="0B1F3A"/>
                </a:solidFill>
                <a:latin typeface="微软雅黑"/>
                <a:ea typeface="微软雅黑"/>
              </a:rPr>
              <a:t>可解释规则 + 多智能体状态机 + 离线先验反哺，做可落地、可审计的工单闭环，</a:t>
            </a:r>
            <a:r>
              <a:rPr sz="1400" b="1" i="0">
                <a:solidFill>
                  <a:srgbClr val="0B1F3A"/>
                </a:solidFill>
                <a:latin typeface="微软雅黑"/>
                <a:ea typeface="微软雅黑"/>
              </a:rPr>
              <a:t>而不是聊天机器人。</a:t>
            </a:r>
          </a:p>
        </p:txBody>
      </p:sp>
      <p:sp>
        <p:nvSpPr>
          <p:cNvPr id="24" name="TextBox 23"/>
          <p:cNvSpPr txBox="1"/>
          <p:nvPr/>
        </p:nvSpPr>
        <p:spPr>
          <a:xfrm>
            <a:off x="914400" y="5486400"/>
            <a:ext cx="10332720" cy="274320"/>
          </a:xfrm>
          <a:prstGeom prst="rect">
            <a:avLst/>
          </a:prstGeom>
          <a:noFill/>
        </p:spPr>
        <p:txBody>
          <a:bodyPr wrap="square" lIns="0" rIns="0" tIns="0" bIns="0" anchor="t">
            <a:spAutoFit/>
          </a:bodyPr>
          <a:lstStyle/>
          <a:p>
            <a:pPr algn="l">
              <a:lnSpc>
                <a:spcPct val="112000"/>
              </a:lnSpc>
            </a:pPr>
            <a:r>
              <a:rPr sz="1150" b="1" i="0">
                <a:solidFill>
                  <a:srgbClr val="64748B"/>
                </a:solidFill>
                <a:latin typeface="微软雅黑"/>
                <a:ea typeface="微软雅黑"/>
              </a:rPr>
              <a:t>面向本科毕业设计：</a:t>
            </a:r>
            <a:r>
              <a:rPr sz="1150" b="0" i="0">
                <a:solidFill>
                  <a:srgbClr val="64748B"/>
                </a:solidFill>
                <a:latin typeface="微软雅黑"/>
                <a:ea typeface="微软雅黑"/>
              </a:rPr>
              <a:t> 业务闭环完整、指标可复现、每一步能讲清“为什么”。</a:t>
            </a:r>
          </a:p>
        </p:txBody>
      </p:sp>
      <p:sp>
        <p:nvSpPr>
          <p:cNvPr id="25" name="Rectangle 24"/>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27" name="TextBox 26"/>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04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02 / 系统目标</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系统目标与总体架构</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4 个专职 Agent + 1 个编排中心，分层解耦、状态可回放、决策可追溯</a:t>
            </a:r>
          </a:p>
        </p:txBody>
      </p:sp>
      <p:sp>
        <p:nvSpPr>
          <p:cNvPr id="7" name="Rounded Rectangle 6"/>
          <p:cNvSpPr/>
          <p:nvPr/>
        </p:nvSpPr>
        <p:spPr>
          <a:xfrm>
            <a:off x="685800" y="1389888"/>
            <a:ext cx="3520440" cy="475488"/>
          </a:xfrm>
          <a:prstGeom prst="roundRect">
            <a:avLst>
              <a:gd name="adj" fmla="val 20000"/>
            </a:avLst>
          </a:prstGeom>
          <a:solidFill>
            <a:srgbClr val="EFF6FF"/>
          </a:solidFill>
          <a:ln w="1016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32104" y="1490472"/>
            <a:ext cx="3291840" cy="274320"/>
          </a:xfrm>
          <a:prstGeom prst="rect">
            <a:avLst/>
          </a:prstGeom>
          <a:noFill/>
        </p:spPr>
        <p:txBody>
          <a:bodyPr wrap="square" lIns="0" rIns="0" tIns="0" bIns="0" anchor="t">
            <a:spAutoFit/>
          </a:bodyPr>
          <a:lstStyle/>
          <a:p>
            <a:pPr algn="l">
              <a:lnSpc>
                <a:spcPct val="112000"/>
              </a:lnSpc>
            </a:pPr>
            <a:r>
              <a:rPr sz="1000" b="1" i="0">
                <a:solidFill>
                  <a:srgbClr val="2563EB"/>
                </a:solidFill>
                <a:latin typeface="微软雅黑"/>
                <a:ea typeface="微软雅黑"/>
              </a:rPr>
              <a:t>● </a:t>
            </a:r>
            <a:r>
              <a:rPr sz="1300" b="1" i="0">
                <a:solidFill>
                  <a:srgbClr val="0B1F3A"/>
                </a:solidFill>
                <a:latin typeface="微软雅黑"/>
                <a:ea typeface="微软雅黑"/>
              </a:rPr>
              <a:t>可解释　</a:t>
            </a:r>
            <a:r>
              <a:rPr sz="1050" b="0" i="0">
                <a:solidFill>
                  <a:srgbClr val="64748B"/>
                </a:solidFill>
                <a:latin typeface="微软雅黑"/>
                <a:ea typeface="微软雅黑"/>
              </a:rPr>
              <a:t>规则命中与评分明细全部留痕</a:t>
            </a:r>
          </a:p>
        </p:txBody>
      </p:sp>
      <p:sp>
        <p:nvSpPr>
          <p:cNvPr id="9" name="Rounded Rectangle 8"/>
          <p:cNvSpPr/>
          <p:nvPr/>
        </p:nvSpPr>
        <p:spPr>
          <a:xfrm>
            <a:off x="4398264" y="1389888"/>
            <a:ext cx="3520440" cy="475488"/>
          </a:xfrm>
          <a:prstGeom prst="roundRect">
            <a:avLst>
              <a:gd name="adj" fmla="val 20000"/>
            </a:avLst>
          </a:prstGeom>
          <a:solidFill>
            <a:srgbClr val="EFF6FF"/>
          </a:solidFill>
          <a:ln w="1016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544568" y="1490472"/>
            <a:ext cx="3291840" cy="274320"/>
          </a:xfrm>
          <a:prstGeom prst="rect">
            <a:avLst/>
          </a:prstGeom>
          <a:noFill/>
        </p:spPr>
        <p:txBody>
          <a:bodyPr wrap="square" lIns="0" rIns="0" tIns="0" bIns="0" anchor="t">
            <a:spAutoFit/>
          </a:bodyPr>
          <a:lstStyle/>
          <a:p>
            <a:pPr algn="l">
              <a:lnSpc>
                <a:spcPct val="112000"/>
              </a:lnSpc>
            </a:pPr>
            <a:r>
              <a:rPr sz="1000" b="1" i="0">
                <a:solidFill>
                  <a:srgbClr val="2563EB"/>
                </a:solidFill>
                <a:latin typeface="微软雅黑"/>
                <a:ea typeface="微软雅黑"/>
              </a:rPr>
              <a:t>● </a:t>
            </a:r>
            <a:r>
              <a:rPr sz="1300" b="1" i="0">
                <a:solidFill>
                  <a:srgbClr val="0B1F3A"/>
                </a:solidFill>
                <a:latin typeface="微软雅黑"/>
                <a:ea typeface="微软雅黑"/>
              </a:rPr>
              <a:t>可追溯　</a:t>
            </a:r>
            <a:r>
              <a:rPr sz="1050" b="0" i="0">
                <a:solidFill>
                  <a:srgbClr val="64748B"/>
                </a:solidFill>
                <a:latin typeface="微软雅黑"/>
                <a:ea typeface="微软雅黑"/>
              </a:rPr>
              <a:t>事件 + 日志 + trace_id 全链路</a:t>
            </a:r>
          </a:p>
        </p:txBody>
      </p:sp>
      <p:sp>
        <p:nvSpPr>
          <p:cNvPr id="11" name="Rounded Rectangle 10"/>
          <p:cNvSpPr/>
          <p:nvPr/>
        </p:nvSpPr>
        <p:spPr>
          <a:xfrm>
            <a:off x="8110727" y="1389888"/>
            <a:ext cx="3520440" cy="475488"/>
          </a:xfrm>
          <a:prstGeom prst="roundRect">
            <a:avLst>
              <a:gd name="adj" fmla="val 20000"/>
            </a:avLst>
          </a:prstGeom>
          <a:solidFill>
            <a:srgbClr val="EFF6FF"/>
          </a:solidFill>
          <a:ln w="1016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57031" y="1490472"/>
            <a:ext cx="3291840" cy="274320"/>
          </a:xfrm>
          <a:prstGeom prst="rect">
            <a:avLst/>
          </a:prstGeom>
          <a:noFill/>
        </p:spPr>
        <p:txBody>
          <a:bodyPr wrap="square" lIns="0" rIns="0" tIns="0" bIns="0" anchor="t">
            <a:spAutoFit/>
          </a:bodyPr>
          <a:lstStyle/>
          <a:p>
            <a:pPr algn="l">
              <a:lnSpc>
                <a:spcPct val="112000"/>
              </a:lnSpc>
            </a:pPr>
            <a:r>
              <a:rPr sz="1000" b="1" i="0">
                <a:solidFill>
                  <a:srgbClr val="2563EB"/>
                </a:solidFill>
                <a:latin typeface="微软雅黑"/>
                <a:ea typeface="微软雅黑"/>
              </a:rPr>
              <a:t>● </a:t>
            </a:r>
            <a:r>
              <a:rPr sz="1300" b="1" i="0">
                <a:solidFill>
                  <a:srgbClr val="0B1F3A"/>
                </a:solidFill>
                <a:latin typeface="微软雅黑"/>
                <a:ea typeface="微软雅黑"/>
              </a:rPr>
              <a:t>可复现　</a:t>
            </a:r>
            <a:r>
              <a:rPr sz="1050" b="0" i="0">
                <a:solidFill>
                  <a:srgbClr val="64748B"/>
                </a:solidFill>
                <a:latin typeface="微软雅黑"/>
                <a:ea typeface="微软雅黑"/>
              </a:rPr>
              <a:t>固定种子 + 可注入时钟，演示可重放</a:t>
            </a:r>
          </a:p>
        </p:txBody>
      </p:sp>
      <p:sp>
        <p:nvSpPr>
          <p:cNvPr id="13" name="Rounded Rectangle 12"/>
          <p:cNvSpPr/>
          <p:nvPr/>
        </p:nvSpPr>
        <p:spPr>
          <a:xfrm>
            <a:off x="685800" y="2029968"/>
            <a:ext cx="10835640" cy="457200"/>
          </a:xfrm>
          <a:prstGeom prst="roundRect">
            <a:avLst>
              <a:gd name="adj" fmla="val 12000"/>
            </a:avLst>
          </a:prstGeom>
          <a:solidFill>
            <a:srgbClr val="EFF6FF"/>
          </a:solidFill>
          <a:ln w="1143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68680" y="2139696"/>
            <a:ext cx="914400" cy="256032"/>
          </a:xfrm>
          <a:prstGeom prst="rect">
            <a:avLst/>
          </a:prstGeom>
          <a:noFill/>
        </p:spPr>
        <p:txBody>
          <a:bodyPr wrap="square" lIns="0" rIns="0" tIns="0" bIns="0" anchor="t">
            <a:spAutoFit/>
          </a:bodyPr>
          <a:lstStyle/>
          <a:p>
            <a:pPr algn="l">
              <a:lnSpc>
                <a:spcPct val="112000"/>
              </a:lnSpc>
            </a:pPr>
            <a:r>
              <a:rPr sz="1150" b="1" i="0">
                <a:solidFill>
                  <a:srgbClr val="2563EB"/>
                </a:solidFill>
                <a:latin typeface="微软雅黑"/>
                <a:ea typeface="微软雅黑"/>
              </a:rPr>
              <a:t>接入层</a:t>
            </a:r>
          </a:p>
        </p:txBody>
      </p:sp>
      <p:sp>
        <p:nvSpPr>
          <p:cNvPr id="15" name="TextBox 14"/>
          <p:cNvSpPr txBox="1"/>
          <p:nvPr/>
        </p:nvSpPr>
        <p:spPr>
          <a:xfrm>
            <a:off x="1600200" y="2121408"/>
            <a:ext cx="9692640" cy="292608"/>
          </a:xfrm>
          <a:prstGeom prst="rect">
            <a:avLst/>
          </a:prstGeom>
          <a:noFill/>
        </p:spPr>
        <p:txBody>
          <a:bodyPr wrap="square" lIns="0" rIns="0" tIns="0" bIns="0" anchor="t">
            <a:spAutoFit/>
          </a:bodyPr>
          <a:lstStyle/>
          <a:p>
            <a:pPr algn="l">
              <a:lnSpc>
                <a:spcPct val="112000"/>
              </a:lnSpc>
            </a:pPr>
            <a:r>
              <a:rPr sz="1200" b="1" i="0">
                <a:solidFill>
                  <a:srgbClr val="0B1F3A"/>
                </a:solidFill>
                <a:latin typeface="微软雅黑"/>
                <a:ea typeface="微软雅黑"/>
              </a:rPr>
              <a:t>业主报修：App / 小程序 / 电话 / 前台　→　运营看板 6 个页面</a:t>
            </a:r>
          </a:p>
        </p:txBody>
      </p:sp>
      <p:sp>
        <p:nvSpPr>
          <p:cNvPr id="16" name="Rounded Rectangle 15"/>
          <p:cNvSpPr/>
          <p:nvPr/>
        </p:nvSpPr>
        <p:spPr>
          <a:xfrm>
            <a:off x="685800" y="2761488"/>
            <a:ext cx="10835640" cy="457200"/>
          </a:xfrm>
          <a:prstGeom prst="roundRect">
            <a:avLst>
              <a:gd name="adj" fmla="val 12000"/>
            </a:avLst>
          </a:prstGeom>
          <a:solidFill>
            <a:srgbClr val="DBEAFE"/>
          </a:solidFill>
          <a:ln w="11430">
            <a:solidFill>
              <a:srgbClr val="93C5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8680" y="2871216"/>
            <a:ext cx="914400" cy="256032"/>
          </a:xfrm>
          <a:prstGeom prst="rect">
            <a:avLst/>
          </a:prstGeom>
          <a:noFill/>
        </p:spPr>
        <p:txBody>
          <a:bodyPr wrap="square" lIns="0" rIns="0" tIns="0" bIns="0" anchor="t">
            <a:spAutoFit/>
          </a:bodyPr>
          <a:lstStyle/>
          <a:p>
            <a:pPr algn="l">
              <a:lnSpc>
                <a:spcPct val="112000"/>
              </a:lnSpc>
            </a:pPr>
            <a:r>
              <a:rPr sz="1150" b="1" i="0">
                <a:solidFill>
                  <a:srgbClr val="2563EB"/>
                </a:solidFill>
                <a:latin typeface="微软雅黑"/>
                <a:ea typeface="微软雅黑"/>
              </a:rPr>
              <a:t>服务层</a:t>
            </a:r>
          </a:p>
        </p:txBody>
      </p:sp>
      <p:sp>
        <p:nvSpPr>
          <p:cNvPr id="18" name="TextBox 17"/>
          <p:cNvSpPr txBox="1"/>
          <p:nvPr/>
        </p:nvSpPr>
        <p:spPr>
          <a:xfrm>
            <a:off x="1600200" y="2852928"/>
            <a:ext cx="9692640" cy="292608"/>
          </a:xfrm>
          <a:prstGeom prst="rect">
            <a:avLst/>
          </a:prstGeom>
          <a:noFill/>
        </p:spPr>
        <p:txBody>
          <a:bodyPr wrap="square" lIns="0" rIns="0" tIns="0" bIns="0" anchor="t">
            <a:spAutoFit/>
          </a:bodyPr>
          <a:lstStyle/>
          <a:p>
            <a:pPr algn="l">
              <a:lnSpc>
                <a:spcPct val="112000"/>
              </a:lnSpc>
            </a:pPr>
            <a:r>
              <a:rPr sz="1200" b="1" i="0">
                <a:solidFill>
                  <a:srgbClr val="0B1F3A"/>
                </a:solidFill>
                <a:latin typeface="微软雅黑"/>
                <a:ea typeface="微软雅黑"/>
              </a:rPr>
              <a:t>FastAPI REST /api · Pydantic 校验 · Uvicorn · 原生前端</a:t>
            </a:r>
          </a:p>
        </p:txBody>
      </p:sp>
      <p:sp>
        <p:nvSpPr>
          <p:cNvPr id="19" name="Rounded Rectangle 18"/>
          <p:cNvSpPr/>
          <p:nvPr/>
        </p:nvSpPr>
        <p:spPr>
          <a:xfrm>
            <a:off x="685800" y="3493008"/>
            <a:ext cx="10835640" cy="475488"/>
          </a:xfrm>
          <a:prstGeom prst="roundRect">
            <a:avLst>
              <a:gd name="adj" fmla="val 12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68680" y="3602736"/>
            <a:ext cx="914400" cy="256032"/>
          </a:xfrm>
          <a:prstGeom prst="rect">
            <a:avLst/>
          </a:prstGeom>
          <a:noFill/>
        </p:spPr>
        <p:txBody>
          <a:bodyPr wrap="square" lIns="0" rIns="0" tIns="0" bIns="0" anchor="t">
            <a:spAutoFit/>
          </a:bodyPr>
          <a:lstStyle/>
          <a:p>
            <a:pPr algn="l">
              <a:lnSpc>
                <a:spcPct val="112000"/>
              </a:lnSpc>
            </a:pPr>
            <a:r>
              <a:rPr sz="1150" b="1" i="0">
                <a:solidFill>
                  <a:srgbClr val="93C5FD"/>
                </a:solidFill>
                <a:latin typeface="微软雅黑"/>
                <a:ea typeface="微软雅黑"/>
              </a:rPr>
              <a:t>编排层</a:t>
            </a:r>
          </a:p>
        </p:txBody>
      </p:sp>
      <p:sp>
        <p:nvSpPr>
          <p:cNvPr id="21" name="TextBox 20"/>
          <p:cNvSpPr txBox="1"/>
          <p:nvPr/>
        </p:nvSpPr>
        <p:spPr>
          <a:xfrm>
            <a:off x="1600200" y="3584448"/>
            <a:ext cx="9692640" cy="292608"/>
          </a:xfrm>
          <a:prstGeom prst="rect">
            <a:avLst/>
          </a:prstGeom>
          <a:noFill/>
        </p:spPr>
        <p:txBody>
          <a:bodyPr wrap="square" lIns="0" rIns="0" tIns="0" bIns="0" anchor="t">
            <a:spAutoFit/>
          </a:bodyPr>
          <a:lstStyle/>
          <a:p>
            <a:pPr algn="l">
              <a:lnSpc>
                <a:spcPct val="112000"/>
              </a:lnSpc>
            </a:pPr>
            <a:r>
              <a:rPr sz="1200" b="0" i="0">
                <a:solidFill>
                  <a:srgbClr val="FFFFFF"/>
                </a:solidFill>
                <a:latin typeface="微软雅黑"/>
                <a:ea typeface="微软雅黑"/>
              </a:rPr>
              <a:t>工单编排中心 Coordinator：状态机 · 事件流 · 决策日志 · 人工接管</a:t>
            </a:r>
          </a:p>
        </p:txBody>
      </p:sp>
      <p:cxnSp>
        <p:nvCxnSpPr>
          <p:cNvPr id="22" name="Connector 21"/>
          <p:cNvCxnSpPr/>
          <p:nvPr/>
        </p:nvCxnSpPr>
        <p:spPr>
          <a:xfrm>
            <a:off x="6099048" y="2487168"/>
            <a:ext cx="0" cy="27432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99048" y="3218688"/>
            <a:ext cx="0" cy="27432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99048" y="3968496"/>
            <a:ext cx="0" cy="292608"/>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85800" y="4261104"/>
            <a:ext cx="2615184" cy="841248"/>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85800" y="4261104"/>
            <a:ext cx="2615184" cy="457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13816" y="4407408"/>
            <a:ext cx="914400" cy="182880"/>
          </a:xfrm>
          <a:prstGeom prst="rect">
            <a:avLst/>
          </a:prstGeom>
          <a:noFill/>
        </p:spPr>
        <p:txBody>
          <a:bodyPr wrap="square" lIns="0" rIns="0" tIns="0" bIns="0" anchor="t">
            <a:spAutoFit/>
          </a:bodyPr>
          <a:lstStyle/>
          <a:p>
            <a:pPr algn="l">
              <a:lnSpc>
                <a:spcPct val="112000"/>
              </a:lnSpc>
            </a:pPr>
            <a:r>
              <a:rPr sz="850" b="1" i="0">
                <a:solidFill>
                  <a:srgbClr val="2563EB"/>
                </a:solidFill>
                <a:latin typeface="微软雅黑"/>
                <a:ea typeface="微软雅黑"/>
              </a:rPr>
              <a:t>Agent 1</a:t>
            </a:r>
          </a:p>
        </p:txBody>
      </p:sp>
      <p:sp>
        <p:nvSpPr>
          <p:cNvPr id="28" name="TextBox 27"/>
          <p:cNvSpPr txBox="1"/>
          <p:nvPr/>
        </p:nvSpPr>
        <p:spPr>
          <a:xfrm>
            <a:off x="813816" y="4590288"/>
            <a:ext cx="1280160" cy="237744"/>
          </a:xfrm>
          <a:prstGeom prst="rect">
            <a:avLst/>
          </a:prstGeom>
          <a:noFill/>
        </p:spPr>
        <p:txBody>
          <a:bodyPr wrap="square" lIns="0" rIns="0" tIns="0" bIns="0" anchor="t">
            <a:spAutoFit/>
          </a:bodyPr>
          <a:lstStyle/>
          <a:p>
            <a:pPr algn="l">
              <a:lnSpc>
                <a:spcPct val="112000"/>
              </a:lnSpc>
            </a:pPr>
            <a:r>
              <a:rPr sz="1250" b="1" i="0">
                <a:solidFill>
                  <a:srgbClr val="0B1F3A"/>
                </a:solidFill>
                <a:latin typeface="微软雅黑"/>
                <a:ea typeface="微软雅黑"/>
              </a:rPr>
              <a:t>报修理解</a:t>
            </a:r>
          </a:p>
        </p:txBody>
      </p:sp>
      <p:sp>
        <p:nvSpPr>
          <p:cNvPr id="29" name="TextBox 28"/>
          <p:cNvSpPr txBox="1"/>
          <p:nvPr/>
        </p:nvSpPr>
        <p:spPr>
          <a:xfrm>
            <a:off x="1828800" y="4599432"/>
            <a:ext cx="1371600" cy="365760"/>
          </a:xfrm>
          <a:prstGeom prst="rect">
            <a:avLst/>
          </a:prstGeom>
          <a:noFill/>
        </p:spPr>
        <p:txBody>
          <a:bodyPr wrap="square" lIns="0" rIns="0" tIns="0" bIns="0" anchor="t">
            <a:spAutoFit/>
          </a:bodyPr>
          <a:lstStyle/>
          <a:p>
            <a:pPr algn="l">
              <a:lnSpc>
                <a:spcPct val="100000"/>
              </a:lnSpc>
            </a:pPr>
            <a:r>
              <a:rPr sz="850" b="0" i="0">
                <a:solidFill>
                  <a:srgbClr val="64748B"/>
                </a:solidFill>
                <a:latin typeface="微软雅黑"/>
                <a:ea typeface="微软雅黑"/>
              </a:rPr>
              <a:t>文本 → 类型·位置·紧急度</a:t>
            </a:r>
          </a:p>
        </p:txBody>
      </p:sp>
      <p:sp>
        <p:nvSpPr>
          <p:cNvPr id="30" name="Rounded Rectangle 29"/>
          <p:cNvSpPr/>
          <p:nvPr/>
        </p:nvSpPr>
        <p:spPr>
          <a:xfrm>
            <a:off x="3419856" y="4261104"/>
            <a:ext cx="2615184" cy="841248"/>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419856" y="4261104"/>
            <a:ext cx="2615184" cy="457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a:off x="3300984" y="4681728"/>
            <a:ext cx="100584"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547872" y="4407408"/>
            <a:ext cx="914400" cy="182880"/>
          </a:xfrm>
          <a:prstGeom prst="rect">
            <a:avLst/>
          </a:prstGeom>
          <a:noFill/>
        </p:spPr>
        <p:txBody>
          <a:bodyPr wrap="square" lIns="0" rIns="0" tIns="0" bIns="0" anchor="t">
            <a:spAutoFit/>
          </a:bodyPr>
          <a:lstStyle/>
          <a:p>
            <a:pPr algn="l">
              <a:lnSpc>
                <a:spcPct val="112000"/>
              </a:lnSpc>
            </a:pPr>
            <a:r>
              <a:rPr sz="850" b="1" i="0">
                <a:solidFill>
                  <a:srgbClr val="06B6D4"/>
                </a:solidFill>
                <a:latin typeface="微软雅黑"/>
                <a:ea typeface="微软雅黑"/>
              </a:rPr>
              <a:t>Agent 2</a:t>
            </a:r>
          </a:p>
        </p:txBody>
      </p:sp>
      <p:sp>
        <p:nvSpPr>
          <p:cNvPr id="34" name="TextBox 33"/>
          <p:cNvSpPr txBox="1"/>
          <p:nvPr/>
        </p:nvSpPr>
        <p:spPr>
          <a:xfrm>
            <a:off x="3547872" y="4590288"/>
            <a:ext cx="1280160" cy="237744"/>
          </a:xfrm>
          <a:prstGeom prst="rect">
            <a:avLst/>
          </a:prstGeom>
          <a:noFill/>
        </p:spPr>
        <p:txBody>
          <a:bodyPr wrap="square" lIns="0" rIns="0" tIns="0" bIns="0" anchor="t">
            <a:spAutoFit/>
          </a:bodyPr>
          <a:lstStyle/>
          <a:p>
            <a:pPr algn="l">
              <a:lnSpc>
                <a:spcPct val="112000"/>
              </a:lnSpc>
            </a:pPr>
            <a:r>
              <a:rPr sz="1250" b="1" i="0">
                <a:solidFill>
                  <a:srgbClr val="0B1F3A"/>
                </a:solidFill>
                <a:latin typeface="微软雅黑"/>
                <a:ea typeface="微软雅黑"/>
              </a:rPr>
              <a:t>派单决策</a:t>
            </a:r>
          </a:p>
        </p:txBody>
      </p:sp>
      <p:sp>
        <p:nvSpPr>
          <p:cNvPr id="35" name="TextBox 34"/>
          <p:cNvSpPr txBox="1"/>
          <p:nvPr/>
        </p:nvSpPr>
        <p:spPr>
          <a:xfrm>
            <a:off x="4562856" y="4599432"/>
            <a:ext cx="1371600" cy="365760"/>
          </a:xfrm>
          <a:prstGeom prst="rect">
            <a:avLst/>
          </a:prstGeom>
          <a:noFill/>
        </p:spPr>
        <p:txBody>
          <a:bodyPr wrap="square" lIns="0" rIns="0" tIns="0" bIns="0" anchor="t">
            <a:spAutoFit/>
          </a:bodyPr>
          <a:lstStyle/>
          <a:p>
            <a:pPr algn="l">
              <a:lnSpc>
                <a:spcPct val="100000"/>
              </a:lnSpc>
            </a:pPr>
            <a:r>
              <a:rPr sz="850" b="0" i="0">
                <a:solidFill>
                  <a:srgbClr val="64748B"/>
                </a:solidFill>
                <a:latin typeface="微软雅黑"/>
                <a:ea typeface="微软雅黑"/>
              </a:rPr>
              <a:t>评分 → 责任人·SLA</a:t>
            </a:r>
          </a:p>
        </p:txBody>
      </p:sp>
      <p:sp>
        <p:nvSpPr>
          <p:cNvPr id="36" name="Rounded Rectangle 35"/>
          <p:cNvSpPr/>
          <p:nvPr/>
        </p:nvSpPr>
        <p:spPr>
          <a:xfrm>
            <a:off x="6153912" y="4261104"/>
            <a:ext cx="2615184" cy="841248"/>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6153912" y="4261104"/>
            <a:ext cx="2615184" cy="457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8" name="Connector 37"/>
          <p:cNvCxnSpPr/>
          <p:nvPr/>
        </p:nvCxnSpPr>
        <p:spPr>
          <a:xfrm>
            <a:off x="6035040" y="4681728"/>
            <a:ext cx="100584"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281928" y="4407408"/>
            <a:ext cx="914400" cy="182880"/>
          </a:xfrm>
          <a:prstGeom prst="rect">
            <a:avLst/>
          </a:prstGeom>
          <a:noFill/>
        </p:spPr>
        <p:txBody>
          <a:bodyPr wrap="square" lIns="0" rIns="0" tIns="0" bIns="0" anchor="t">
            <a:spAutoFit/>
          </a:bodyPr>
          <a:lstStyle/>
          <a:p>
            <a:pPr algn="l">
              <a:lnSpc>
                <a:spcPct val="112000"/>
              </a:lnSpc>
            </a:pPr>
            <a:r>
              <a:rPr sz="850" b="1" i="0">
                <a:solidFill>
                  <a:srgbClr val="F59E0B"/>
                </a:solidFill>
                <a:latin typeface="微软雅黑"/>
                <a:ea typeface="微软雅黑"/>
              </a:rPr>
              <a:t>Agent 3</a:t>
            </a:r>
          </a:p>
        </p:txBody>
      </p:sp>
      <p:sp>
        <p:nvSpPr>
          <p:cNvPr id="40" name="TextBox 39"/>
          <p:cNvSpPr txBox="1"/>
          <p:nvPr/>
        </p:nvSpPr>
        <p:spPr>
          <a:xfrm>
            <a:off x="6281928" y="4590288"/>
            <a:ext cx="1280160" cy="237744"/>
          </a:xfrm>
          <a:prstGeom prst="rect">
            <a:avLst/>
          </a:prstGeom>
          <a:noFill/>
        </p:spPr>
        <p:txBody>
          <a:bodyPr wrap="square" lIns="0" rIns="0" tIns="0" bIns="0" anchor="t">
            <a:spAutoFit/>
          </a:bodyPr>
          <a:lstStyle/>
          <a:p>
            <a:pPr algn="l">
              <a:lnSpc>
                <a:spcPct val="112000"/>
              </a:lnSpc>
            </a:pPr>
            <a:r>
              <a:rPr sz="1250" b="1" i="0">
                <a:solidFill>
                  <a:srgbClr val="0B1F3A"/>
                </a:solidFill>
                <a:latin typeface="微软雅黑"/>
                <a:ea typeface="微软雅黑"/>
              </a:rPr>
              <a:t>过程监控</a:t>
            </a:r>
          </a:p>
        </p:txBody>
      </p:sp>
      <p:sp>
        <p:nvSpPr>
          <p:cNvPr id="41" name="TextBox 40"/>
          <p:cNvSpPr txBox="1"/>
          <p:nvPr/>
        </p:nvSpPr>
        <p:spPr>
          <a:xfrm>
            <a:off x="7296912" y="4599432"/>
            <a:ext cx="1371600" cy="365760"/>
          </a:xfrm>
          <a:prstGeom prst="rect">
            <a:avLst/>
          </a:prstGeom>
          <a:noFill/>
        </p:spPr>
        <p:txBody>
          <a:bodyPr wrap="square" lIns="0" rIns="0" tIns="0" bIns="0" anchor="t">
            <a:spAutoFit/>
          </a:bodyPr>
          <a:lstStyle/>
          <a:p>
            <a:pPr algn="l">
              <a:lnSpc>
                <a:spcPct val="100000"/>
              </a:lnSpc>
            </a:pPr>
            <a:r>
              <a:rPr sz="850" b="0" i="0">
                <a:solidFill>
                  <a:srgbClr val="64748B"/>
                </a:solidFill>
                <a:latin typeface="微软雅黑"/>
                <a:ea typeface="微软雅黑"/>
              </a:rPr>
              <a:t>巡检 → 预警·升级</a:t>
            </a:r>
          </a:p>
        </p:txBody>
      </p:sp>
      <p:sp>
        <p:nvSpPr>
          <p:cNvPr id="42" name="Rounded Rectangle 41"/>
          <p:cNvSpPr/>
          <p:nvPr/>
        </p:nvSpPr>
        <p:spPr>
          <a:xfrm>
            <a:off x="8887968" y="4261104"/>
            <a:ext cx="2615184" cy="841248"/>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8887968" y="4261104"/>
            <a:ext cx="2615184"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4" name="Connector 43"/>
          <p:cNvCxnSpPr/>
          <p:nvPr/>
        </p:nvCxnSpPr>
        <p:spPr>
          <a:xfrm>
            <a:off x="8769096" y="4681728"/>
            <a:ext cx="100584" cy="0"/>
          </a:xfrm>
          <a:prstGeom prst="line">
            <a:avLst/>
          </a:prstGeom>
          <a:ln w="1270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015984" y="4407408"/>
            <a:ext cx="914400" cy="182880"/>
          </a:xfrm>
          <a:prstGeom prst="rect">
            <a:avLst/>
          </a:prstGeom>
          <a:noFill/>
        </p:spPr>
        <p:txBody>
          <a:bodyPr wrap="square" lIns="0" rIns="0" tIns="0" bIns="0" anchor="t">
            <a:spAutoFit/>
          </a:bodyPr>
          <a:lstStyle/>
          <a:p>
            <a:pPr algn="l">
              <a:lnSpc>
                <a:spcPct val="112000"/>
              </a:lnSpc>
            </a:pPr>
            <a:r>
              <a:rPr sz="850" b="1" i="0">
                <a:solidFill>
                  <a:srgbClr val="10B981"/>
                </a:solidFill>
                <a:latin typeface="微软雅黑"/>
                <a:ea typeface="微软雅黑"/>
              </a:rPr>
              <a:t>Agent 4</a:t>
            </a:r>
          </a:p>
        </p:txBody>
      </p:sp>
      <p:sp>
        <p:nvSpPr>
          <p:cNvPr id="46" name="TextBox 45"/>
          <p:cNvSpPr txBox="1"/>
          <p:nvPr/>
        </p:nvSpPr>
        <p:spPr>
          <a:xfrm>
            <a:off x="9015984" y="4590288"/>
            <a:ext cx="1280160" cy="237744"/>
          </a:xfrm>
          <a:prstGeom prst="rect">
            <a:avLst/>
          </a:prstGeom>
          <a:noFill/>
        </p:spPr>
        <p:txBody>
          <a:bodyPr wrap="square" lIns="0" rIns="0" tIns="0" bIns="0" anchor="t">
            <a:spAutoFit/>
          </a:bodyPr>
          <a:lstStyle/>
          <a:p>
            <a:pPr algn="l">
              <a:lnSpc>
                <a:spcPct val="112000"/>
              </a:lnSpc>
            </a:pPr>
            <a:r>
              <a:rPr sz="1250" b="1" i="0">
                <a:solidFill>
                  <a:srgbClr val="0B1F3A"/>
                </a:solidFill>
                <a:latin typeface="微软雅黑"/>
                <a:ea typeface="微软雅黑"/>
              </a:rPr>
              <a:t>闭环验证</a:t>
            </a:r>
          </a:p>
        </p:txBody>
      </p:sp>
      <p:sp>
        <p:nvSpPr>
          <p:cNvPr id="47" name="TextBox 46"/>
          <p:cNvSpPr txBox="1"/>
          <p:nvPr/>
        </p:nvSpPr>
        <p:spPr>
          <a:xfrm>
            <a:off x="10030968" y="4599432"/>
            <a:ext cx="1371600" cy="365760"/>
          </a:xfrm>
          <a:prstGeom prst="rect">
            <a:avLst/>
          </a:prstGeom>
          <a:noFill/>
        </p:spPr>
        <p:txBody>
          <a:bodyPr wrap="square" lIns="0" rIns="0" tIns="0" bIns="0" anchor="t">
            <a:spAutoFit/>
          </a:bodyPr>
          <a:lstStyle/>
          <a:p>
            <a:pPr algn="l">
              <a:lnSpc>
                <a:spcPct val="100000"/>
              </a:lnSpc>
            </a:pPr>
            <a:r>
              <a:rPr sz="850" b="0" i="0">
                <a:solidFill>
                  <a:srgbClr val="64748B"/>
                </a:solidFill>
                <a:latin typeface="微软雅黑"/>
                <a:ea typeface="微软雅黑"/>
              </a:rPr>
              <a:t>检查 → 闭环·退回</a:t>
            </a:r>
          </a:p>
        </p:txBody>
      </p:sp>
      <p:cxnSp>
        <p:nvCxnSpPr>
          <p:cNvPr id="48" name="Connector 47"/>
          <p:cNvCxnSpPr/>
          <p:nvPr/>
        </p:nvCxnSpPr>
        <p:spPr>
          <a:xfrm>
            <a:off x="6099048" y="3968496"/>
            <a:ext cx="0" cy="256032"/>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685800" y="5413248"/>
            <a:ext cx="5897880" cy="566928"/>
          </a:xfrm>
          <a:prstGeom prst="roundRect">
            <a:avLst>
              <a:gd name="adj" fmla="val 12000"/>
            </a:avLst>
          </a:prstGeom>
          <a:solidFill>
            <a:srgbClr val="F1F5F9"/>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68680" y="5541264"/>
            <a:ext cx="822960" cy="228600"/>
          </a:xfrm>
          <a:prstGeom prst="rect">
            <a:avLst/>
          </a:prstGeom>
          <a:noFill/>
        </p:spPr>
        <p:txBody>
          <a:bodyPr wrap="square" lIns="0" rIns="0" tIns="0" bIns="0" anchor="t">
            <a:spAutoFit/>
          </a:bodyPr>
          <a:lstStyle/>
          <a:p>
            <a:pPr algn="l">
              <a:lnSpc>
                <a:spcPct val="112000"/>
              </a:lnSpc>
            </a:pPr>
            <a:r>
              <a:rPr sz="1050" b="1" i="0">
                <a:solidFill>
                  <a:srgbClr val="2563EB"/>
                </a:solidFill>
                <a:latin typeface="微软雅黑"/>
                <a:ea typeface="微软雅黑"/>
              </a:rPr>
              <a:t>数据层</a:t>
            </a:r>
          </a:p>
        </p:txBody>
      </p:sp>
      <p:sp>
        <p:nvSpPr>
          <p:cNvPr id="51" name="TextBox 50"/>
          <p:cNvSpPr txBox="1"/>
          <p:nvPr/>
        </p:nvSpPr>
        <p:spPr>
          <a:xfrm>
            <a:off x="1600200" y="5522976"/>
            <a:ext cx="4800600" cy="274320"/>
          </a:xfrm>
          <a:prstGeom prst="rect">
            <a:avLst/>
          </a:prstGeom>
          <a:noFill/>
        </p:spPr>
        <p:txBody>
          <a:bodyPr wrap="square" lIns="0" rIns="0" tIns="0" bIns="0" anchor="t">
            <a:spAutoFit/>
          </a:bodyPr>
          <a:lstStyle/>
          <a:p>
            <a:pPr algn="l">
              <a:lnSpc>
                <a:spcPct val="112000"/>
              </a:lnSpc>
            </a:pPr>
            <a:r>
              <a:rPr sz="1050" b="0" i="0">
                <a:solidFill>
                  <a:srgbClr val="0B1F3A"/>
                </a:solidFill>
                <a:latin typeface="微软雅黑"/>
                <a:ea typeface="微软雅黑"/>
              </a:rPr>
              <a:t>SQLite（WAL）：tickets / events / logs / warnings</a:t>
            </a:r>
          </a:p>
        </p:txBody>
      </p:sp>
      <p:sp>
        <p:nvSpPr>
          <p:cNvPr id="52" name="Rounded Rectangle 51"/>
          <p:cNvSpPr/>
          <p:nvPr/>
        </p:nvSpPr>
        <p:spPr>
          <a:xfrm>
            <a:off x="6766560" y="5413248"/>
            <a:ext cx="4754880" cy="566928"/>
          </a:xfrm>
          <a:prstGeom prst="roundRect">
            <a:avLst>
              <a:gd name="adj" fmla="val 12000"/>
            </a:avLst>
          </a:prstGeom>
          <a:solidFill>
            <a:srgbClr val="ECFEFF"/>
          </a:solidFill>
          <a:ln w="10160">
            <a:solidFill>
              <a:srgbClr val="A5F3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949440" y="5541264"/>
            <a:ext cx="822960" cy="228600"/>
          </a:xfrm>
          <a:prstGeom prst="rect">
            <a:avLst/>
          </a:prstGeom>
          <a:noFill/>
        </p:spPr>
        <p:txBody>
          <a:bodyPr wrap="square" lIns="0" rIns="0" tIns="0" bIns="0" anchor="t">
            <a:spAutoFit/>
          </a:bodyPr>
          <a:lstStyle/>
          <a:p>
            <a:pPr algn="l">
              <a:lnSpc>
                <a:spcPct val="112000"/>
              </a:lnSpc>
            </a:pPr>
            <a:r>
              <a:rPr sz="1050" b="1" i="0">
                <a:solidFill>
                  <a:srgbClr val="0891B2"/>
                </a:solidFill>
                <a:latin typeface="微软雅黑"/>
                <a:ea typeface="微软雅黑"/>
              </a:rPr>
              <a:t>离线反哺</a:t>
            </a:r>
          </a:p>
        </p:txBody>
      </p:sp>
      <p:sp>
        <p:nvSpPr>
          <p:cNvPr id="54" name="TextBox 53"/>
          <p:cNvSpPr txBox="1"/>
          <p:nvPr/>
        </p:nvSpPr>
        <p:spPr>
          <a:xfrm>
            <a:off x="7772400" y="5522976"/>
            <a:ext cx="3566160" cy="274320"/>
          </a:xfrm>
          <a:prstGeom prst="rect">
            <a:avLst/>
          </a:prstGeom>
          <a:noFill/>
        </p:spPr>
        <p:txBody>
          <a:bodyPr wrap="square" lIns="0" rIns="0" tIns="0" bIns="0" anchor="t">
            <a:spAutoFit/>
          </a:bodyPr>
          <a:lstStyle/>
          <a:p>
            <a:pPr algn="l">
              <a:lnSpc>
                <a:spcPct val="112000"/>
              </a:lnSpc>
            </a:pPr>
            <a:r>
              <a:rPr sz="1050" b="0" i="0">
                <a:solidFill>
                  <a:srgbClr val="0B1F3A"/>
                </a:solidFill>
                <a:latin typeface="微软雅黑"/>
                <a:ea typeface="微软雅黑"/>
              </a:rPr>
              <a:t>Pandas：3000 单 → dispatch_priors.json</a:t>
            </a:r>
          </a:p>
        </p:txBody>
      </p:sp>
      <p:cxnSp>
        <p:nvCxnSpPr>
          <p:cNvPr id="55" name="Connector 54"/>
          <p:cNvCxnSpPr/>
          <p:nvPr/>
        </p:nvCxnSpPr>
        <p:spPr>
          <a:xfrm>
            <a:off x="6099048" y="5102352"/>
            <a:ext cx="0" cy="292608"/>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58" name="TextBox 57"/>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05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03 / Agent 设计（1/2）</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理解与派单：把一句话变成一张派工单</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Agent 1 负责结构化，Agent 2 负责把结构化结果匹配到人</a:t>
            </a:r>
          </a:p>
        </p:txBody>
      </p:sp>
      <p:sp>
        <p:nvSpPr>
          <p:cNvPr id="7" name="Rounded Rectangle 6"/>
          <p:cNvSpPr/>
          <p:nvPr/>
        </p:nvSpPr>
        <p:spPr>
          <a:xfrm>
            <a:off x="685800" y="1481328"/>
            <a:ext cx="5349240" cy="466344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1481328"/>
            <a:ext cx="5349240"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6" y="1572768"/>
            <a:ext cx="1463040" cy="182880"/>
          </a:xfrm>
          <a:prstGeom prst="rect">
            <a:avLst/>
          </a:prstGeom>
          <a:noFill/>
        </p:spPr>
        <p:txBody>
          <a:bodyPr wrap="square" lIns="0" rIns="0" tIns="0" bIns="0" anchor="t">
            <a:spAutoFit/>
          </a:bodyPr>
          <a:lstStyle/>
          <a:p>
            <a:pPr algn="l">
              <a:lnSpc>
                <a:spcPct val="112000"/>
              </a:lnSpc>
            </a:pPr>
            <a:r>
              <a:rPr sz="950" b="1" i="0">
                <a:solidFill>
                  <a:srgbClr val="FFFFFF"/>
                </a:solidFill>
                <a:latin typeface="微软雅黑"/>
                <a:ea typeface="微软雅黑"/>
              </a:rPr>
              <a:t>AGENT 01</a:t>
            </a:r>
          </a:p>
        </p:txBody>
      </p:sp>
      <p:sp>
        <p:nvSpPr>
          <p:cNvPr id="10" name="TextBox 9"/>
          <p:cNvSpPr txBox="1"/>
          <p:nvPr/>
        </p:nvSpPr>
        <p:spPr>
          <a:xfrm>
            <a:off x="905256" y="1737360"/>
            <a:ext cx="4206240" cy="274320"/>
          </a:xfrm>
          <a:prstGeom prst="rect">
            <a:avLst/>
          </a:prstGeom>
          <a:noFill/>
        </p:spPr>
        <p:txBody>
          <a:bodyPr wrap="square" lIns="0" rIns="0" tIns="0" bIns="0" anchor="t">
            <a:spAutoFit/>
          </a:bodyPr>
          <a:lstStyle/>
          <a:p>
            <a:pPr algn="l">
              <a:lnSpc>
                <a:spcPct val="112000"/>
              </a:lnSpc>
            </a:pPr>
            <a:r>
              <a:rPr sz="1800" b="1" i="0">
                <a:solidFill>
                  <a:srgbClr val="FFFFFF"/>
                </a:solidFill>
                <a:latin typeface="微软雅黑"/>
                <a:ea typeface="微软雅黑"/>
              </a:rPr>
              <a:t>报修理解 Agent</a:t>
            </a:r>
          </a:p>
        </p:txBody>
      </p:sp>
      <p:sp>
        <p:nvSpPr>
          <p:cNvPr id="11" name="TextBox 10"/>
          <p:cNvSpPr txBox="1"/>
          <p:nvPr/>
        </p:nvSpPr>
        <p:spPr>
          <a:xfrm>
            <a:off x="923544" y="2231136"/>
            <a:ext cx="4873752" cy="3749039"/>
          </a:xfrm>
          <a:prstGeom prst="rect">
            <a:avLst/>
          </a:prstGeom>
          <a:noFill/>
        </p:spPr>
        <p:txBody>
          <a:bodyPr wrap="square" lIns="0" rIns="0" tIns="0" bIns="0">
            <a:spAutoFit/>
          </a:bodyPr>
          <a:lstStyle/>
          <a:p>
            <a:pPr marL="201168" indent="-201168">
              <a:lnSpc>
                <a:spcPct val="118000"/>
              </a:lnSpc>
              <a:spcAft>
                <a:spcPts val="700"/>
              </a:spcAft>
            </a:pPr>
            <a:r>
              <a:rPr sz="1600" b="1" i="0">
                <a:solidFill>
                  <a:srgbClr val="2563EB"/>
                </a:solidFill>
                <a:latin typeface="微软雅黑"/>
                <a:ea typeface="微软雅黑"/>
              </a:rPr>
              <a:t>•  </a:t>
            </a:r>
            <a:r>
              <a:rPr sz="1450" b="1" i="0">
                <a:solidFill>
                  <a:srgbClr val="2563EB"/>
                </a:solidFill>
                <a:latin typeface="微软雅黑"/>
                <a:ea typeface="微软雅黑"/>
              </a:rPr>
              <a:t>职责：</a:t>
            </a:r>
            <a:r>
              <a:rPr sz="1450" b="0" i="0">
                <a:solidFill>
                  <a:srgbClr val="0B1F3A"/>
                </a:solidFill>
                <a:latin typeface="微软雅黑"/>
                <a:ea typeface="微软雅黑"/>
              </a:rPr>
              <a:t>口语报修 → 结构化字段</a:t>
            </a:r>
          </a:p>
          <a:p>
            <a:pPr marL="201168" indent="-201168">
              <a:lnSpc>
                <a:spcPct val="118000"/>
              </a:lnSpc>
              <a:spcAft>
                <a:spcPts val="700"/>
              </a:spcAft>
            </a:pPr>
            <a:r>
              <a:rPr sz="1600" b="1" i="0">
                <a:solidFill>
                  <a:srgbClr val="2563EB"/>
                </a:solidFill>
                <a:latin typeface="微软雅黑"/>
                <a:ea typeface="微软雅黑"/>
              </a:rPr>
              <a:t>•  </a:t>
            </a:r>
            <a:r>
              <a:rPr sz="1450" b="1" i="0">
                <a:solidFill>
                  <a:srgbClr val="2563EB"/>
                </a:solidFill>
                <a:latin typeface="微软雅黑"/>
                <a:ea typeface="微软雅黑"/>
              </a:rPr>
              <a:t>输入：</a:t>
            </a:r>
            <a:r>
              <a:rPr sz="1450" b="0" i="0">
                <a:solidFill>
                  <a:srgbClr val="0B1F3A"/>
                </a:solidFill>
                <a:latin typeface="微软雅黑"/>
                <a:ea typeface="微软雅黑"/>
              </a:rPr>
              <a:t>描述文本 + 楼栋 / 单元 / 房号</a:t>
            </a:r>
          </a:p>
          <a:p>
            <a:pPr marL="201168" indent="-201168">
              <a:lnSpc>
                <a:spcPct val="118000"/>
              </a:lnSpc>
              <a:spcAft>
                <a:spcPts val="700"/>
              </a:spcAft>
            </a:pPr>
            <a:r>
              <a:rPr sz="1600" b="1" i="0">
                <a:solidFill>
                  <a:srgbClr val="2563EB"/>
                </a:solidFill>
                <a:latin typeface="微软雅黑"/>
                <a:ea typeface="微软雅黑"/>
              </a:rPr>
              <a:t>•  </a:t>
            </a:r>
            <a:r>
              <a:rPr sz="1450" b="1" i="0">
                <a:solidFill>
                  <a:srgbClr val="2563EB"/>
                </a:solidFill>
                <a:latin typeface="微软雅黑"/>
                <a:ea typeface="微软雅黑"/>
              </a:rPr>
              <a:t>输出：</a:t>
            </a:r>
            <a:r>
              <a:rPr sz="1450" b="0" i="0">
                <a:solidFill>
                  <a:srgbClr val="0B1F3A"/>
                </a:solidFill>
                <a:latin typeface="微软雅黑"/>
                <a:ea typeface="微软雅黑"/>
              </a:rPr>
              <a:t>类型 / 设施 / 位置 / 紧急度 / SLA</a:t>
            </a:r>
          </a:p>
          <a:p>
            <a:pPr marL="201168" indent="-201168">
              <a:lnSpc>
                <a:spcPct val="118000"/>
              </a:lnSpc>
              <a:spcAft>
                <a:spcPts val="700"/>
              </a:spcAft>
            </a:pPr>
            <a:r>
              <a:rPr sz="1600" b="1" i="0">
                <a:solidFill>
                  <a:srgbClr val="2563EB"/>
                </a:solidFill>
                <a:latin typeface="微软雅黑"/>
                <a:ea typeface="微软雅黑"/>
              </a:rPr>
              <a:t>•  </a:t>
            </a:r>
            <a:r>
              <a:rPr sz="1450" b="1" i="0">
                <a:solidFill>
                  <a:srgbClr val="2563EB"/>
                </a:solidFill>
                <a:latin typeface="微软雅黑"/>
                <a:ea typeface="微软雅黑"/>
              </a:rPr>
              <a:t>技术：</a:t>
            </a:r>
            <a:r>
              <a:rPr sz="1450" b="0" i="0">
                <a:solidFill>
                  <a:srgbClr val="0B1F3A"/>
                </a:solidFill>
                <a:latin typeface="微软雅黑"/>
                <a:ea typeface="微软雅黑"/>
              </a:rPr>
              <a:t>正则 + 关键词加权 + 上下文门控</a:t>
            </a:r>
          </a:p>
          <a:p>
            <a:pPr marL="201168" indent="-201168">
              <a:lnSpc>
                <a:spcPct val="118000"/>
              </a:lnSpc>
              <a:spcAft>
                <a:spcPts val="700"/>
              </a:spcAft>
            </a:pPr>
            <a:r>
              <a:rPr sz="1600" b="1" i="0">
                <a:solidFill>
                  <a:srgbClr val="2563EB"/>
                </a:solidFill>
                <a:latin typeface="微软雅黑"/>
                <a:ea typeface="微软雅黑"/>
              </a:rPr>
              <a:t>•  </a:t>
            </a:r>
            <a:r>
              <a:rPr sz="1450" b="1" i="0">
                <a:solidFill>
                  <a:srgbClr val="2563EB"/>
                </a:solidFill>
                <a:latin typeface="微软雅黑"/>
                <a:ea typeface="微软雅黑"/>
              </a:rPr>
              <a:t>安全：</a:t>
            </a:r>
            <a:r>
              <a:rPr sz="1450" b="0" i="0">
                <a:solidFill>
                  <a:srgbClr val="0B1F3A"/>
                </a:solidFill>
                <a:latin typeface="微软雅黑"/>
                <a:ea typeface="微软雅黑"/>
              </a:rPr>
              <a:t>被困 / 燃气 / 火情强制升级</a:t>
            </a:r>
          </a:p>
          <a:p>
            <a:pPr marL="201168" indent="-201168">
              <a:lnSpc>
                <a:spcPct val="118000"/>
              </a:lnSpc>
              <a:spcAft>
                <a:spcPts val="700"/>
              </a:spcAft>
            </a:pPr>
            <a:r>
              <a:rPr sz="1600" b="1" i="0">
                <a:solidFill>
                  <a:srgbClr val="2563EB"/>
                </a:solidFill>
                <a:latin typeface="微软雅黑"/>
                <a:ea typeface="微软雅黑"/>
              </a:rPr>
              <a:t>•  </a:t>
            </a:r>
            <a:r>
              <a:rPr sz="1450" b="1" i="0">
                <a:solidFill>
                  <a:srgbClr val="2563EB"/>
                </a:solidFill>
                <a:latin typeface="微软雅黑"/>
                <a:ea typeface="微软雅黑"/>
              </a:rPr>
              <a:t>示例：</a:t>
            </a:r>
            <a:r>
              <a:rPr sz="1450" b="0" i="0">
                <a:solidFill>
                  <a:srgbClr val="0B1F3A"/>
                </a:solidFill>
                <a:latin typeface="微软雅黑"/>
                <a:ea typeface="微软雅黑"/>
              </a:rPr>
              <a:t>“电梯门关不上，有人被困” → 电梯困人</a:t>
            </a:r>
          </a:p>
        </p:txBody>
      </p:sp>
      <p:sp>
        <p:nvSpPr>
          <p:cNvPr id="12" name="Rounded Rectangle 11"/>
          <p:cNvSpPr/>
          <p:nvPr/>
        </p:nvSpPr>
        <p:spPr>
          <a:xfrm>
            <a:off x="914400" y="5074920"/>
            <a:ext cx="4892040" cy="804672"/>
          </a:xfrm>
          <a:prstGeom prst="roundRect">
            <a:avLst>
              <a:gd name="adj" fmla="val 10000"/>
            </a:avLst>
          </a:prstGeom>
          <a:solidFill>
            <a:srgbClr val="F8FAFC"/>
          </a:solidFill>
          <a:ln w="1016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8992" y="5175504"/>
            <a:ext cx="914400" cy="182880"/>
          </a:xfrm>
          <a:prstGeom prst="rect">
            <a:avLst/>
          </a:prstGeom>
          <a:noFill/>
        </p:spPr>
        <p:txBody>
          <a:bodyPr wrap="square" lIns="0" rIns="0" tIns="0" bIns="0" anchor="t">
            <a:spAutoFit/>
          </a:bodyPr>
          <a:lstStyle/>
          <a:p>
            <a:pPr algn="l">
              <a:lnSpc>
                <a:spcPct val="112000"/>
              </a:lnSpc>
            </a:pPr>
            <a:r>
              <a:rPr sz="950" b="1" i="0">
                <a:solidFill>
                  <a:srgbClr val="64748B"/>
                </a:solidFill>
                <a:latin typeface="微软雅黑"/>
                <a:ea typeface="微软雅黑"/>
              </a:rPr>
              <a:t>输出示例</a:t>
            </a:r>
          </a:p>
        </p:txBody>
      </p:sp>
      <p:sp>
        <p:nvSpPr>
          <p:cNvPr id="14" name="TextBox 13"/>
          <p:cNvSpPr txBox="1"/>
          <p:nvPr/>
        </p:nvSpPr>
        <p:spPr>
          <a:xfrm>
            <a:off x="1078992" y="5413248"/>
            <a:ext cx="4572000" cy="320040"/>
          </a:xfrm>
          <a:prstGeom prst="rect">
            <a:avLst/>
          </a:prstGeom>
          <a:noFill/>
        </p:spPr>
        <p:txBody>
          <a:bodyPr wrap="square" lIns="0" rIns="0" tIns="0" bIns="0" anchor="t">
            <a:spAutoFit/>
          </a:bodyPr>
          <a:lstStyle/>
          <a:p>
            <a:pPr algn="l">
              <a:lnSpc>
                <a:spcPct val="112000"/>
              </a:lnSpc>
            </a:pPr>
            <a:r>
              <a:rPr sz="1200" b="1" i="0">
                <a:solidFill>
                  <a:srgbClr val="2563EB"/>
                </a:solidFill>
                <a:latin typeface="微软雅黑"/>
                <a:ea typeface="微软雅黑"/>
              </a:rPr>
              <a:t>电梯困人</a:t>
            </a:r>
            <a:r>
              <a:rPr sz="1200" b="1" i="0">
                <a:solidFill>
                  <a:srgbClr val="EF4444"/>
                </a:solidFill>
                <a:latin typeface="微软雅黑"/>
                <a:ea typeface="微软雅黑"/>
              </a:rPr>
              <a:t>　紧急　</a:t>
            </a:r>
            <a:r>
              <a:rPr sz="1200" b="1" i="0">
                <a:solidFill>
                  <a:srgbClr val="F59E0B"/>
                </a:solidFill>
                <a:latin typeface="微软雅黑"/>
                <a:ea typeface="微软雅黑"/>
              </a:rPr>
              <a:t>30 分钟　</a:t>
            </a:r>
            <a:r>
              <a:rPr sz="1200" b="0" i="0">
                <a:solidFill>
                  <a:srgbClr val="0B1F3A"/>
                </a:solidFill>
                <a:latin typeface="微软雅黑"/>
                <a:ea typeface="微软雅黑"/>
              </a:rPr>
              <a:t>张伟 · 电梯维保</a:t>
            </a:r>
            <a:r>
              <a:rPr sz="1100" b="0" i="0">
                <a:solidFill>
                  <a:srgbClr val="64748B"/>
                </a:solidFill>
                <a:latin typeface="微软雅黑"/>
                <a:ea typeface="微软雅黑"/>
              </a:rPr>
              <a:t>　置信度 0.92</a:t>
            </a:r>
          </a:p>
        </p:txBody>
      </p:sp>
      <p:sp>
        <p:nvSpPr>
          <p:cNvPr id="15" name="Rounded Rectangle 14"/>
          <p:cNvSpPr/>
          <p:nvPr/>
        </p:nvSpPr>
        <p:spPr>
          <a:xfrm>
            <a:off x="6355080" y="1481328"/>
            <a:ext cx="5166360" cy="466344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355080" y="1481328"/>
            <a:ext cx="5166360" cy="5669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74536" y="1572768"/>
            <a:ext cx="1463040" cy="182880"/>
          </a:xfrm>
          <a:prstGeom prst="rect">
            <a:avLst/>
          </a:prstGeom>
          <a:noFill/>
        </p:spPr>
        <p:txBody>
          <a:bodyPr wrap="square" lIns="0" rIns="0" tIns="0" bIns="0" anchor="t">
            <a:spAutoFit/>
          </a:bodyPr>
          <a:lstStyle/>
          <a:p>
            <a:pPr algn="l">
              <a:lnSpc>
                <a:spcPct val="112000"/>
              </a:lnSpc>
            </a:pPr>
            <a:r>
              <a:rPr sz="950" b="1" i="0">
                <a:solidFill>
                  <a:srgbClr val="FFFFFF"/>
                </a:solidFill>
                <a:latin typeface="微软雅黑"/>
                <a:ea typeface="微软雅黑"/>
              </a:rPr>
              <a:t>AGENT 02</a:t>
            </a:r>
          </a:p>
        </p:txBody>
      </p:sp>
      <p:sp>
        <p:nvSpPr>
          <p:cNvPr id="18" name="TextBox 17"/>
          <p:cNvSpPr txBox="1"/>
          <p:nvPr/>
        </p:nvSpPr>
        <p:spPr>
          <a:xfrm>
            <a:off x="6574536" y="1737360"/>
            <a:ext cx="4206240" cy="274320"/>
          </a:xfrm>
          <a:prstGeom prst="rect">
            <a:avLst/>
          </a:prstGeom>
          <a:noFill/>
        </p:spPr>
        <p:txBody>
          <a:bodyPr wrap="square" lIns="0" rIns="0" tIns="0" bIns="0" anchor="t">
            <a:spAutoFit/>
          </a:bodyPr>
          <a:lstStyle/>
          <a:p>
            <a:pPr algn="l">
              <a:lnSpc>
                <a:spcPct val="112000"/>
              </a:lnSpc>
            </a:pPr>
            <a:r>
              <a:rPr sz="1800" b="1" i="0">
                <a:solidFill>
                  <a:srgbClr val="FFFFFF"/>
                </a:solidFill>
                <a:latin typeface="微软雅黑"/>
                <a:ea typeface="微软雅黑"/>
              </a:rPr>
              <a:t>派单决策 Agent</a:t>
            </a:r>
          </a:p>
        </p:txBody>
      </p:sp>
      <p:sp>
        <p:nvSpPr>
          <p:cNvPr id="19" name="TextBox 18"/>
          <p:cNvSpPr txBox="1"/>
          <p:nvPr/>
        </p:nvSpPr>
        <p:spPr>
          <a:xfrm>
            <a:off x="6592824" y="2231136"/>
            <a:ext cx="4690872" cy="3749039"/>
          </a:xfrm>
          <a:prstGeom prst="rect">
            <a:avLst/>
          </a:prstGeom>
          <a:noFill/>
        </p:spPr>
        <p:txBody>
          <a:bodyPr wrap="square" lIns="0" rIns="0" tIns="0" bIns="0">
            <a:spAutoFit/>
          </a:bodyPr>
          <a:lstStyle/>
          <a:p>
            <a:pPr marL="201168" indent="-201168">
              <a:lnSpc>
                <a:spcPct val="118000"/>
              </a:lnSpc>
              <a:spcAft>
                <a:spcPts val="700"/>
              </a:spcAft>
            </a:pPr>
            <a:r>
              <a:rPr sz="1600" b="1" i="0">
                <a:solidFill>
                  <a:srgbClr val="06B6D4"/>
                </a:solidFill>
                <a:latin typeface="微软雅黑"/>
                <a:ea typeface="微软雅黑"/>
              </a:rPr>
              <a:t>•  </a:t>
            </a:r>
            <a:r>
              <a:rPr sz="1450" b="1" i="0">
                <a:solidFill>
                  <a:srgbClr val="0891B2"/>
                </a:solidFill>
                <a:latin typeface="微软雅黑"/>
                <a:ea typeface="微软雅黑"/>
              </a:rPr>
              <a:t>职责：</a:t>
            </a:r>
            <a:r>
              <a:rPr sz="1450" b="0" i="0">
                <a:solidFill>
                  <a:srgbClr val="0B1F3A"/>
                </a:solidFill>
                <a:latin typeface="微软雅黑"/>
                <a:ea typeface="微软雅黑"/>
              </a:rPr>
              <a:t>为工单选择责任人与完成时限</a:t>
            </a:r>
          </a:p>
          <a:p>
            <a:pPr marL="201168" indent="-201168">
              <a:lnSpc>
                <a:spcPct val="118000"/>
              </a:lnSpc>
              <a:spcAft>
                <a:spcPts val="700"/>
              </a:spcAft>
            </a:pPr>
            <a:r>
              <a:rPr sz="1600" b="1" i="0">
                <a:solidFill>
                  <a:srgbClr val="06B6D4"/>
                </a:solidFill>
                <a:latin typeface="微软雅黑"/>
                <a:ea typeface="微软雅黑"/>
              </a:rPr>
              <a:t>•  </a:t>
            </a:r>
            <a:r>
              <a:rPr sz="1450" b="1" i="0">
                <a:solidFill>
                  <a:srgbClr val="0891B2"/>
                </a:solidFill>
                <a:latin typeface="微软雅黑"/>
                <a:ea typeface="微软雅黑"/>
              </a:rPr>
              <a:t>输入：</a:t>
            </a:r>
            <a:r>
              <a:rPr sz="1450" b="0" i="0">
                <a:solidFill>
                  <a:srgbClr val="0B1F3A"/>
                </a:solidFill>
                <a:latin typeface="微软雅黑"/>
                <a:ea typeface="微软雅黑"/>
              </a:rPr>
              <a:t>理解结果 + 在岗维修工 + 历史先验</a:t>
            </a:r>
          </a:p>
          <a:p>
            <a:pPr marL="201168" indent="-201168">
              <a:lnSpc>
                <a:spcPct val="118000"/>
              </a:lnSpc>
              <a:spcAft>
                <a:spcPts val="700"/>
              </a:spcAft>
            </a:pPr>
            <a:r>
              <a:rPr sz="1600" b="1" i="0">
                <a:solidFill>
                  <a:srgbClr val="06B6D4"/>
                </a:solidFill>
                <a:latin typeface="微软雅黑"/>
                <a:ea typeface="微软雅黑"/>
              </a:rPr>
              <a:t>•  </a:t>
            </a:r>
            <a:r>
              <a:rPr sz="1450" b="1" i="0">
                <a:solidFill>
                  <a:srgbClr val="0891B2"/>
                </a:solidFill>
                <a:latin typeface="微软雅黑"/>
                <a:ea typeface="微软雅黑"/>
              </a:rPr>
              <a:t>步骤：</a:t>
            </a:r>
            <a:r>
              <a:rPr sz="1450" b="0" i="0">
                <a:solidFill>
                  <a:srgbClr val="0B1F3A"/>
                </a:solidFill>
                <a:latin typeface="微软雅黑"/>
                <a:ea typeface="微软雅黑"/>
              </a:rPr>
              <a:t>类型 → 主工种硬过滤 → 六因子评分 → Top 5</a:t>
            </a:r>
          </a:p>
          <a:p>
            <a:pPr marL="201168" indent="-201168">
              <a:lnSpc>
                <a:spcPct val="118000"/>
              </a:lnSpc>
              <a:spcAft>
                <a:spcPts val="700"/>
              </a:spcAft>
            </a:pPr>
            <a:r>
              <a:rPr sz="1600" b="1" i="0">
                <a:solidFill>
                  <a:srgbClr val="06B6D4"/>
                </a:solidFill>
                <a:latin typeface="微软雅黑"/>
                <a:ea typeface="微软雅黑"/>
              </a:rPr>
              <a:t>•  </a:t>
            </a:r>
            <a:r>
              <a:rPr sz="1450" b="1" i="0">
                <a:solidFill>
                  <a:srgbClr val="0891B2"/>
                </a:solidFill>
                <a:latin typeface="微软雅黑"/>
                <a:ea typeface="微软雅黑"/>
              </a:rPr>
              <a:t>输出：</a:t>
            </a:r>
            <a:r>
              <a:rPr sz="1450" b="0" i="0">
                <a:solidFill>
                  <a:srgbClr val="0B1F3A"/>
                </a:solidFill>
                <a:latin typeface="微软雅黑"/>
                <a:ea typeface="微软雅黑"/>
              </a:rPr>
              <a:t>责任人 / P0–P3 / SLA 截止 / 候选得分</a:t>
            </a:r>
          </a:p>
          <a:p>
            <a:pPr marL="201168" indent="-201168">
              <a:lnSpc>
                <a:spcPct val="118000"/>
              </a:lnSpc>
              <a:spcAft>
                <a:spcPts val="700"/>
              </a:spcAft>
            </a:pPr>
            <a:r>
              <a:rPr sz="1600" b="1" i="0">
                <a:solidFill>
                  <a:srgbClr val="06B6D4"/>
                </a:solidFill>
                <a:latin typeface="微软雅黑"/>
                <a:ea typeface="微软雅黑"/>
              </a:rPr>
              <a:t>•  </a:t>
            </a:r>
            <a:r>
              <a:rPr sz="1450" b="1" i="0">
                <a:solidFill>
                  <a:srgbClr val="0891B2"/>
                </a:solidFill>
                <a:latin typeface="微软雅黑"/>
                <a:ea typeface="微软雅黑"/>
              </a:rPr>
              <a:t>先验：</a:t>
            </a:r>
            <a:r>
              <a:rPr sz="1450" b="0" i="0">
                <a:solidFill>
                  <a:srgbClr val="0B1F3A"/>
                </a:solidFill>
                <a:latin typeface="微软雅黑"/>
                <a:ea typeface="微软雅黑"/>
              </a:rPr>
              <a:t>类型时长、超时率、满意度来自历史分析</a:t>
            </a:r>
          </a:p>
        </p:txBody>
      </p:sp>
      <p:sp>
        <p:nvSpPr>
          <p:cNvPr id="20" name="Rounded Rectangle 19"/>
          <p:cNvSpPr/>
          <p:nvPr/>
        </p:nvSpPr>
        <p:spPr>
          <a:xfrm>
            <a:off x="6565392" y="4937760"/>
            <a:ext cx="4718304" cy="1024128"/>
          </a:xfrm>
          <a:prstGeom prst="roundRect">
            <a:avLst>
              <a:gd name="adj" fmla="val 10000"/>
            </a:avLst>
          </a:prstGeom>
          <a:solidFill>
            <a:srgbClr val="ECFEFF"/>
          </a:solidFill>
          <a:ln w="10160">
            <a:solidFill>
              <a:srgbClr val="A5F3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748272" y="5029200"/>
            <a:ext cx="1828800" cy="182880"/>
          </a:xfrm>
          <a:prstGeom prst="rect">
            <a:avLst/>
          </a:prstGeom>
          <a:noFill/>
        </p:spPr>
        <p:txBody>
          <a:bodyPr wrap="square" lIns="0" rIns="0" tIns="0" bIns="0" anchor="t">
            <a:spAutoFit/>
          </a:bodyPr>
          <a:lstStyle/>
          <a:p>
            <a:pPr algn="l">
              <a:lnSpc>
                <a:spcPct val="112000"/>
              </a:lnSpc>
            </a:pPr>
            <a:r>
              <a:rPr sz="950" b="1" i="0">
                <a:solidFill>
                  <a:srgbClr val="0891B2"/>
                </a:solidFill>
                <a:latin typeface="微软雅黑"/>
                <a:ea typeface="微软雅黑"/>
              </a:rPr>
              <a:t>六因子评分权重</a:t>
            </a:r>
          </a:p>
        </p:txBody>
      </p:sp>
      <p:sp>
        <p:nvSpPr>
          <p:cNvPr id="22" name="TextBox 21"/>
          <p:cNvSpPr txBox="1"/>
          <p:nvPr/>
        </p:nvSpPr>
        <p:spPr>
          <a:xfrm>
            <a:off x="6748272" y="5321808"/>
            <a:ext cx="4389120" cy="256032"/>
          </a:xfrm>
          <a:prstGeom prst="rect">
            <a:avLst/>
          </a:prstGeom>
          <a:noFill/>
        </p:spPr>
        <p:txBody>
          <a:bodyPr wrap="square" lIns="0" rIns="0" tIns="0" bIns="0" anchor="t">
            <a:spAutoFit/>
          </a:bodyPr>
          <a:lstStyle/>
          <a:p>
            <a:pPr algn="l">
              <a:lnSpc>
                <a:spcPct val="112000"/>
              </a:lnSpc>
            </a:pPr>
            <a:r>
              <a:rPr sz="1050" b="1" i="0">
                <a:solidFill>
                  <a:srgbClr val="0B1F3A"/>
                </a:solidFill>
                <a:latin typeface="微软雅黑"/>
                <a:ea typeface="微软雅黑"/>
              </a:rPr>
              <a:t>0.32 技能</a:t>
            </a:r>
            <a:r>
              <a:rPr sz="1050" b="0" i="0">
                <a:solidFill>
                  <a:srgbClr val="0B1F3A"/>
                </a:solidFill>
                <a:latin typeface="微软雅黑"/>
                <a:ea typeface="微软雅黑"/>
              </a:rPr>
              <a:t>　0.20 负载　</a:t>
            </a:r>
            <a:r>
              <a:rPr sz="1050" b="1" i="0">
                <a:solidFill>
                  <a:srgbClr val="0B1F3A"/>
                </a:solidFill>
                <a:latin typeface="微软雅黑"/>
                <a:ea typeface="微软雅黑"/>
              </a:rPr>
              <a:t>0.16 片区</a:t>
            </a:r>
          </a:p>
        </p:txBody>
      </p:sp>
      <p:sp>
        <p:nvSpPr>
          <p:cNvPr id="23" name="TextBox 22"/>
          <p:cNvSpPr txBox="1"/>
          <p:nvPr/>
        </p:nvSpPr>
        <p:spPr>
          <a:xfrm>
            <a:off x="6748272" y="5614416"/>
            <a:ext cx="4389120" cy="256032"/>
          </a:xfrm>
          <a:prstGeom prst="rect">
            <a:avLst/>
          </a:prstGeom>
          <a:noFill/>
        </p:spPr>
        <p:txBody>
          <a:bodyPr wrap="square" lIns="0" rIns="0" tIns="0" bIns="0" anchor="t">
            <a:spAutoFit/>
          </a:bodyPr>
          <a:lstStyle/>
          <a:p>
            <a:pPr algn="l">
              <a:lnSpc>
                <a:spcPct val="112000"/>
              </a:lnSpc>
            </a:pPr>
            <a:r>
              <a:rPr sz="1050" b="1" i="0">
                <a:solidFill>
                  <a:srgbClr val="0B1F3A"/>
                </a:solidFill>
                <a:latin typeface="微软雅黑"/>
                <a:ea typeface="微软雅黑"/>
              </a:rPr>
              <a:t>0.12 满意度</a:t>
            </a:r>
            <a:r>
              <a:rPr sz="1050" b="0" i="0">
                <a:solidFill>
                  <a:srgbClr val="0B1F3A"/>
                </a:solidFill>
                <a:latin typeface="微软雅黑"/>
                <a:ea typeface="微软雅黑"/>
              </a:rPr>
              <a:t>　0.12 准时率　</a:t>
            </a:r>
            <a:r>
              <a:rPr sz="1050" b="1" i="0">
                <a:solidFill>
                  <a:srgbClr val="0B1F3A"/>
                </a:solidFill>
                <a:latin typeface="微软雅黑"/>
                <a:ea typeface="微软雅黑"/>
              </a:rPr>
              <a:t>0.08 历史速度</a:t>
            </a:r>
          </a:p>
        </p:txBody>
      </p:sp>
      <p:sp>
        <p:nvSpPr>
          <p:cNvPr id="24" name="Rectangle 23"/>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26" name="TextBox 25"/>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06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03 / Agent 设计（2/2）</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监控与验收：让工单真正闭环</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Agent 3 管过程，Agent 4 管结果；一个防超时，一个防“假完工”</a:t>
            </a:r>
          </a:p>
        </p:txBody>
      </p:sp>
      <p:sp>
        <p:nvSpPr>
          <p:cNvPr id="7" name="Rounded Rectangle 6"/>
          <p:cNvSpPr/>
          <p:nvPr/>
        </p:nvSpPr>
        <p:spPr>
          <a:xfrm>
            <a:off x="685800" y="1481328"/>
            <a:ext cx="5349240" cy="466344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1481328"/>
            <a:ext cx="5349240"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6" y="1572768"/>
            <a:ext cx="1463040" cy="182880"/>
          </a:xfrm>
          <a:prstGeom prst="rect">
            <a:avLst/>
          </a:prstGeom>
          <a:noFill/>
        </p:spPr>
        <p:txBody>
          <a:bodyPr wrap="square" lIns="0" rIns="0" tIns="0" bIns="0" anchor="t">
            <a:spAutoFit/>
          </a:bodyPr>
          <a:lstStyle/>
          <a:p>
            <a:pPr algn="l">
              <a:lnSpc>
                <a:spcPct val="112000"/>
              </a:lnSpc>
            </a:pPr>
            <a:r>
              <a:rPr sz="950" b="1" i="0">
                <a:solidFill>
                  <a:srgbClr val="FFFFFF"/>
                </a:solidFill>
                <a:latin typeface="微软雅黑"/>
                <a:ea typeface="微软雅黑"/>
              </a:rPr>
              <a:t>AGENT 03</a:t>
            </a:r>
          </a:p>
        </p:txBody>
      </p:sp>
      <p:sp>
        <p:nvSpPr>
          <p:cNvPr id="10" name="TextBox 9"/>
          <p:cNvSpPr txBox="1"/>
          <p:nvPr/>
        </p:nvSpPr>
        <p:spPr>
          <a:xfrm>
            <a:off x="905256" y="1737360"/>
            <a:ext cx="4206240" cy="274320"/>
          </a:xfrm>
          <a:prstGeom prst="rect">
            <a:avLst/>
          </a:prstGeom>
          <a:noFill/>
        </p:spPr>
        <p:txBody>
          <a:bodyPr wrap="square" lIns="0" rIns="0" tIns="0" bIns="0" anchor="t">
            <a:spAutoFit/>
          </a:bodyPr>
          <a:lstStyle/>
          <a:p>
            <a:pPr algn="l">
              <a:lnSpc>
                <a:spcPct val="112000"/>
              </a:lnSpc>
            </a:pPr>
            <a:r>
              <a:rPr sz="1800" b="1" i="0">
                <a:solidFill>
                  <a:srgbClr val="FFFFFF"/>
                </a:solidFill>
                <a:latin typeface="微软雅黑"/>
                <a:ea typeface="微软雅黑"/>
              </a:rPr>
              <a:t>过程监控 Agent</a:t>
            </a:r>
          </a:p>
        </p:txBody>
      </p:sp>
      <p:sp>
        <p:nvSpPr>
          <p:cNvPr id="11" name="TextBox 10"/>
          <p:cNvSpPr txBox="1"/>
          <p:nvPr/>
        </p:nvSpPr>
        <p:spPr>
          <a:xfrm>
            <a:off x="923544" y="2231136"/>
            <a:ext cx="4873752" cy="3749039"/>
          </a:xfrm>
          <a:prstGeom prst="rect">
            <a:avLst/>
          </a:prstGeom>
          <a:noFill/>
        </p:spPr>
        <p:txBody>
          <a:bodyPr wrap="square" lIns="0" rIns="0" tIns="0" bIns="0">
            <a:spAutoFit/>
          </a:bodyPr>
          <a:lstStyle/>
          <a:p>
            <a:pPr marL="201168" indent="-201168">
              <a:lnSpc>
                <a:spcPct val="118000"/>
              </a:lnSpc>
              <a:spcAft>
                <a:spcPts val="700"/>
              </a:spcAft>
            </a:pPr>
            <a:r>
              <a:rPr sz="1600" b="1" i="0">
                <a:solidFill>
                  <a:srgbClr val="F59E0B"/>
                </a:solidFill>
                <a:latin typeface="微软雅黑"/>
                <a:ea typeface="微软雅黑"/>
              </a:rPr>
              <a:t>•  </a:t>
            </a:r>
            <a:r>
              <a:rPr sz="1450" b="1" i="0">
                <a:solidFill>
                  <a:srgbClr val="B45309"/>
                </a:solidFill>
                <a:latin typeface="微软雅黑"/>
                <a:ea typeface="微软雅黑"/>
              </a:rPr>
              <a:t>职责：</a:t>
            </a:r>
            <a:r>
              <a:rPr sz="1450" b="0" i="0">
                <a:solidFill>
                  <a:srgbClr val="0B1F3A"/>
                </a:solidFill>
                <a:latin typeface="微软雅黑"/>
                <a:ea typeface="微软雅黑"/>
              </a:rPr>
              <a:t>巡检在途工单，发现超时与风险</a:t>
            </a:r>
          </a:p>
          <a:p>
            <a:pPr marL="201168" indent="-201168">
              <a:lnSpc>
                <a:spcPct val="118000"/>
              </a:lnSpc>
              <a:spcAft>
                <a:spcPts val="700"/>
              </a:spcAft>
            </a:pPr>
            <a:r>
              <a:rPr sz="1600" b="1" i="0">
                <a:solidFill>
                  <a:srgbClr val="F59E0B"/>
                </a:solidFill>
                <a:latin typeface="微软雅黑"/>
                <a:ea typeface="微软雅黑"/>
              </a:rPr>
              <a:t>•  </a:t>
            </a:r>
            <a:r>
              <a:rPr sz="1450" b="1" i="0">
                <a:solidFill>
                  <a:srgbClr val="B45309"/>
                </a:solidFill>
                <a:latin typeface="微软雅黑"/>
                <a:ea typeface="微软雅黑"/>
              </a:rPr>
              <a:t>接单时限：</a:t>
            </a:r>
            <a:r>
              <a:rPr sz="1450" b="0" i="0">
                <a:solidFill>
                  <a:srgbClr val="0B1F3A"/>
                </a:solidFill>
                <a:latin typeface="微软雅黑"/>
                <a:ea typeface="微软雅黑"/>
              </a:rPr>
              <a:t>紧急 10 / 高 15 / 中 30 / 低 60 分钟</a:t>
            </a:r>
          </a:p>
          <a:p>
            <a:pPr marL="201168" indent="-201168">
              <a:lnSpc>
                <a:spcPct val="118000"/>
              </a:lnSpc>
              <a:spcAft>
                <a:spcPts val="700"/>
              </a:spcAft>
            </a:pPr>
            <a:r>
              <a:rPr sz="1600" b="1" i="0">
                <a:solidFill>
                  <a:srgbClr val="F59E0B"/>
                </a:solidFill>
                <a:latin typeface="微软雅黑"/>
                <a:ea typeface="微软雅黑"/>
              </a:rPr>
              <a:t>•  </a:t>
            </a:r>
            <a:r>
              <a:rPr sz="1450" b="1" i="0">
                <a:solidFill>
                  <a:srgbClr val="B45309"/>
                </a:solidFill>
                <a:latin typeface="微软雅黑"/>
                <a:ea typeface="微软雅黑"/>
              </a:rPr>
              <a:t>处理预警：</a:t>
            </a:r>
            <a:r>
              <a:rPr sz="1450" b="0" i="0">
                <a:solidFill>
                  <a:srgbClr val="0B1F3A"/>
                </a:solidFill>
                <a:latin typeface="微软雅黑"/>
                <a:ea typeface="微软雅黑"/>
              </a:rPr>
              <a:t>距截止 10 分钟 L0；超时 L2 并升级主管</a:t>
            </a:r>
          </a:p>
          <a:p>
            <a:pPr marL="201168" indent="-201168">
              <a:lnSpc>
                <a:spcPct val="118000"/>
              </a:lnSpc>
              <a:spcAft>
                <a:spcPts val="700"/>
              </a:spcAft>
            </a:pPr>
            <a:r>
              <a:rPr sz="1600" b="1" i="0">
                <a:solidFill>
                  <a:srgbClr val="F59E0B"/>
                </a:solidFill>
                <a:latin typeface="微软雅黑"/>
                <a:ea typeface="微软雅黑"/>
              </a:rPr>
              <a:t>•  </a:t>
            </a:r>
            <a:r>
              <a:rPr sz="1450" b="1" i="0">
                <a:solidFill>
                  <a:srgbClr val="B45309"/>
                </a:solidFill>
                <a:latin typeface="微软雅黑"/>
                <a:ea typeface="微软雅黑"/>
              </a:rPr>
              <a:t>去重与留痕：</a:t>
            </a:r>
            <a:r>
              <a:rPr sz="1450" b="0" i="0">
                <a:solidFill>
                  <a:srgbClr val="0B1F3A"/>
                </a:solidFill>
                <a:latin typeface="微软雅黑"/>
                <a:ea typeface="微软雅黑"/>
              </a:rPr>
              <a:t>同类未关闭预警不重复；每轮巡检写日志</a:t>
            </a:r>
          </a:p>
        </p:txBody>
      </p:sp>
      <p:sp>
        <p:nvSpPr>
          <p:cNvPr id="12" name="Rounded Rectangle 11"/>
          <p:cNvSpPr/>
          <p:nvPr/>
        </p:nvSpPr>
        <p:spPr>
          <a:xfrm>
            <a:off x="914400" y="4590288"/>
            <a:ext cx="4892040" cy="374904"/>
          </a:xfrm>
          <a:prstGeom prst="roundRect">
            <a:avLst>
              <a:gd name="adj" fmla="val 12000"/>
            </a:avLst>
          </a:prstGeom>
          <a:solidFill>
            <a:srgbClr val="F8FAFC"/>
          </a:solidFill>
          <a:ln w="762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60704" y="4672583"/>
            <a:ext cx="411480" cy="201168"/>
          </a:xfrm>
          <a:prstGeom prst="rect">
            <a:avLst/>
          </a:prstGeom>
          <a:noFill/>
        </p:spPr>
        <p:txBody>
          <a:bodyPr wrap="square" lIns="0" rIns="0" tIns="0" bIns="0" anchor="t">
            <a:spAutoFit/>
          </a:bodyPr>
          <a:lstStyle/>
          <a:p>
            <a:pPr algn="l">
              <a:lnSpc>
                <a:spcPct val="112000"/>
              </a:lnSpc>
            </a:pPr>
            <a:r>
              <a:rPr sz="1000" b="1" i="0">
                <a:solidFill>
                  <a:srgbClr val="F59E0B"/>
                </a:solidFill>
                <a:latin typeface="微软雅黑"/>
                <a:ea typeface="微软雅黑"/>
              </a:rPr>
              <a:t>L0</a:t>
            </a:r>
          </a:p>
        </p:txBody>
      </p:sp>
      <p:sp>
        <p:nvSpPr>
          <p:cNvPr id="14" name="TextBox 13"/>
          <p:cNvSpPr txBox="1"/>
          <p:nvPr/>
        </p:nvSpPr>
        <p:spPr>
          <a:xfrm>
            <a:off x="1572768" y="4672583"/>
            <a:ext cx="1005840" cy="201168"/>
          </a:xfrm>
          <a:prstGeom prst="rect">
            <a:avLst/>
          </a:prstGeom>
          <a:noFill/>
        </p:spPr>
        <p:txBody>
          <a:bodyPr wrap="square" lIns="0" rIns="0" tIns="0" bIns="0" anchor="t">
            <a:spAutoFit/>
          </a:bodyPr>
          <a:lstStyle/>
          <a:p>
            <a:pPr algn="l">
              <a:lnSpc>
                <a:spcPct val="112000"/>
              </a:lnSpc>
            </a:pPr>
            <a:r>
              <a:rPr sz="1050" b="1" i="0">
                <a:solidFill>
                  <a:srgbClr val="0B1F3A"/>
                </a:solidFill>
                <a:latin typeface="微软雅黑"/>
                <a:ea typeface="微软雅黑"/>
              </a:rPr>
              <a:t>即将超时</a:t>
            </a:r>
          </a:p>
        </p:txBody>
      </p:sp>
      <p:sp>
        <p:nvSpPr>
          <p:cNvPr id="15" name="TextBox 14"/>
          <p:cNvSpPr txBox="1"/>
          <p:nvPr/>
        </p:nvSpPr>
        <p:spPr>
          <a:xfrm>
            <a:off x="2697480" y="4672583"/>
            <a:ext cx="2743200" cy="201168"/>
          </a:xfrm>
          <a:prstGeom prst="rect">
            <a:avLst/>
          </a:prstGeom>
          <a:noFill/>
        </p:spPr>
        <p:txBody>
          <a:bodyPr wrap="square" lIns="0" rIns="0" tIns="0" bIns="0" anchor="t">
            <a:spAutoFit/>
          </a:bodyPr>
          <a:lstStyle/>
          <a:p>
            <a:pPr algn="l">
              <a:lnSpc>
                <a:spcPct val="112000"/>
              </a:lnSpc>
            </a:pPr>
            <a:r>
              <a:rPr sz="1000" b="0" i="0">
                <a:solidFill>
                  <a:srgbClr val="64748B"/>
                </a:solidFill>
                <a:latin typeface="微软雅黑"/>
                <a:ea typeface="微软雅黑"/>
              </a:rPr>
              <a:t>距截止 10 分钟</a:t>
            </a:r>
          </a:p>
        </p:txBody>
      </p:sp>
      <p:sp>
        <p:nvSpPr>
          <p:cNvPr id="16" name="Rounded Rectangle 15"/>
          <p:cNvSpPr/>
          <p:nvPr/>
        </p:nvSpPr>
        <p:spPr>
          <a:xfrm>
            <a:off x="914400" y="5038344"/>
            <a:ext cx="4892040" cy="374904"/>
          </a:xfrm>
          <a:prstGeom prst="roundRect">
            <a:avLst>
              <a:gd name="adj" fmla="val 12000"/>
            </a:avLst>
          </a:prstGeom>
          <a:solidFill>
            <a:srgbClr val="F8FAFC"/>
          </a:solidFill>
          <a:ln w="762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5120640"/>
            <a:ext cx="411480" cy="201168"/>
          </a:xfrm>
          <a:prstGeom prst="rect">
            <a:avLst/>
          </a:prstGeom>
          <a:noFill/>
        </p:spPr>
        <p:txBody>
          <a:bodyPr wrap="square" lIns="0" rIns="0" tIns="0" bIns="0" anchor="t">
            <a:spAutoFit/>
          </a:bodyPr>
          <a:lstStyle/>
          <a:p>
            <a:pPr algn="l">
              <a:lnSpc>
                <a:spcPct val="112000"/>
              </a:lnSpc>
            </a:pPr>
            <a:r>
              <a:rPr sz="1000" b="1" i="0">
                <a:solidFill>
                  <a:srgbClr val="F59E0B"/>
                </a:solidFill>
                <a:latin typeface="微软雅黑"/>
                <a:ea typeface="微软雅黑"/>
              </a:rPr>
              <a:t>L1</a:t>
            </a:r>
          </a:p>
        </p:txBody>
      </p:sp>
      <p:sp>
        <p:nvSpPr>
          <p:cNvPr id="18" name="TextBox 17"/>
          <p:cNvSpPr txBox="1"/>
          <p:nvPr/>
        </p:nvSpPr>
        <p:spPr>
          <a:xfrm>
            <a:off x="1572768" y="5120640"/>
            <a:ext cx="1005840" cy="201168"/>
          </a:xfrm>
          <a:prstGeom prst="rect">
            <a:avLst/>
          </a:prstGeom>
          <a:noFill/>
        </p:spPr>
        <p:txBody>
          <a:bodyPr wrap="square" lIns="0" rIns="0" tIns="0" bIns="0" anchor="t">
            <a:spAutoFit/>
          </a:bodyPr>
          <a:lstStyle/>
          <a:p>
            <a:pPr algn="l">
              <a:lnSpc>
                <a:spcPct val="112000"/>
              </a:lnSpc>
            </a:pPr>
            <a:r>
              <a:rPr sz="1050" b="1" i="0">
                <a:solidFill>
                  <a:srgbClr val="0B1F3A"/>
                </a:solidFill>
                <a:latin typeface="微软雅黑"/>
                <a:ea typeface="微软雅黑"/>
              </a:rPr>
              <a:t>接单超时</a:t>
            </a:r>
          </a:p>
        </p:txBody>
      </p:sp>
      <p:sp>
        <p:nvSpPr>
          <p:cNvPr id="19" name="TextBox 18"/>
          <p:cNvSpPr txBox="1"/>
          <p:nvPr/>
        </p:nvSpPr>
        <p:spPr>
          <a:xfrm>
            <a:off x="2697480" y="5120640"/>
            <a:ext cx="2743200" cy="201168"/>
          </a:xfrm>
          <a:prstGeom prst="rect">
            <a:avLst/>
          </a:prstGeom>
          <a:noFill/>
        </p:spPr>
        <p:txBody>
          <a:bodyPr wrap="square" lIns="0" rIns="0" tIns="0" bIns="0" anchor="t">
            <a:spAutoFit/>
          </a:bodyPr>
          <a:lstStyle/>
          <a:p>
            <a:pPr algn="l">
              <a:lnSpc>
                <a:spcPct val="112000"/>
              </a:lnSpc>
            </a:pPr>
            <a:r>
              <a:rPr sz="1000" b="0" i="0">
                <a:solidFill>
                  <a:srgbClr val="64748B"/>
                </a:solidFill>
                <a:latin typeface="微软雅黑"/>
                <a:ea typeface="微软雅黑"/>
              </a:rPr>
              <a:t>按紧急度 10–60 分钟</a:t>
            </a:r>
          </a:p>
        </p:txBody>
      </p:sp>
      <p:sp>
        <p:nvSpPr>
          <p:cNvPr id="20" name="Rounded Rectangle 19"/>
          <p:cNvSpPr/>
          <p:nvPr/>
        </p:nvSpPr>
        <p:spPr>
          <a:xfrm>
            <a:off x="914400" y="5486400"/>
            <a:ext cx="4892040" cy="374904"/>
          </a:xfrm>
          <a:prstGeom prst="roundRect">
            <a:avLst>
              <a:gd name="adj" fmla="val 12000"/>
            </a:avLst>
          </a:prstGeom>
          <a:solidFill>
            <a:srgbClr val="F8FAFC"/>
          </a:solidFill>
          <a:ln w="762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060704" y="5568696"/>
            <a:ext cx="411480" cy="201168"/>
          </a:xfrm>
          <a:prstGeom prst="rect">
            <a:avLst/>
          </a:prstGeom>
          <a:noFill/>
        </p:spPr>
        <p:txBody>
          <a:bodyPr wrap="square" lIns="0" rIns="0" tIns="0" bIns="0" anchor="t">
            <a:spAutoFit/>
          </a:bodyPr>
          <a:lstStyle/>
          <a:p>
            <a:pPr algn="l">
              <a:lnSpc>
                <a:spcPct val="112000"/>
              </a:lnSpc>
            </a:pPr>
            <a:r>
              <a:rPr sz="1000" b="1" i="0">
                <a:solidFill>
                  <a:srgbClr val="EF4444"/>
                </a:solidFill>
                <a:latin typeface="微软雅黑"/>
                <a:ea typeface="微软雅黑"/>
              </a:rPr>
              <a:t>L2</a:t>
            </a:r>
          </a:p>
        </p:txBody>
      </p:sp>
      <p:sp>
        <p:nvSpPr>
          <p:cNvPr id="22" name="TextBox 21"/>
          <p:cNvSpPr txBox="1"/>
          <p:nvPr/>
        </p:nvSpPr>
        <p:spPr>
          <a:xfrm>
            <a:off x="1572768" y="5568696"/>
            <a:ext cx="1005840" cy="201168"/>
          </a:xfrm>
          <a:prstGeom prst="rect">
            <a:avLst/>
          </a:prstGeom>
          <a:noFill/>
        </p:spPr>
        <p:txBody>
          <a:bodyPr wrap="square" lIns="0" rIns="0" tIns="0" bIns="0" anchor="t">
            <a:spAutoFit/>
          </a:bodyPr>
          <a:lstStyle/>
          <a:p>
            <a:pPr algn="l">
              <a:lnSpc>
                <a:spcPct val="112000"/>
              </a:lnSpc>
            </a:pPr>
            <a:r>
              <a:rPr sz="1050" b="1" i="0">
                <a:solidFill>
                  <a:srgbClr val="0B1F3A"/>
                </a:solidFill>
                <a:latin typeface="微软雅黑"/>
                <a:ea typeface="微软雅黑"/>
              </a:rPr>
              <a:t>处理超时</a:t>
            </a:r>
          </a:p>
        </p:txBody>
      </p:sp>
      <p:sp>
        <p:nvSpPr>
          <p:cNvPr id="23" name="TextBox 22"/>
          <p:cNvSpPr txBox="1"/>
          <p:nvPr/>
        </p:nvSpPr>
        <p:spPr>
          <a:xfrm>
            <a:off x="2697480" y="5568696"/>
            <a:ext cx="2743200" cy="201168"/>
          </a:xfrm>
          <a:prstGeom prst="rect">
            <a:avLst/>
          </a:prstGeom>
          <a:noFill/>
        </p:spPr>
        <p:txBody>
          <a:bodyPr wrap="square" lIns="0" rIns="0" tIns="0" bIns="0" anchor="t">
            <a:spAutoFit/>
          </a:bodyPr>
          <a:lstStyle/>
          <a:p>
            <a:pPr algn="l">
              <a:lnSpc>
                <a:spcPct val="112000"/>
              </a:lnSpc>
            </a:pPr>
            <a:r>
              <a:rPr sz="1000" b="0" i="0">
                <a:solidFill>
                  <a:srgbClr val="64748B"/>
                </a:solidFill>
                <a:latin typeface="微软雅黑"/>
                <a:ea typeface="微软雅黑"/>
              </a:rPr>
              <a:t>升级物业主管</a:t>
            </a:r>
          </a:p>
        </p:txBody>
      </p:sp>
      <p:sp>
        <p:nvSpPr>
          <p:cNvPr id="24" name="Rounded Rectangle 23"/>
          <p:cNvSpPr/>
          <p:nvPr/>
        </p:nvSpPr>
        <p:spPr>
          <a:xfrm>
            <a:off x="6355080" y="1481328"/>
            <a:ext cx="5166360" cy="466344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6355080" y="1481328"/>
            <a:ext cx="516636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74536" y="1572768"/>
            <a:ext cx="1463040" cy="182880"/>
          </a:xfrm>
          <a:prstGeom prst="rect">
            <a:avLst/>
          </a:prstGeom>
          <a:noFill/>
        </p:spPr>
        <p:txBody>
          <a:bodyPr wrap="square" lIns="0" rIns="0" tIns="0" bIns="0" anchor="t">
            <a:spAutoFit/>
          </a:bodyPr>
          <a:lstStyle/>
          <a:p>
            <a:pPr algn="l">
              <a:lnSpc>
                <a:spcPct val="112000"/>
              </a:lnSpc>
            </a:pPr>
            <a:r>
              <a:rPr sz="950" b="1" i="0">
                <a:solidFill>
                  <a:srgbClr val="FFFFFF"/>
                </a:solidFill>
                <a:latin typeface="微软雅黑"/>
                <a:ea typeface="微软雅黑"/>
              </a:rPr>
              <a:t>AGENT 04</a:t>
            </a:r>
          </a:p>
        </p:txBody>
      </p:sp>
      <p:sp>
        <p:nvSpPr>
          <p:cNvPr id="27" name="TextBox 26"/>
          <p:cNvSpPr txBox="1"/>
          <p:nvPr/>
        </p:nvSpPr>
        <p:spPr>
          <a:xfrm>
            <a:off x="6574536" y="1737360"/>
            <a:ext cx="4206240" cy="274320"/>
          </a:xfrm>
          <a:prstGeom prst="rect">
            <a:avLst/>
          </a:prstGeom>
          <a:noFill/>
        </p:spPr>
        <p:txBody>
          <a:bodyPr wrap="square" lIns="0" rIns="0" tIns="0" bIns="0" anchor="t">
            <a:spAutoFit/>
          </a:bodyPr>
          <a:lstStyle/>
          <a:p>
            <a:pPr algn="l">
              <a:lnSpc>
                <a:spcPct val="112000"/>
              </a:lnSpc>
            </a:pPr>
            <a:r>
              <a:rPr sz="1800" b="1" i="0">
                <a:solidFill>
                  <a:srgbClr val="FFFFFF"/>
                </a:solidFill>
                <a:latin typeface="微软雅黑"/>
                <a:ea typeface="微软雅黑"/>
              </a:rPr>
              <a:t>闭环验证 Agent</a:t>
            </a:r>
          </a:p>
        </p:txBody>
      </p:sp>
      <p:sp>
        <p:nvSpPr>
          <p:cNvPr id="28" name="TextBox 27"/>
          <p:cNvSpPr txBox="1"/>
          <p:nvPr/>
        </p:nvSpPr>
        <p:spPr>
          <a:xfrm>
            <a:off x="6592824" y="2231136"/>
            <a:ext cx="4690872" cy="3749039"/>
          </a:xfrm>
          <a:prstGeom prst="rect">
            <a:avLst/>
          </a:prstGeom>
          <a:noFill/>
        </p:spPr>
        <p:txBody>
          <a:bodyPr wrap="square" lIns="0" rIns="0" tIns="0" bIns="0">
            <a:spAutoFit/>
          </a:bodyPr>
          <a:lstStyle/>
          <a:p>
            <a:pPr marL="201168" indent="-201168">
              <a:lnSpc>
                <a:spcPct val="118000"/>
              </a:lnSpc>
              <a:spcAft>
                <a:spcPts val="700"/>
              </a:spcAft>
            </a:pPr>
            <a:r>
              <a:rPr sz="1600" b="1" i="0">
                <a:solidFill>
                  <a:srgbClr val="10B981"/>
                </a:solidFill>
                <a:latin typeface="微软雅黑"/>
                <a:ea typeface="微软雅黑"/>
              </a:rPr>
              <a:t>•  </a:t>
            </a:r>
            <a:r>
              <a:rPr sz="1450" b="1" i="0">
                <a:solidFill>
                  <a:srgbClr val="047857"/>
                </a:solidFill>
                <a:latin typeface="微软雅黑"/>
                <a:ea typeface="微软雅黑"/>
              </a:rPr>
              <a:t>职责：</a:t>
            </a:r>
            <a:r>
              <a:rPr sz="1450" b="0" i="0">
                <a:solidFill>
                  <a:srgbClr val="0B1F3A"/>
                </a:solidFill>
                <a:latin typeface="微软雅黑"/>
                <a:ea typeface="微软雅黑"/>
              </a:rPr>
              <a:t>验收完工证据，决定闭环或退回</a:t>
            </a:r>
          </a:p>
          <a:p>
            <a:pPr marL="201168" indent="-201168">
              <a:lnSpc>
                <a:spcPct val="118000"/>
              </a:lnSpc>
              <a:spcAft>
                <a:spcPts val="700"/>
              </a:spcAft>
            </a:pPr>
            <a:r>
              <a:rPr sz="1600" b="1" i="0">
                <a:solidFill>
                  <a:srgbClr val="10B981"/>
                </a:solidFill>
                <a:latin typeface="微软雅黑"/>
                <a:ea typeface="微软雅黑"/>
              </a:rPr>
              <a:t>•  </a:t>
            </a:r>
            <a:r>
              <a:rPr sz="1450" b="1" i="0">
                <a:solidFill>
                  <a:srgbClr val="047857"/>
                </a:solidFill>
                <a:latin typeface="微软雅黑"/>
                <a:ea typeface="微软雅黑"/>
              </a:rPr>
              <a:t>硬检查：</a:t>
            </a:r>
            <a:r>
              <a:rPr sz="1450" b="0" i="0">
                <a:solidFill>
                  <a:srgbClr val="0B1F3A"/>
                </a:solidFill>
                <a:latin typeface="微软雅黑"/>
                <a:ea typeface="微软雅黑"/>
              </a:rPr>
              <a:t>说明≥8字 / 照片 / 时间 / 内容匹配</a:t>
            </a:r>
          </a:p>
          <a:p>
            <a:pPr marL="201168" indent="-201168">
              <a:lnSpc>
                <a:spcPct val="118000"/>
              </a:lnSpc>
              <a:spcAft>
                <a:spcPts val="700"/>
              </a:spcAft>
            </a:pPr>
            <a:r>
              <a:rPr sz="1600" b="1" i="0">
                <a:solidFill>
                  <a:srgbClr val="10B981"/>
                </a:solidFill>
                <a:latin typeface="微软雅黑"/>
                <a:ea typeface="微软雅黑"/>
              </a:rPr>
              <a:t>•  </a:t>
            </a:r>
            <a:r>
              <a:rPr sz="1450" b="1" i="0">
                <a:solidFill>
                  <a:srgbClr val="047857"/>
                </a:solidFill>
                <a:latin typeface="微软雅黑"/>
                <a:ea typeface="微软雅黑"/>
              </a:rPr>
              <a:t>安全规则：</a:t>
            </a:r>
            <a:r>
              <a:rPr sz="1450" b="0" i="0">
                <a:solidFill>
                  <a:srgbClr val="0B1F3A"/>
                </a:solidFill>
                <a:latin typeface="微软雅黑"/>
                <a:ea typeface="微软雅黑"/>
              </a:rPr>
              <a:t>安全类工单限时 + 专项记录</a:t>
            </a:r>
          </a:p>
          <a:p>
            <a:pPr marL="201168" indent="-201168">
              <a:lnSpc>
                <a:spcPct val="118000"/>
              </a:lnSpc>
              <a:spcAft>
                <a:spcPts val="700"/>
              </a:spcAft>
            </a:pPr>
            <a:r>
              <a:rPr sz="1600" b="1" i="0">
                <a:solidFill>
                  <a:srgbClr val="10B981"/>
                </a:solidFill>
                <a:latin typeface="微软雅黑"/>
                <a:ea typeface="微软雅黑"/>
              </a:rPr>
              <a:t>•  </a:t>
            </a:r>
            <a:r>
              <a:rPr sz="1450" b="1" i="0">
                <a:solidFill>
                  <a:srgbClr val="047857"/>
                </a:solidFill>
                <a:latin typeface="微软雅黑"/>
                <a:ea typeface="微软雅黑"/>
              </a:rPr>
              <a:t>结论：</a:t>
            </a:r>
            <a:r>
              <a:rPr sz="1450" b="0" i="0">
                <a:solidFill>
                  <a:srgbClr val="0B1F3A"/>
                </a:solidFill>
                <a:latin typeface="微软雅黑"/>
                <a:ea typeface="微软雅黑"/>
              </a:rPr>
              <a:t>通过写 closed_at；不通过返回整改项</a:t>
            </a:r>
          </a:p>
        </p:txBody>
      </p:sp>
      <p:sp>
        <p:nvSpPr>
          <p:cNvPr id="29" name="Oval 28"/>
          <p:cNvSpPr/>
          <p:nvPr/>
        </p:nvSpPr>
        <p:spPr>
          <a:xfrm>
            <a:off x="6583680" y="4215383"/>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839712" y="4169663"/>
            <a:ext cx="914400" cy="201168"/>
          </a:xfrm>
          <a:prstGeom prst="rect">
            <a:avLst/>
          </a:prstGeom>
          <a:noFill/>
        </p:spPr>
        <p:txBody>
          <a:bodyPr wrap="square" lIns="0" rIns="0" tIns="0" bIns="0" anchor="t">
            <a:spAutoFit/>
          </a:bodyPr>
          <a:lstStyle/>
          <a:p>
            <a:pPr algn="l">
              <a:lnSpc>
                <a:spcPct val="112000"/>
              </a:lnSpc>
            </a:pPr>
            <a:r>
              <a:rPr sz="1000" b="1" i="0">
                <a:solidFill>
                  <a:srgbClr val="0B1F3A"/>
                </a:solidFill>
                <a:latin typeface="微软雅黑"/>
                <a:ea typeface="微软雅黑"/>
              </a:rPr>
              <a:t>处理记录</a:t>
            </a:r>
          </a:p>
        </p:txBody>
      </p:sp>
      <p:sp>
        <p:nvSpPr>
          <p:cNvPr id="31" name="TextBox 30"/>
          <p:cNvSpPr txBox="1"/>
          <p:nvPr/>
        </p:nvSpPr>
        <p:spPr>
          <a:xfrm>
            <a:off x="7726679" y="4169663"/>
            <a:ext cx="3566160" cy="201168"/>
          </a:xfrm>
          <a:prstGeom prst="rect">
            <a:avLst/>
          </a:prstGeom>
          <a:noFill/>
        </p:spPr>
        <p:txBody>
          <a:bodyPr wrap="square" lIns="0" rIns="0" tIns="0" bIns="0" anchor="t">
            <a:spAutoFit/>
          </a:bodyPr>
          <a:lstStyle/>
          <a:p>
            <a:pPr algn="l">
              <a:lnSpc>
                <a:spcPct val="112000"/>
              </a:lnSpc>
            </a:pPr>
            <a:r>
              <a:rPr sz="1000" b="0" i="0">
                <a:solidFill>
                  <a:srgbClr val="64748B"/>
                </a:solidFill>
                <a:latin typeface="微软雅黑"/>
                <a:ea typeface="微软雅黑"/>
              </a:rPr>
              <a:t>≥8 字，避免只点“完成”</a:t>
            </a:r>
          </a:p>
        </p:txBody>
      </p:sp>
      <p:sp>
        <p:nvSpPr>
          <p:cNvPr id="32" name="Oval 31"/>
          <p:cNvSpPr/>
          <p:nvPr/>
        </p:nvSpPr>
        <p:spPr>
          <a:xfrm>
            <a:off x="6583680" y="4489703"/>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39712" y="4443983"/>
            <a:ext cx="914400" cy="201168"/>
          </a:xfrm>
          <a:prstGeom prst="rect">
            <a:avLst/>
          </a:prstGeom>
          <a:noFill/>
        </p:spPr>
        <p:txBody>
          <a:bodyPr wrap="square" lIns="0" rIns="0" tIns="0" bIns="0" anchor="t">
            <a:spAutoFit/>
          </a:bodyPr>
          <a:lstStyle/>
          <a:p>
            <a:pPr algn="l">
              <a:lnSpc>
                <a:spcPct val="112000"/>
              </a:lnSpc>
            </a:pPr>
            <a:r>
              <a:rPr sz="1000" b="1" i="0">
                <a:solidFill>
                  <a:srgbClr val="0B1F3A"/>
                </a:solidFill>
                <a:latin typeface="微软雅黑"/>
                <a:ea typeface="微软雅黑"/>
              </a:rPr>
              <a:t>现场照片</a:t>
            </a:r>
          </a:p>
        </p:txBody>
      </p:sp>
      <p:sp>
        <p:nvSpPr>
          <p:cNvPr id="34" name="TextBox 33"/>
          <p:cNvSpPr txBox="1"/>
          <p:nvPr/>
        </p:nvSpPr>
        <p:spPr>
          <a:xfrm>
            <a:off x="7726679" y="4443983"/>
            <a:ext cx="3566160" cy="201168"/>
          </a:xfrm>
          <a:prstGeom prst="rect">
            <a:avLst/>
          </a:prstGeom>
          <a:noFill/>
        </p:spPr>
        <p:txBody>
          <a:bodyPr wrap="square" lIns="0" rIns="0" tIns="0" bIns="0" anchor="t">
            <a:spAutoFit/>
          </a:bodyPr>
          <a:lstStyle/>
          <a:p>
            <a:pPr algn="l">
              <a:lnSpc>
                <a:spcPct val="112000"/>
              </a:lnSpc>
            </a:pPr>
            <a:r>
              <a:rPr sz="1000" b="0" i="0">
                <a:solidFill>
                  <a:srgbClr val="64748B"/>
                </a:solidFill>
                <a:latin typeface="微软雅黑"/>
                <a:ea typeface="微软雅黑"/>
              </a:rPr>
              <a:t>电梯/燃气/爆裂 ≥2 张</a:t>
            </a:r>
          </a:p>
        </p:txBody>
      </p:sp>
      <p:sp>
        <p:nvSpPr>
          <p:cNvPr id="35" name="Oval 34"/>
          <p:cNvSpPr/>
          <p:nvPr/>
        </p:nvSpPr>
        <p:spPr>
          <a:xfrm>
            <a:off x="6583680" y="4764023"/>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839712" y="4718303"/>
            <a:ext cx="914400" cy="201168"/>
          </a:xfrm>
          <a:prstGeom prst="rect">
            <a:avLst/>
          </a:prstGeom>
          <a:noFill/>
        </p:spPr>
        <p:txBody>
          <a:bodyPr wrap="square" lIns="0" rIns="0" tIns="0" bIns="0" anchor="t">
            <a:spAutoFit/>
          </a:bodyPr>
          <a:lstStyle/>
          <a:p>
            <a:pPr algn="l">
              <a:lnSpc>
                <a:spcPct val="112000"/>
              </a:lnSpc>
            </a:pPr>
            <a:r>
              <a:rPr sz="1000" b="1" i="0">
                <a:solidFill>
                  <a:srgbClr val="0B1F3A"/>
                </a:solidFill>
                <a:latin typeface="微软雅黑"/>
                <a:ea typeface="微软雅黑"/>
              </a:rPr>
              <a:t>完工时间</a:t>
            </a:r>
          </a:p>
        </p:txBody>
      </p:sp>
      <p:sp>
        <p:nvSpPr>
          <p:cNvPr id="37" name="TextBox 36"/>
          <p:cNvSpPr txBox="1"/>
          <p:nvPr/>
        </p:nvSpPr>
        <p:spPr>
          <a:xfrm>
            <a:off x="7726679" y="4718303"/>
            <a:ext cx="3566160" cy="201168"/>
          </a:xfrm>
          <a:prstGeom prst="rect">
            <a:avLst/>
          </a:prstGeom>
          <a:noFill/>
        </p:spPr>
        <p:txBody>
          <a:bodyPr wrap="square" lIns="0" rIns="0" tIns="0" bIns="0" anchor="t">
            <a:spAutoFit/>
          </a:bodyPr>
          <a:lstStyle/>
          <a:p>
            <a:pPr algn="l">
              <a:lnSpc>
                <a:spcPct val="112000"/>
              </a:lnSpc>
            </a:pPr>
            <a:r>
              <a:rPr sz="1000" b="0" i="0">
                <a:solidFill>
                  <a:srgbClr val="64748B"/>
                </a:solidFill>
                <a:latin typeface="微软雅黑"/>
                <a:ea typeface="微软雅黑"/>
              </a:rPr>
              <a:t>生命周期完整</a:t>
            </a:r>
          </a:p>
        </p:txBody>
      </p:sp>
      <p:sp>
        <p:nvSpPr>
          <p:cNvPr id="38" name="Oval 37"/>
          <p:cNvSpPr/>
          <p:nvPr/>
        </p:nvSpPr>
        <p:spPr>
          <a:xfrm>
            <a:off x="6583680" y="5038343"/>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839712" y="4992623"/>
            <a:ext cx="914400" cy="201168"/>
          </a:xfrm>
          <a:prstGeom prst="rect">
            <a:avLst/>
          </a:prstGeom>
          <a:noFill/>
        </p:spPr>
        <p:txBody>
          <a:bodyPr wrap="square" lIns="0" rIns="0" tIns="0" bIns="0" anchor="t">
            <a:spAutoFit/>
          </a:bodyPr>
          <a:lstStyle/>
          <a:p>
            <a:pPr algn="l">
              <a:lnSpc>
                <a:spcPct val="112000"/>
              </a:lnSpc>
            </a:pPr>
            <a:r>
              <a:rPr sz="1000" b="1" i="0">
                <a:solidFill>
                  <a:srgbClr val="0B1F3A"/>
                </a:solidFill>
                <a:latin typeface="微软雅黑"/>
                <a:ea typeface="微软雅黑"/>
              </a:rPr>
              <a:t>内容匹配</a:t>
            </a:r>
          </a:p>
        </p:txBody>
      </p:sp>
      <p:sp>
        <p:nvSpPr>
          <p:cNvPr id="40" name="TextBox 39"/>
          <p:cNvSpPr txBox="1"/>
          <p:nvPr/>
        </p:nvSpPr>
        <p:spPr>
          <a:xfrm>
            <a:off x="7726679" y="4992623"/>
            <a:ext cx="3566160" cy="201168"/>
          </a:xfrm>
          <a:prstGeom prst="rect">
            <a:avLst/>
          </a:prstGeom>
          <a:noFill/>
        </p:spPr>
        <p:txBody>
          <a:bodyPr wrap="square" lIns="0" rIns="0" tIns="0" bIns="0" anchor="t">
            <a:spAutoFit/>
          </a:bodyPr>
          <a:lstStyle/>
          <a:p>
            <a:pPr algn="l">
              <a:lnSpc>
                <a:spcPct val="112000"/>
              </a:lnSpc>
            </a:pPr>
            <a:r>
              <a:rPr sz="1000" b="0" i="0">
                <a:solidFill>
                  <a:srgbClr val="64748B"/>
                </a:solidFill>
                <a:latin typeface="微软雅黑"/>
                <a:ea typeface="微软雅黑"/>
              </a:rPr>
              <a:t>命中类型关键词</a:t>
            </a:r>
          </a:p>
        </p:txBody>
      </p:sp>
      <p:sp>
        <p:nvSpPr>
          <p:cNvPr id="41" name="Oval 40"/>
          <p:cNvSpPr/>
          <p:nvPr/>
        </p:nvSpPr>
        <p:spPr>
          <a:xfrm>
            <a:off x="6583680" y="5312664"/>
            <a:ext cx="155448" cy="1554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39712" y="5266944"/>
            <a:ext cx="914400" cy="201168"/>
          </a:xfrm>
          <a:prstGeom prst="rect">
            <a:avLst/>
          </a:prstGeom>
          <a:noFill/>
        </p:spPr>
        <p:txBody>
          <a:bodyPr wrap="square" lIns="0" rIns="0" tIns="0" bIns="0" anchor="t">
            <a:spAutoFit/>
          </a:bodyPr>
          <a:lstStyle/>
          <a:p>
            <a:pPr algn="l">
              <a:lnSpc>
                <a:spcPct val="112000"/>
              </a:lnSpc>
            </a:pPr>
            <a:r>
              <a:rPr sz="1000" b="1" i="0">
                <a:solidFill>
                  <a:srgbClr val="0B1F3A"/>
                </a:solidFill>
                <a:latin typeface="微软雅黑"/>
                <a:ea typeface="微软雅黑"/>
              </a:rPr>
              <a:t>时限/安全</a:t>
            </a:r>
          </a:p>
        </p:txBody>
      </p:sp>
      <p:sp>
        <p:nvSpPr>
          <p:cNvPr id="43" name="TextBox 42"/>
          <p:cNvSpPr txBox="1"/>
          <p:nvPr/>
        </p:nvSpPr>
        <p:spPr>
          <a:xfrm>
            <a:off x="7726679" y="5266944"/>
            <a:ext cx="3566160" cy="201168"/>
          </a:xfrm>
          <a:prstGeom prst="rect">
            <a:avLst/>
          </a:prstGeom>
          <a:noFill/>
        </p:spPr>
        <p:txBody>
          <a:bodyPr wrap="square" lIns="0" rIns="0" tIns="0" bIns="0" anchor="t">
            <a:spAutoFit/>
          </a:bodyPr>
          <a:lstStyle/>
          <a:p>
            <a:pPr algn="l">
              <a:lnSpc>
                <a:spcPct val="112000"/>
              </a:lnSpc>
            </a:pPr>
            <a:r>
              <a:rPr sz="1000" b="0" i="0">
                <a:solidFill>
                  <a:srgbClr val="64748B"/>
                </a:solidFill>
                <a:latin typeface="微软雅黑"/>
                <a:ea typeface="微软雅黑"/>
              </a:rPr>
              <a:t>安全类硬性判定</a:t>
            </a:r>
          </a:p>
        </p:txBody>
      </p:sp>
      <p:sp>
        <p:nvSpPr>
          <p:cNvPr id="44" name="Rounded Rectangle 43"/>
          <p:cNvSpPr/>
          <p:nvPr/>
        </p:nvSpPr>
        <p:spPr>
          <a:xfrm>
            <a:off x="6565392" y="5650992"/>
            <a:ext cx="4718304" cy="329184"/>
          </a:xfrm>
          <a:prstGeom prst="roundRect">
            <a:avLst>
              <a:gd name="adj" fmla="val 20000"/>
            </a:avLst>
          </a:prstGeom>
          <a:solidFill>
            <a:srgbClr val="ECFDF5"/>
          </a:solidFill>
          <a:ln w="762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729984" y="5715000"/>
            <a:ext cx="4434840" cy="201168"/>
          </a:xfrm>
          <a:prstGeom prst="rect">
            <a:avLst/>
          </a:prstGeom>
          <a:noFill/>
        </p:spPr>
        <p:txBody>
          <a:bodyPr wrap="square" lIns="0" rIns="0" tIns="0" bIns="0" anchor="t">
            <a:spAutoFit/>
          </a:bodyPr>
          <a:lstStyle/>
          <a:p>
            <a:pPr algn="l">
              <a:lnSpc>
                <a:spcPct val="112000"/>
              </a:lnSpc>
            </a:pPr>
            <a:r>
              <a:rPr sz="950" b="1" i="0">
                <a:solidFill>
                  <a:srgbClr val="047857"/>
                </a:solidFill>
                <a:latin typeface="微软雅黑"/>
                <a:ea typeface="微软雅黑"/>
              </a:rPr>
              <a:t>通过 → closed　｜　不通过 → returned → 补充材料 → 再次验收</a:t>
            </a:r>
          </a:p>
        </p:txBody>
      </p:sp>
      <p:sp>
        <p:nvSpPr>
          <p:cNvPr id="46" name="Rectangle 45"/>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48" name="TextBox 47"/>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04 / 状态机</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工单状态机：退回整改形成闭环回路</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六状态主流程 + 验收分支；每次迁移都写事件与决策日志</a:t>
            </a:r>
          </a:p>
        </p:txBody>
      </p:sp>
      <p:sp>
        <p:nvSpPr>
          <p:cNvPr id="7" name="Rounded Rectangle 6"/>
          <p:cNvSpPr/>
          <p:nvPr/>
        </p:nvSpPr>
        <p:spPr>
          <a:xfrm>
            <a:off x="658368" y="1572768"/>
            <a:ext cx="1481328" cy="658368"/>
          </a:xfrm>
          <a:prstGeom prst="roundRect">
            <a:avLst>
              <a:gd name="adj" fmla="val 10000"/>
            </a:avLst>
          </a:prstGeom>
          <a:solidFill>
            <a:srgbClr val="EEF2FF"/>
          </a:solidFill>
          <a:ln w="11430">
            <a:solidFill>
              <a:srgbClr val="93C5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1682495"/>
            <a:ext cx="1481328" cy="256032"/>
          </a:xfrm>
          <a:prstGeom prst="rect">
            <a:avLst/>
          </a:prstGeom>
          <a:noFill/>
        </p:spPr>
        <p:txBody>
          <a:bodyPr wrap="square" lIns="0" rIns="0" tIns="0" bIns="0" anchor="t">
            <a:spAutoFit/>
          </a:bodyPr>
          <a:lstStyle/>
          <a:p>
            <a:pPr algn="ctr">
              <a:lnSpc>
                <a:spcPct val="112000"/>
              </a:lnSpc>
            </a:pPr>
            <a:r>
              <a:rPr sz="1250" b="1" i="0">
                <a:solidFill>
                  <a:srgbClr val="0B1F3A"/>
                </a:solidFill>
                <a:latin typeface="微软雅黑"/>
                <a:ea typeface="微软雅黑"/>
              </a:rPr>
              <a:t>已提交</a:t>
            </a:r>
          </a:p>
        </p:txBody>
      </p:sp>
      <p:sp>
        <p:nvSpPr>
          <p:cNvPr id="9" name="TextBox 8"/>
          <p:cNvSpPr txBox="1"/>
          <p:nvPr/>
        </p:nvSpPr>
        <p:spPr>
          <a:xfrm>
            <a:off x="658368" y="1965960"/>
            <a:ext cx="1481328" cy="182880"/>
          </a:xfrm>
          <a:prstGeom prst="rect">
            <a:avLst/>
          </a:prstGeom>
          <a:noFill/>
        </p:spPr>
        <p:txBody>
          <a:bodyPr wrap="square" lIns="0" rIns="0" tIns="0" bIns="0" anchor="t">
            <a:spAutoFit/>
          </a:bodyPr>
          <a:lstStyle/>
          <a:p>
            <a:pPr algn="ctr">
              <a:lnSpc>
                <a:spcPct val="112000"/>
              </a:lnSpc>
            </a:pPr>
            <a:r>
              <a:rPr sz="800" b="0" i="0">
                <a:solidFill>
                  <a:srgbClr val="64748B"/>
                </a:solidFill>
                <a:latin typeface="微软雅黑"/>
                <a:ea typeface="微软雅黑"/>
              </a:rPr>
              <a:t>submitted</a:t>
            </a:r>
          </a:p>
        </p:txBody>
      </p:sp>
      <p:sp>
        <p:nvSpPr>
          <p:cNvPr id="10" name="Rounded Rectangle 9"/>
          <p:cNvSpPr/>
          <p:nvPr/>
        </p:nvSpPr>
        <p:spPr>
          <a:xfrm>
            <a:off x="2432304" y="1572768"/>
            <a:ext cx="1481328" cy="658368"/>
          </a:xfrm>
          <a:prstGeom prst="roundRect">
            <a:avLst>
              <a:gd name="adj" fmla="val 10000"/>
            </a:avLst>
          </a:prstGeom>
          <a:solidFill>
            <a:srgbClr val="EEF2FF"/>
          </a:solidFill>
          <a:ln w="11430">
            <a:solidFill>
              <a:srgbClr val="93C5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432304" y="1682495"/>
            <a:ext cx="1481328" cy="256032"/>
          </a:xfrm>
          <a:prstGeom prst="rect">
            <a:avLst/>
          </a:prstGeom>
          <a:noFill/>
        </p:spPr>
        <p:txBody>
          <a:bodyPr wrap="square" lIns="0" rIns="0" tIns="0" bIns="0" anchor="t">
            <a:spAutoFit/>
          </a:bodyPr>
          <a:lstStyle/>
          <a:p>
            <a:pPr algn="ctr">
              <a:lnSpc>
                <a:spcPct val="112000"/>
              </a:lnSpc>
            </a:pPr>
            <a:r>
              <a:rPr sz="1250" b="1" i="0">
                <a:solidFill>
                  <a:srgbClr val="0B1F3A"/>
                </a:solidFill>
                <a:latin typeface="微软雅黑"/>
                <a:ea typeface="微软雅黑"/>
              </a:rPr>
              <a:t>已理解</a:t>
            </a:r>
          </a:p>
        </p:txBody>
      </p:sp>
      <p:sp>
        <p:nvSpPr>
          <p:cNvPr id="12" name="TextBox 11"/>
          <p:cNvSpPr txBox="1"/>
          <p:nvPr/>
        </p:nvSpPr>
        <p:spPr>
          <a:xfrm>
            <a:off x="2432304" y="1965960"/>
            <a:ext cx="1481328" cy="182880"/>
          </a:xfrm>
          <a:prstGeom prst="rect">
            <a:avLst/>
          </a:prstGeom>
          <a:noFill/>
        </p:spPr>
        <p:txBody>
          <a:bodyPr wrap="square" lIns="0" rIns="0" tIns="0" bIns="0" anchor="t">
            <a:spAutoFit/>
          </a:bodyPr>
          <a:lstStyle/>
          <a:p>
            <a:pPr algn="ctr">
              <a:lnSpc>
                <a:spcPct val="112000"/>
              </a:lnSpc>
            </a:pPr>
            <a:r>
              <a:rPr sz="800" b="0" i="0">
                <a:solidFill>
                  <a:srgbClr val="64748B"/>
                </a:solidFill>
                <a:latin typeface="微软雅黑"/>
                <a:ea typeface="微软雅黑"/>
              </a:rPr>
              <a:t>understood</a:t>
            </a:r>
          </a:p>
        </p:txBody>
      </p:sp>
      <p:cxnSp>
        <p:nvCxnSpPr>
          <p:cNvPr id="13" name="Connector 12"/>
          <p:cNvCxnSpPr/>
          <p:nvPr/>
        </p:nvCxnSpPr>
        <p:spPr>
          <a:xfrm>
            <a:off x="2176272" y="1901952"/>
            <a:ext cx="228600"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06240" y="1572768"/>
            <a:ext cx="1481328" cy="658368"/>
          </a:xfrm>
          <a:prstGeom prst="roundRect">
            <a:avLst>
              <a:gd name="adj" fmla="val 10000"/>
            </a:avLst>
          </a:prstGeom>
          <a:solidFill>
            <a:srgbClr val="EEF2FF"/>
          </a:solidFill>
          <a:ln w="11430">
            <a:solidFill>
              <a:srgbClr val="93C5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06240" y="1682495"/>
            <a:ext cx="1481328" cy="256032"/>
          </a:xfrm>
          <a:prstGeom prst="rect">
            <a:avLst/>
          </a:prstGeom>
          <a:noFill/>
        </p:spPr>
        <p:txBody>
          <a:bodyPr wrap="square" lIns="0" rIns="0" tIns="0" bIns="0" anchor="t">
            <a:spAutoFit/>
          </a:bodyPr>
          <a:lstStyle/>
          <a:p>
            <a:pPr algn="ctr">
              <a:lnSpc>
                <a:spcPct val="112000"/>
              </a:lnSpc>
            </a:pPr>
            <a:r>
              <a:rPr sz="1250" b="1" i="0">
                <a:solidFill>
                  <a:srgbClr val="0B1F3A"/>
                </a:solidFill>
                <a:latin typeface="微软雅黑"/>
                <a:ea typeface="微软雅黑"/>
              </a:rPr>
              <a:t>待接单</a:t>
            </a:r>
          </a:p>
        </p:txBody>
      </p:sp>
      <p:sp>
        <p:nvSpPr>
          <p:cNvPr id="16" name="TextBox 15"/>
          <p:cNvSpPr txBox="1"/>
          <p:nvPr/>
        </p:nvSpPr>
        <p:spPr>
          <a:xfrm>
            <a:off x="4206240" y="1965960"/>
            <a:ext cx="1481328" cy="182880"/>
          </a:xfrm>
          <a:prstGeom prst="rect">
            <a:avLst/>
          </a:prstGeom>
          <a:noFill/>
        </p:spPr>
        <p:txBody>
          <a:bodyPr wrap="square" lIns="0" rIns="0" tIns="0" bIns="0" anchor="t">
            <a:spAutoFit/>
          </a:bodyPr>
          <a:lstStyle/>
          <a:p>
            <a:pPr algn="ctr">
              <a:lnSpc>
                <a:spcPct val="112000"/>
              </a:lnSpc>
            </a:pPr>
            <a:r>
              <a:rPr sz="800" b="0" i="0">
                <a:solidFill>
                  <a:srgbClr val="64748B"/>
                </a:solidFill>
                <a:latin typeface="微软雅黑"/>
                <a:ea typeface="微软雅黑"/>
              </a:rPr>
              <a:t>assigned</a:t>
            </a:r>
          </a:p>
        </p:txBody>
      </p:sp>
      <p:cxnSp>
        <p:nvCxnSpPr>
          <p:cNvPr id="17" name="Connector 16"/>
          <p:cNvCxnSpPr/>
          <p:nvPr/>
        </p:nvCxnSpPr>
        <p:spPr>
          <a:xfrm>
            <a:off x="3950208" y="1901952"/>
            <a:ext cx="228600"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980176" y="1572768"/>
            <a:ext cx="1481328" cy="658368"/>
          </a:xfrm>
          <a:prstGeom prst="roundRect">
            <a:avLst>
              <a:gd name="adj" fmla="val 10000"/>
            </a:avLst>
          </a:prstGeom>
          <a:solidFill>
            <a:srgbClr val="DBEAFE"/>
          </a:solidFill>
          <a:ln w="11430">
            <a:solidFill>
              <a:srgbClr val="93C5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980176" y="1682495"/>
            <a:ext cx="1481328" cy="256032"/>
          </a:xfrm>
          <a:prstGeom prst="rect">
            <a:avLst/>
          </a:prstGeom>
          <a:noFill/>
        </p:spPr>
        <p:txBody>
          <a:bodyPr wrap="square" lIns="0" rIns="0" tIns="0" bIns="0" anchor="t">
            <a:spAutoFit/>
          </a:bodyPr>
          <a:lstStyle/>
          <a:p>
            <a:pPr algn="ctr">
              <a:lnSpc>
                <a:spcPct val="112000"/>
              </a:lnSpc>
            </a:pPr>
            <a:r>
              <a:rPr sz="1250" b="1" i="0">
                <a:solidFill>
                  <a:srgbClr val="0B1F3A"/>
                </a:solidFill>
                <a:latin typeface="微软雅黑"/>
                <a:ea typeface="微软雅黑"/>
              </a:rPr>
              <a:t>已接单</a:t>
            </a:r>
          </a:p>
        </p:txBody>
      </p:sp>
      <p:sp>
        <p:nvSpPr>
          <p:cNvPr id="20" name="TextBox 19"/>
          <p:cNvSpPr txBox="1"/>
          <p:nvPr/>
        </p:nvSpPr>
        <p:spPr>
          <a:xfrm>
            <a:off x="5980176" y="1965960"/>
            <a:ext cx="1481328" cy="182880"/>
          </a:xfrm>
          <a:prstGeom prst="rect">
            <a:avLst/>
          </a:prstGeom>
          <a:noFill/>
        </p:spPr>
        <p:txBody>
          <a:bodyPr wrap="square" lIns="0" rIns="0" tIns="0" bIns="0" anchor="t">
            <a:spAutoFit/>
          </a:bodyPr>
          <a:lstStyle/>
          <a:p>
            <a:pPr algn="ctr">
              <a:lnSpc>
                <a:spcPct val="112000"/>
              </a:lnSpc>
            </a:pPr>
            <a:r>
              <a:rPr sz="800" b="0" i="0">
                <a:solidFill>
                  <a:srgbClr val="64748B"/>
                </a:solidFill>
                <a:latin typeface="微软雅黑"/>
                <a:ea typeface="微软雅黑"/>
              </a:rPr>
              <a:t>accepted</a:t>
            </a:r>
          </a:p>
        </p:txBody>
      </p:sp>
      <p:cxnSp>
        <p:nvCxnSpPr>
          <p:cNvPr id="21" name="Connector 20"/>
          <p:cNvCxnSpPr/>
          <p:nvPr/>
        </p:nvCxnSpPr>
        <p:spPr>
          <a:xfrm>
            <a:off x="5724144" y="1901952"/>
            <a:ext cx="228600"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54112" y="1572768"/>
            <a:ext cx="1481328" cy="658368"/>
          </a:xfrm>
          <a:prstGeom prst="roundRect">
            <a:avLst>
              <a:gd name="adj" fmla="val 10000"/>
            </a:avLst>
          </a:prstGeom>
          <a:solidFill>
            <a:srgbClr val="DBEAFE"/>
          </a:solidFill>
          <a:ln w="11430">
            <a:solidFill>
              <a:srgbClr val="93C5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754112" y="1682495"/>
            <a:ext cx="1481328" cy="256032"/>
          </a:xfrm>
          <a:prstGeom prst="rect">
            <a:avLst/>
          </a:prstGeom>
          <a:noFill/>
        </p:spPr>
        <p:txBody>
          <a:bodyPr wrap="square" lIns="0" rIns="0" tIns="0" bIns="0" anchor="t">
            <a:spAutoFit/>
          </a:bodyPr>
          <a:lstStyle/>
          <a:p>
            <a:pPr algn="ctr">
              <a:lnSpc>
                <a:spcPct val="112000"/>
              </a:lnSpc>
            </a:pPr>
            <a:r>
              <a:rPr sz="1250" b="1" i="0">
                <a:solidFill>
                  <a:srgbClr val="0B1F3A"/>
                </a:solidFill>
                <a:latin typeface="微软雅黑"/>
                <a:ea typeface="微软雅黑"/>
              </a:rPr>
              <a:t>处理中</a:t>
            </a:r>
          </a:p>
        </p:txBody>
      </p:sp>
      <p:sp>
        <p:nvSpPr>
          <p:cNvPr id="24" name="TextBox 23"/>
          <p:cNvSpPr txBox="1"/>
          <p:nvPr/>
        </p:nvSpPr>
        <p:spPr>
          <a:xfrm>
            <a:off x="7754112" y="1965960"/>
            <a:ext cx="1481328" cy="182880"/>
          </a:xfrm>
          <a:prstGeom prst="rect">
            <a:avLst/>
          </a:prstGeom>
          <a:noFill/>
        </p:spPr>
        <p:txBody>
          <a:bodyPr wrap="square" lIns="0" rIns="0" tIns="0" bIns="0" anchor="t">
            <a:spAutoFit/>
          </a:bodyPr>
          <a:lstStyle/>
          <a:p>
            <a:pPr algn="ctr">
              <a:lnSpc>
                <a:spcPct val="112000"/>
              </a:lnSpc>
            </a:pPr>
            <a:r>
              <a:rPr sz="800" b="0" i="0">
                <a:solidFill>
                  <a:srgbClr val="64748B"/>
                </a:solidFill>
                <a:latin typeface="微软雅黑"/>
                <a:ea typeface="微软雅黑"/>
              </a:rPr>
              <a:t>processing</a:t>
            </a:r>
          </a:p>
        </p:txBody>
      </p:sp>
      <p:cxnSp>
        <p:nvCxnSpPr>
          <p:cNvPr id="25" name="Connector 24"/>
          <p:cNvCxnSpPr/>
          <p:nvPr/>
        </p:nvCxnSpPr>
        <p:spPr>
          <a:xfrm>
            <a:off x="7498079" y="1901952"/>
            <a:ext cx="228601"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528048" y="1572768"/>
            <a:ext cx="1481328" cy="658368"/>
          </a:xfrm>
          <a:prstGeom prst="roundRect">
            <a:avLst>
              <a:gd name="adj" fmla="val 10000"/>
            </a:avLst>
          </a:prstGeom>
          <a:solidFill>
            <a:srgbClr val="DBEAFE"/>
          </a:solidFill>
          <a:ln w="11430">
            <a:solidFill>
              <a:srgbClr val="93C5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528048" y="1682495"/>
            <a:ext cx="1481328" cy="256032"/>
          </a:xfrm>
          <a:prstGeom prst="rect">
            <a:avLst/>
          </a:prstGeom>
          <a:noFill/>
        </p:spPr>
        <p:txBody>
          <a:bodyPr wrap="square" lIns="0" rIns="0" tIns="0" bIns="0" anchor="t">
            <a:spAutoFit/>
          </a:bodyPr>
          <a:lstStyle/>
          <a:p>
            <a:pPr algn="ctr">
              <a:lnSpc>
                <a:spcPct val="112000"/>
              </a:lnSpc>
            </a:pPr>
            <a:r>
              <a:rPr sz="1250" b="1" i="0">
                <a:solidFill>
                  <a:srgbClr val="0B1F3A"/>
                </a:solidFill>
                <a:latin typeface="微软雅黑"/>
                <a:ea typeface="微软雅黑"/>
              </a:rPr>
              <a:t>已完工</a:t>
            </a:r>
          </a:p>
        </p:txBody>
      </p:sp>
      <p:sp>
        <p:nvSpPr>
          <p:cNvPr id="28" name="TextBox 27"/>
          <p:cNvSpPr txBox="1"/>
          <p:nvPr/>
        </p:nvSpPr>
        <p:spPr>
          <a:xfrm>
            <a:off x="9528048" y="1965960"/>
            <a:ext cx="1481328" cy="182880"/>
          </a:xfrm>
          <a:prstGeom prst="rect">
            <a:avLst/>
          </a:prstGeom>
          <a:noFill/>
        </p:spPr>
        <p:txBody>
          <a:bodyPr wrap="square" lIns="0" rIns="0" tIns="0" bIns="0" anchor="t">
            <a:spAutoFit/>
          </a:bodyPr>
          <a:lstStyle/>
          <a:p>
            <a:pPr algn="ctr">
              <a:lnSpc>
                <a:spcPct val="112000"/>
              </a:lnSpc>
            </a:pPr>
            <a:r>
              <a:rPr sz="800" b="0" i="0">
                <a:solidFill>
                  <a:srgbClr val="64748B"/>
                </a:solidFill>
                <a:latin typeface="微软雅黑"/>
                <a:ea typeface="微软雅黑"/>
              </a:rPr>
              <a:t>completed</a:t>
            </a:r>
          </a:p>
        </p:txBody>
      </p:sp>
      <p:cxnSp>
        <p:nvCxnSpPr>
          <p:cNvPr id="29" name="Connector 28"/>
          <p:cNvCxnSpPr/>
          <p:nvPr/>
        </p:nvCxnSpPr>
        <p:spPr>
          <a:xfrm>
            <a:off x="9272016" y="1901952"/>
            <a:ext cx="228600" cy="0"/>
          </a:xfrm>
          <a:prstGeom prst="line">
            <a:avLst/>
          </a:prstGeom>
          <a:ln w="15240">
            <a:solidFill>
              <a:srgbClr val="94A3B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268712" y="2231136"/>
            <a:ext cx="0" cy="384048"/>
          </a:xfrm>
          <a:prstGeom prst="line">
            <a:avLst/>
          </a:prstGeom>
          <a:ln w="15240">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Diamond 30"/>
          <p:cNvSpPr/>
          <p:nvPr/>
        </p:nvSpPr>
        <p:spPr>
          <a:xfrm>
            <a:off x="9555480" y="2633472"/>
            <a:ext cx="1426464" cy="877824"/>
          </a:xfrm>
          <a:prstGeom prst="diamond">
            <a:avLst/>
          </a:prstGeom>
          <a:solidFill>
            <a:srgbClr val="FEF3C7"/>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11512" y="2871216"/>
            <a:ext cx="914400" cy="228600"/>
          </a:xfrm>
          <a:prstGeom prst="rect">
            <a:avLst/>
          </a:prstGeom>
          <a:noFill/>
        </p:spPr>
        <p:txBody>
          <a:bodyPr wrap="square" lIns="0" rIns="0" tIns="0" bIns="0" anchor="t">
            <a:spAutoFit/>
          </a:bodyPr>
          <a:lstStyle/>
          <a:p>
            <a:pPr algn="ctr">
              <a:lnSpc>
                <a:spcPct val="112000"/>
              </a:lnSpc>
            </a:pPr>
            <a:r>
              <a:rPr sz="1100" b="1" i="0">
                <a:solidFill>
                  <a:srgbClr val="92400E"/>
                </a:solidFill>
                <a:latin typeface="微软雅黑"/>
                <a:ea typeface="微软雅黑"/>
              </a:rPr>
              <a:t>验收</a:t>
            </a:r>
          </a:p>
        </p:txBody>
      </p:sp>
      <p:sp>
        <p:nvSpPr>
          <p:cNvPr id="33" name="TextBox 32"/>
          <p:cNvSpPr txBox="1"/>
          <p:nvPr/>
        </p:nvSpPr>
        <p:spPr>
          <a:xfrm>
            <a:off x="9811512" y="3108960"/>
            <a:ext cx="914400" cy="182880"/>
          </a:xfrm>
          <a:prstGeom prst="rect">
            <a:avLst/>
          </a:prstGeom>
          <a:noFill/>
        </p:spPr>
        <p:txBody>
          <a:bodyPr wrap="square" lIns="0" rIns="0" tIns="0" bIns="0" anchor="t">
            <a:spAutoFit/>
          </a:bodyPr>
          <a:lstStyle/>
          <a:p>
            <a:pPr algn="ctr">
              <a:lnSpc>
                <a:spcPct val="112000"/>
              </a:lnSpc>
            </a:pPr>
            <a:r>
              <a:rPr sz="850" b="0" i="0">
                <a:solidFill>
                  <a:srgbClr val="92400E"/>
                </a:solidFill>
                <a:latin typeface="微软雅黑"/>
                <a:ea typeface="微软雅黑"/>
              </a:rPr>
              <a:t>5 项检查</a:t>
            </a:r>
          </a:p>
        </p:txBody>
      </p:sp>
      <p:sp>
        <p:nvSpPr>
          <p:cNvPr id="34" name="Rounded Rectangle 33"/>
          <p:cNvSpPr/>
          <p:nvPr/>
        </p:nvSpPr>
        <p:spPr>
          <a:xfrm>
            <a:off x="8028432" y="2834640"/>
            <a:ext cx="1417320" cy="621792"/>
          </a:xfrm>
          <a:prstGeom prst="roundRect">
            <a:avLst>
              <a:gd name="adj" fmla="val 10000"/>
            </a:avLst>
          </a:prstGeom>
          <a:solidFill>
            <a:srgbClr val="FEE2E2"/>
          </a:solidFill>
          <a:ln w="11430">
            <a:solidFill>
              <a:srgbClr val="FCA5A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028432" y="2926080"/>
            <a:ext cx="1417320" cy="228600"/>
          </a:xfrm>
          <a:prstGeom prst="rect">
            <a:avLst/>
          </a:prstGeom>
          <a:noFill/>
        </p:spPr>
        <p:txBody>
          <a:bodyPr wrap="square" lIns="0" rIns="0" tIns="0" bIns="0" anchor="t">
            <a:spAutoFit/>
          </a:bodyPr>
          <a:lstStyle/>
          <a:p>
            <a:pPr algn="ctr">
              <a:lnSpc>
                <a:spcPct val="112000"/>
              </a:lnSpc>
            </a:pPr>
            <a:r>
              <a:rPr sz="1100" b="1" i="0">
                <a:solidFill>
                  <a:srgbClr val="991B1B"/>
                </a:solidFill>
                <a:latin typeface="微软雅黑"/>
                <a:ea typeface="微软雅黑"/>
              </a:rPr>
              <a:t>退回整改</a:t>
            </a:r>
          </a:p>
        </p:txBody>
      </p:sp>
      <p:sp>
        <p:nvSpPr>
          <p:cNvPr id="36" name="TextBox 35"/>
          <p:cNvSpPr txBox="1"/>
          <p:nvPr/>
        </p:nvSpPr>
        <p:spPr>
          <a:xfrm>
            <a:off x="8028432" y="3172968"/>
            <a:ext cx="1417320" cy="164592"/>
          </a:xfrm>
          <a:prstGeom prst="rect">
            <a:avLst/>
          </a:prstGeom>
          <a:noFill/>
        </p:spPr>
        <p:txBody>
          <a:bodyPr wrap="square" lIns="0" rIns="0" tIns="0" bIns="0" anchor="t">
            <a:spAutoFit/>
          </a:bodyPr>
          <a:lstStyle/>
          <a:p>
            <a:pPr algn="ctr">
              <a:lnSpc>
                <a:spcPct val="112000"/>
              </a:lnSpc>
            </a:pPr>
            <a:r>
              <a:rPr sz="800" b="0" i="0">
                <a:solidFill>
                  <a:srgbClr val="991B1B"/>
                </a:solidFill>
                <a:latin typeface="微软雅黑"/>
                <a:ea typeface="微软雅黑"/>
              </a:rPr>
              <a:t>returned</a:t>
            </a:r>
          </a:p>
        </p:txBody>
      </p:sp>
      <p:cxnSp>
        <p:nvCxnSpPr>
          <p:cNvPr id="37" name="Connector 36"/>
          <p:cNvCxnSpPr/>
          <p:nvPr/>
        </p:nvCxnSpPr>
        <p:spPr>
          <a:xfrm flipH="1">
            <a:off x="9464040" y="3072384"/>
            <a:ext cx="91440" cy="0"/>
          </a:xfrm>
          <a:prstGeom prst="line">
            <a:avLst/>
          </a:prstGeom>
          <a:ln w="16510">
            <a:solidFill>
              <a:srgbClr val="EF44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592056" y="2761488"/>
            <a:ext cx="640080" cy="201168"/>
          </a:xfrm>
          <a:prstGeom prst="rect">
            <a:avLst/>
          </a:prstGeom>
          <a:noFill/>
        </p:spPr>
        <p:txBody>
          <a:bodyPr wrap="square" lIns="0" rIns="0" tIns="0" bIns="0" anchor="t">
            <a:spAutoFit/>
          </a:bodyPr>
          <a:lstStyle/>
          <a:p>
            <a:pPr algn="l">
              <a:lnSpc>
                <a:spcPct val="112000"/>
              </a:lnSpc>
            </a:pPr>
            <a:r>
              <a:rPr sz="850" b="1" i="0">
                <a:solidFill>
                  <a:srgbClr val="EF4444"/>
                </a:solidFill>
                <a:latin typeface="微软雅黑"/>
                <a:ea typeface="微软雅黑"/>
              </a:rPr>
              <a:t>退回</a:t>
            </a:r>
          </a:p>
        </p:txBody>
      </p:sp>
      <p:cxnSp>
        <p:nvCxnSpPr>
          <p:cNvPr id="39" name="Connector 38"/>
          <p:cNvCxnSpPr/>
          <p:nvPr/>
        </p:nvCxnSpPr>
        <p:spPr>
          <a:xfrm flipV="1">
            <a:off x="8732520" y="2258568"/>
            <a:ext cx="0" cy="576072"/>
          </a:xfrm>
          <a:prstGeom prst="line">
            <a:avLst/>
          </a:prstGeom>
          <a:ln w="16510">
            <a:solidFill>
              <a:srgbClr val="EF44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833104" y="2542032"/>
            <a:ext cx="1554480" cy="201168"/>
          </a:xfrm>
          <a:prstGeom prst="rect">
            <a:avLst/>
          </a:prstGeom>
          <a:noFill/>
        </p:spPr>
        <p:txBody>
          <a:bodyPr wrap="square" lIns="0" rIns="0" tIns="0" bIns="0" anchor="t">
            <a:spAutoFit/>
          </a:bodyPr>
          <a:lstStyle/>
          <a:p>
            <a:pPr algn="l">
              <a:lnSpc>
                <a:spcPct val="112000"/>
              </a:lnSpc>
            </a:pPr>
            <a:r>
              <a:rPr sz="850" b="1" i="0">
                <a:solidFill>
                  <a:srgbClr val="EF4444"/>
                </a:solidFill>
                <a:latin typeface="微软雅黑"/>
                <a:ea typeface="微软雅黑"/>
              </a:rPr>
              <a:t>补充材料重新提交</a:t>
            </a:r>
          </a:p>
        </p:txBody>
      </p:sp>
      <p:sp>
        <p:nvSpPr>
          <p:cNvPr id="41" name="Rounded Rectangle 40"/>
          <p:cNvSpPr/>
          <p:nvPr/>
        </p:nvSpPr>
        <p:spPr>
          <a:xfrm>
            <a:off x="9537192" y="3822191"/>
            <a:ext cx="1463040" cy="603504"/>
          </a:xfrm>
          <a:prstGeom prst="roundRect">
            <a:avLst>
              <a:gd name="adj" fmla="val 10000"/>
            </a:avLst>
          </a:prstGeom>
          <a:solidFill>
            <a:srgbClr val="DCFCE7"/>
          </a:solidFill>
          <a:ln w="11430">
            <a:solidFill>
              <a:srgbClr val="86EFA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537192" y="3904487"/>
            <a:ext cx="1463040" cy="228600"/>
          </a:xfrm>
          <a:prstGeom prst="rect">
            <a:avLst/>
          </a:prstGeom>
          <a:noFill/>
        </p:spPr>
        <p:txBody>
          <a:bodyPr wrap="square" lIns="0" rIns="0" tIns="0" bIns="0" anchor="t">
            <a:spAutoFit/>
          </a:bodyPr>
          <a:lstStyle/>
          <a:p>
            <a:pPr algn="ctr">
              <a:lnSpc>
                <a:spcPct val="112000"/>
              </a:lnSpc>
            </a:pPr>
            <a:r>
              <a:rPr sz="1150" b="1" i="0">
                <a:solidFill>
                  <a:srgbClr val="166534"/>
                </a:solidFill>
                <a:latin typeface="微软雅黑"/>
                <a:ea typeface="微软雅黑"/>
              </a:rPr>
              <a:t>已闭环</a:t>
            </a:r>
          </a:p>
        </p:txBody>
      </p:sp>
      <p:sp>
        <p:nvSpPr>
          <p:cNvPr id="43" name="TextBox 42"/>
          <p:cNvSpPr txBox="1"/>
          <p:nvPr/>
        </p:nvSpPr>
        <p:spPr>
          <a:xfrm>
            <a:off x="9537192" y="4160520"/>
            <a:ext cx="1463040" cy="164592"/>
          </a:xfrm>
          <a:prstGeom prst="rect">
            <a:avLst/>
          </a:prstGeom>
          <a:noFill/>
        </p:spPr>
        <p:txBody>
          <a:bodyPr wrap="square" lIns="0" rIns="0" tIns="0" bIns="0" anchor="t">
            <a:spAutoFit/>
          </a:bodyPr>
          <a:lstStyle/>
          <a:p>
            <a:pPr algn="ctr">
              <a:lnSpc>
                <a:spcPct val="112000"/>
              </a:lnSpc>
            </a:pPr>
            <a:r>
              <a:rPr sz="800" b="0" i="0">
                <a:solidFill>
                  <a:srgbClr val="166534"/>
                </a:solidFill>
                <a:latin typeface="微软雅黑"/>
                <a:ea typeface="微软雅黑"/>
              </a:rPr>
              <a:t>closed</a:t>
            </a:r>
          </a:p>
        </p:txBody>
      </p:sp>
      <p:cxnSp>
        <p:nvCxnSpPr>
          <p:cNvPr id="44" name="Connector 43"/>
          <p:cNvCxnSpPr/>
          <p:nvPr/>
        </p:nvCxnSpPr>
        <p:spPr>
          <a:xfrm>
            <a:off x="10268712" y="3511296"/>
            <a:ext cx="0" cy="292608"/>
          </a:xfrm>
          <a:prstGeom prst="line">
            <a:avLst/>
          </a:prstGeom>
          <a:ln w="1651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0360152" y="3602736"/>
            <a:ext cx="777240" cy="201168"/>
          </a:xfrm>
          <a:prstGeom prst="rect">
            <a:avLst/>
          </a:prstGeom>
          <a:noFill/>
        </p:spPr>
        <p:txBody>
          <a:bodyPr wrap="square" lIns="0" rIns="0" tIns="0" bIns="0" anchor="t">
            <a:spAutoFit/>
          </a:bodyPr>
          <a:lstStyle/>
          <a:p>
            <a:pPr algn="l">
              <a:lnSpc>
                <a:spcPct val="112000"/>
              </a:lnSpc>
            </a:pPr>
            <a:r>
              <a:rPr sz="850" b="1" i="0">
                <a:solidFill>
                  <a:srgbClr val="047857"/>
                </a:solidFill>
                <a:latin typeface="微软雅黑"/>
                <a:ea typeface="微软雅黑"/>
              </a:rPr>
              <a:t>验收通过</a:t>
            </a:r>
          </a:p>
        </p:txBody>
      </p:sp>
      <p:sp>
        <p:nvSpPr>
          <p:cNvPr id="46" name="TextBox 45"/>
          <p:cNvSpPr txBox="1"/>
          <p:nvPr/>
        </p:nvSpPr>
        <p:spPr>
          <a:xfrm>
            <a:off x="685800" y="4553712"/>
            <a:ext cx="6035040" cy="1554480"/>
          </a:xfrm>
          <a:prstGeom prst="rect">
            <a:avLst/>
          </a:prstGeom>
          <a:noFill/>
        </p:spPr>
        <p:txBody>
          <a:bodyPr wrap="square" lIns="0" rIns="0" tIns="0" bIns="0" anchor="t">
            <a:spAutoFit/>
          </a:bodyPr>
          <a:lstStyle/>
          <a:p>
            <a:pPr marL="201168" indent="-201168">
              <a:lnSpc>
                <a:spcPct val="115000"/>
              </a:lnSpc>
              <a:spcAft>
                <a:spcPts val="400"/>
              </a:spcAft>
            </a:pPr>
            <a:r>
              <a:rPr sz="1400" b="1" i="0">
                <a:solidFill>
                  <a:srgbClr val="2563EB"/>
                </a:solidFill>
                <a:latin typeface="微软雅黑"/>
                <a:ea typeface="微软雅黑"/>
              </a:rPr>
              <a:t>•  </a:t>
            </a:r>
            <a:r>
              <a:rPr sz="1400" b="0" i="0">
                <a:solidFill>
                  <a:srgbClr val="0B1F3A"/>
                </a:solidFill>
                <a:latin typeface="微软雅黑"/>
                <a:ea typeface="微软雅黑"/>
              </a:rPr>
              <a:t>每次迁移写 ticket_events：actor / from / to / summary</a:t>
            </a:r>
          </a:p>
          <a:p>
            <a:pPr marL="201168" indent="-201168">
              <a:lnSpc>
                <a:spcPct val="115000"/>
              </a:lnSpc>
              <a:spcAft>
                <a:spcPts val="400"/>
              </a:spcAft>
            </a:pPr>
            <a:r>
              <a:rPr sz="1400" b="1" i="0">
                <a:solidFill>
                  <a:srgbClr val="2563EB"/>
                </a:solidFill>
                <a:latin typeface="微软雅黑"/>
                <a:ea typeface="微软雅黑"/>
              </a:rPr>
              <a:t>•  </a:t>
            </a:r>
            <a:r>
              <a:rPr sz="1400" b="0" i="0">
                <a:solidFill>
                  <a:srgbClr val="0B1F3A"/>
                </a:solidFill>
                <a:latin typeface="微软雅黑"/>
                <a:ea typeface="微软雅黑"/>
              </a:rPr>
              <a:t>验收退回不关闭工单，补充材料后重新提交</a:t>
            </a:r>
          </a:p>
          <a:p>
            <a:pPr marL="201168" indent="-201168">
              <a:lnSpc>
                <a:spcPct val="115000"/>
              </a:lnSpc>
              <a:spcAft>
                <a:spcPts val="400"/>
              </a:spcAft>
            </a:pPr>
            <a:r>
              <a:rPr sz="1400" b="1" i="0">
                <a:solidFill>
                  <a:srgbClr val="2563EB"/>
                </a:solidFill>
                <a:latin typeface="微软雅黑"/>
                <a:ea typeface="微软雅黑"/>
              </a:rPr>
              <a:t>•  </a:t>
            </a:r>
            <a:r>
              <a:rPr sz="1400" b="0" i="0">
                <a:solidFill>
                  <a:srgbClr val="0B1F3A"/>
                </a:solidFill>
                <a:latin typeface="微软雅黑"/>
                <a:ea typeface="微软雅黑"/>
              </a:rPr>
              <a:t>人工改派重置接单与处理时限，写 manual_reassign</a:t>
            </a:r>
          </a:p>
          <a:p>
            <a:pPr marL="201168" indent="-201168">
              <a:lnSpc>
                <a:spcPct val="115000"/>
              </a:lnSpc>
              <a:spcAft>
                <a:spcPts val="400"/>
              </a:spcAft>
            </a:pPr>
            <a:r>
              <a:rPr sz="1400" b="1" i="0">
                <a:solidFill>
                  <a:srgbClr val="2563EB"/>
                </a:solidFill>
                <a:latin typeface="微软雅黑"/>
                <a:ea typeface="微软雅黑"/>
              </a:rPr>
              <a:t>•  </a:t>
            </a:r>
            <a:r>
              <a:rPr sz="1400" b="0" i="0">
                <a:solidFill>
                  <a:srgbClr val="0B1F3A"/>
                </a:solidFill>
                <a:latin typeface="微软雅黑"/>
                <a:ea typeface="微软雅黑"/>
              </a:rPr>
              <a:t>时间可注入：单元测试与演示复用同一时间线</a:t>
            </a:r>
          </a:p>
        </p:txBody>
      </p:sp>
      <p:sp>
        <p:nvSpPr>
          <p:cNvPr id="47" name="Rounded Rectangle 46"/>
          <p:cNvSpPr/>
          <p:nvPr/>
        </p:nvSpPr>
        <p:spPr>
          <a:xfrm>
            <a:off x="6903720" y="4498848"/>
            <a:ext cx="4526280" cy="123444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7132320" y="4626864"/>
            <a:ext cx="2011680" cy="256032"/>
          </a:xfrm>
          <a:prstGeom prst="rect">
            <a:avLst/>
          </a:prstGeom>
          <a:noFill/>
        </p:spPr>
        <p:txBody>
          <a:bodyPr wrap="square" lIns="0" rIns="0" tIns="0" bIns="0" anchor="t">
            <a:spAutoFit/>
          </a:bodyPr>
          <a:lstStyle/>
          <a:p>
            <a:pPr algn="l">
              <a:lnSpc>
                <a:spcPct val="112000"/>
              </a:lnSpc>
            </a:pPr>
            <a:r>
              <a:rPr sz="1400" b="1" i="0">
                <a:solidFill>
                  <a:srgbClr val="67E8F9"/>
                </a:solidFill>
                <a:latin typeface="微软雅黑"/>
                <a:ea typeface="微软雅黑"/>
              </a:rPr>
              <a:t>状态可回放</a:t>
            </a:r>
          </a:p>
        </p:txBody>
      </p:sp>
      <p:sp>
        <p:nvSpPr>
          <p:cNvPr id="49" name="TextBox 48"/>
          <p:cNvSpPr txBox="1"/>
          <p:nvPr/>
        </p:nvSpPr>
        <p:spPr>
          <a:xfrm>
            <a:off x="7132320" y="4937760"/>
            <a:ext cx="4114800" cy="640080"/>
          </a:xfrm>
          <a:prstGeom prst="rect">
            <a:avLst/>
          </a:prstGeom>
          <a:noFill/>
        </p:spPr>
        <p:txBody>
          <a:bodyPr wrap="square" lIns="0" rIns="0" tIns="0" bIns="0" anchor="t">
            <a:spAutoFit/>
          </a:bodyPr>
          <a:lstStyle/>
          <a:p>
            <a:pPr algn="l">
              <a:lnSpc>
                <a:spcPct val="130000"/>
              </a:lnSpc>
            </a:pPr>
            <a:r>
              <a:rPr sz="1150" b="0" i="0">
                <a:solidFill>
                  <a:srgbClr val="CBD5E1"/>
                </a:solidFill>
                <a:latin typeface="微软雅黑"/>
                <a:ea typeface="微软雅黑"/>
              </a:rPr>
              <a:t>打开任意工单，可查看完整事件时间线、
每个 Agent 的 rationale 与预警记录。</a:t>
            </a:r>
          </a:p>
        </p:txBody>
      </p:sp>
      <p:sp>
        <p:nvSpPr>
          <p:cNvPr id="50" name="Rectangle 49"/>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52" name="TextBox 51"/>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08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05 / 核心演示</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一条工单的 45 分钟闭环时间线</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T+00 理解派单 → T+25 接单超时 → T+35 升级 → T+38 退回 → T+45 闭环</a:t>
            </a:r>
          </a:p>
        </p:txBody>
      </p:sp>
      <p:sp>
        <p:nvSpPr>
          <p:cNvPr id="7" name="Rectangle 6"/>
          <p:cNvSpPr/>
          <p:nvPr/>
        </p:nvSpPr>
        <p:spPr>
          <a:xfrm>
            <a:off x="868680" y="1865376"/>
            <a:ext cx="9784080" cy="320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868680" y="1865376"/>
            <a:ext cx="9784080" cy="3200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59536" y="1764792"/>
            <a:ext cx="219456" cy="219456"/>
          </a:xfrm>
          <a:prstGeom prst="ellipse">
            <a:avLst/>
          </a:prstGeom>
          <a:solidFill>
            <a:srgbClr val="2563EB"/>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29768" y="1353312"/>
            <a:ext cx="1097280" cy="274320"/>
          </a:xfrm>
          <a:prstGeom prst="rect">
            <a:avLst/>
          </a:prstGeom>
          <a:noFill/>
        </p:spPr>
        <p:txBody>
          <a:bodyPr wrap="square" lIns="0" rIns="0" tIns="0" bIns="0" anchor="t">
            <a:spAutoFit/>
          </a:bodyPr>
          <a:lstStyle/>
          <a:p>
            <a:pPr algn="ctr">
              <a:lnSpc>
                <a:spcPct val="112000"/>
              </a:lnSpc>
            </a:pPr>
            <a:r>
              <a:rPr sz="1350" b="1" i="0">
                <a:solidFill>
                  <a:srgbClr val="2563EB"/>
                </a:solidFill>
                <a:latin typeface="微软雅黑"/>
                <a:ea typeface="微软雅黑"/>
              </a:rPr>
              <a:t>T+00</a:t>
            </a:r>
          </a:p>
        </p:txBody>
      </p:sp>
      <p:sp>
        <p:nvSpPr>
          <p:cNvPr id="11" name="TextBox 10"/>
          <p:cNvSpPr txBox="1"/>
          <p:nvPr/>
        </p:nvSpPr>
        <p:spPr>
          <a:xfrm>
            <a:off x="118872" y="2029968"/>
            <a:ext cx="1700784" cy="256032"/>
          </a:xfrm>
          <a:prstGeom prst="rect">
            <a:avLst/>
          </a:prstGeom>
          <a:noFill/>
        </p:spPr>
        <p:txBody>
          <a:bodyPr wrap="square" lIns="0" rIns="0" tIns="0" bIns="0" anchor="t">
            <a:spAutoFit/>
          </a:bodyPr>
          <a:lstStyle/>
          <a:p>
            <a:pPr algn="ctr">
              <a:lnSpc>
                <a:spcPct val="112000"/>
              </a:lnSpc>
            </a:pPr>
            <a:r>
              <a:rPr sz="1100" b="1" i="0">
                <a:solidFill>
                  <a:srgbClr val="0B1F3A"/>
                </a:solidFill>
                <a:latin typeface="微软雅黑"/>
                <a:ea typeface="微软雅黑"/>
              </a:rPr>
              <a:t>理解 + 派单</a:t>
            </a:r>
          </a:p>
        </p:txBody>
      </p:sp>
      <p:sp>
        <p:nvSpPr>
          <p:cNvPr id="12" name="TextBox 11"/>
          <p:cNvSpPr txBox="1"/>
          <p:nvPr/>
        </p:nvSpPr>
        <p:spPr>
          <a:xfrm>
            <a:off x="118872" y="2304288"/>
            <a:ext cx="1700784" cy="219456"/>
          </a:xfrm>
          <a:prstGeom prst="rect">
            <a:avLst/>
          </a:prstGeom>
          <a:noFill/>
        </p:spPr>
        <p:txBody>
          <a:bodyPr wrap="square" lIns="0" rIns="0" tIns="0" bIns="0" anchor="t">
            <a:spAutoFit/>
          </a:bodyPr>
          <a:lstStyle/>
          <a:p>
            <a:pPr algn="ctr">
              <a:lnSpc>
                <a:spcPct val="112000"/>
              </a:lnSpc>
            </a:pPr>
            <a:r>
              <a:rPr sz="850" b="0" i="0">
                <a:solidFill>
                  <a:srgbClr val="64748B"/>
                </a:solidFill>
                <a:latin typeface="微软雅黑"/>
                <a:ea typeface="微软雅黑"/>
              </a:rPr>
              <a:t>王建国 / 30 分钟</a:t>
            </a:r>
          </a:p>
        </p:txBody>
      </p:sp>
      <p:sp>
        <p:nvSpPr>
          <p:cNvPr id="13" name="Oval 12"/>
          <p:cNvSpPr/>
          <p:nvPr/>
        </p:nvSpPr>
        <p:spPr>
          <a:xfrm>
            <a:off x="2706624" y="1764792"/>
            <a:ext cx="219456" cy="219456"/>
          </a:xfrm>
          <a:prstGeom prst="ellipse">
            <a:avLst/>
          </a:prstGeom>
          <a:solidFill>
            <a:srgbClr val="F59E0B"/>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276856" y="1353312"/>
            <a:ext cx="1097280" cy="274320"/>
          </a:xfrm>
          <a:prstGeom prst="rect">
            <a:avLst/>
          </a:prstGeom>
          <a:noFill/>
        </p:spPr>
        <p:txBody>
          <a:bodyPr wrap="square" lIns="0" rIns="0" tIns="0" bIns="0" anchor="t">
            <a:spAutoFit/>
          </a:bodyPr>
          <a:lstStyle/>
          <a:p>
            <a:pPr algn="ctr">
              <a:lnSpc>
                <a:spcPct val="112000"/>
              </a:lnSpc>
            </a:pPr>
            <a:r>
              <a:rPr sz="1350" b="1" i="0">
                <a:solidFill>
                  <a:srgbClr val="F59E0B"/>
                </a:solidFill>
                <a:latin typeface="微软雅黑"/>
                <a:ea typeface="微软雅黑"/>
              </a:rPr>
              <a:t>T+25</a:t>
            </a:r>
          </a:p>
        </p:txBody>
      </p:sp>
      <p:sp>
        <p:nvSpPr>
          <p:cNvPr id="15" name="TextBox 14"/>
          <p:cNvSpPr txBox="1"/>
          <p:nvPr/>
        </p:nvSpPr>
        <p:spPr>
          <a:xfrm>
            <a:off x="1965960" y="2029968"/>
            <a:ext cx="1700784" cy="256032"/>
          </a:xfrm>
          <a:prstGeom prst="rect">
            <a:avLst/>
          </a:prstGeom>
          <a:noFill/>
        </p:spPr>
        <p:txBody>
          <a:bodyPr wrap="square" lIns="0" rIns="0" tIns="0" bIns="0" anchor="t">
            <a:spAutoFit/>
          </a:bodyPr>
          <a:lstStyle/>
          <a:p>
            <a:pPr algn="ctr">
              <a:lnSpc>
                <a:spcPct val="112000"/>
              </a:lnSpc>
            </a:pPr>
            <a:r>
              <a:rPr sz="1100" b="1" i="0">
                <a:solidFill>
                  <a:srgbClr val="0B1F3A"/>
                </a:solidFill>
                <a:latin typeface="微软雅黑"/>
                <a:ea typeface="微软雅黑"/>
              </a:rPr>
              <a:t>接单超时</a:t>
            </a:r>
          </a:p>
        </p:txBody>
      </p:sp>
      <p:sp>
        <p:nvSpPr>
          <p:cNvPr id="16" name="TextBox 15"/>
          <p:cNvSpPr txBox="1"/>
          <p:nvPr/>
        </p:nvSpPr>
        <p:spPr>
          <a:xfrm>
            <a:off x="1965960" y="2304288"/>
            <a:ext cx="1700784" cy="219456"/>
          </a:xfrm>
          <a:prstGeom prst="rect">
            <a:avLst/>
          </a:prstGeom>
          <a:noFill/>
        </p:spPr>
        <p:txBody>
          <a:bodyPr wrap="square" lIns="0" rIns="0" tIns="0" bIns="0" anchor="t">
            <a:spAutoFit/>
          </a:bodyPr>
          <a:lstStyle/>
          <a:p>
            <a:pPr algn="ctr">
              <a:lnSpc>
                <a:spcPct val="112000"/>
              </a:lnSpc>
            </a:pPr>
            <a:r>
              <a:rPr sz="850" b="0" i="0">
                <a:solidFill>
                  <a:srgbClr val="64748B"/>
                </a:solidFill>
                <a:latin typeface="微软雅黑"/>
                <a:ea typeface="微软雅黑"/>
              </a:rPr>
              <a:t>L1 提醒维修工</a:t>
            </a:r>
          </a:p>
        </p:txBody>
      </p:sp>
      <p:sp>
        <p:nvSpPr>
          <p:cNvPr id="17" name="Oval 16"/>
          <p:cNvSpPr/>
          <p:nvPr/>
        </p:nvSpPr>
        <p:spPr>
          <a:xfrm>
            <a:off x="4553712" y="1764792"/>
            <a:ext cx="219456" cy="219456"/>
          </a:xfrm>
          <a:prstGeom prst="ellipse">
            <a:avLst/>
          </a:prstGeom>
          <a:solidFill>
            <a:srgbClr val="2563EB"/>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123944" y="1353312"/>
            <a:ext cx="1097280" cy="274320"/>
          </a:xfrm>
          <a:prstGeom prst="rect">
            <a:avLst/>
          </a:prstGeom>
          <a:noFill/>
        </p:spPr>
        <p:txBody>
          <a:bodyPr wrap="square" lIns="0" rIns="0" tIns="0" bIns="0" anchor="t">
            <a:spAutoFit/>
          </a:bodyPr>
          <a:lstStyle/>
          <a:p>
            <a:pPr algn="ctr">
              <a:lnSpc>
                <a:spcPct val="112000"/>
              </a:lnSpc>
            </a:pPr>
            <a:r>
              <a:rPr sz="1350" b="1" i="0">
                <a:solidFill>
                  <a:srgbClr val="2563EB"/>
                </a:solidFill>
                <a:latin typeface="微软雅黑"/>
                <a:ea typeface="微软雅黑"/>
              </a:rPr>
              <a:t>T+26</a:t>
            </a:r>
          </a:p>
        </p:txBody>
      </p:sp>
      <p:sp>
        <p:nvSpPr>
          <p:cNvPr id="19" name="TextBox 18"/>
          <p:cNvSpPr txBox="1"/>
          <p:nvPr/>
        </p:nvSpPr>
        <p:spPr>
          <a:xfrm>
            <a:off x="3813048" y="2029968"/>
            <a:ext cx="1700784" cy="256032"/>
          </a:xfrm>
          <a:prstGeom prst="rect">
            <a:avLst/>
          </a:prstGeom>
          <a:noFill/>
        </p:spPr>
        <p:txBody>
          <a:bodyPr wrap="square" lIns="0" rIns="0" tIns="0" bIns="0" anchor="t">
            <a:spAutoFit/>
          </a:bodyPr>
          <a:lstStyle/>
          <a:p>
            <a:pPr algn="ctr">
              <a:lnSpc>
                <a:spcPct val="112000"/>
              </a:lnSpc>
            </a:pPr>
            <a:r>
              <a:rPr sz="1100" b="1" i="0">
                <a:solidFill>
                  <a:srgbClr val="0B1F3A"/>
                </a:solidFill>
                <a:latin typeface="微软雅黑"/>
                <a:ea typeface="微软雅黑"/>
              </a:rPr>
              <a:t>维修工接单</a:t>
            </a:r>
          </a:p>
        </p:txBody>
      </p:sp>
      <p:sp>
        <p:nvSpPr>
          <p:cNvPr id="20" name="TextBox 19"/>
          <p:cNvSpPr txBox="1"/>
          <p:nvPr/>
        </p:nvSpPr>
        <p:spPr>
          <a:xfrm>
            <a:off x="3813048" y="2304288"/>
            <a:ext cx="1700784" cy="219456"/>
          </a:xfrm>
          <a:prstGeom prst="rect">
            <a:avLst/>
          </a:prstGeom>
          <a:noFill/>
        </p:spPr>
        <p:txBody>
          <a:bodyPr wrap="square" lIns="0" rIns="0" tIns="0" bIns="0" anchor="t">
            <a:spAutoFit/>
          </a:bodyPr>
          <a:lstStyle/>
          <a:p>
            <a:pPr algn="ctr">
              <a:lnSpc>
                <a:spcPct val="112000"/>
              </a:lnSpc>
            </a:pPr>
            <a:r>
              <a:rPr sz="850" b="0" i="0">
                <a:solidFill>
                  <a:srgbClr val="64748B"/>
                </a:solidFill>
                <a:latin typeface="微软雅黑"/>
                <a:ea typeface="微软雅黑"/>
              </a:rPr>
              <a:t>响应 26 分钟</a:t>
            </a:r>
          </a:p>
        </p:txBody>
      </p:sp>
      <p:sp>
        <p:nvSpPr>
          <p:cNvPr id="21" name="Oval 20"/>
          <p:cNvSpPr/>
          <p:nvPr/>
        </p:nvSpPr>
        <p:spPr>
          <a:xfrm>
            <a:off x="6400800" y="1764792"/>
            <a:ext cx="219456" cy="219456"/>
          </a:xfrm>
          <a:prstGeom prst="ellipse">
            <a:avLst/>
          </a:prstGeom>
          <a:solidFill>
            <a:srgbClr val="EF4444"/>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971032" y="1353312"/>
            <a:ext cx="1097280" cy="274320"/>
          </a:xfrm>
          <a:prstGeom prst="rect">
            <a:avLst/>
          </a:prstGeom>
          <a:noFill/>
        </p:spPr>
        <p:txBody>
          <a:bodyPr wrap="square" lIns="0" rIns="0" tIns="0" bIns="0" anchor="t">
            <a:spAutoFit/>
          </a:bodyPr>
          <a:lstStyle/>
          <a:p>
            <a:pPr algn="ctr">
              <a:lnSpc>
                <a:spcPct val="112000"/>
              </a:lnSpc>
            </a:pPr>
            <a:r>
              <a:rPr sz="1350" b="1" i="0">
                <a:solidFill>
                  <a:srgbClr val="EF4444"/>
                </a:solidFill>
                <a:latin typeface="微软雅黑"/>
                <a:ea typeface="微软雅黑"/>
              </a:rPr>
              <a:t>T+35</a:t>
            </a:r>
          </a:p>
        </p:txBody>
      </p:sp>
      <p:sp>
        <p:nvSpPr>
          <p:cNvPr id="23" name="TextBox 22"/>
          <p:cNvSpPr txBox="1"/>
          <p:nvPr/>
        </p:nvSpPr>
        <p:spPr>
          <a:xfrm>
            <a:off x="5660136" y="2029968"/>
            <a:ext cx="1700784" cy="256032"/>
          </a:xfrm>
          <a:prstGeom prst="rect">
            <a:avLst/>
          </a:prstGeom>
          <a:noFill/>
        </p:spPr>
        <p:txBody>
          <a:bodyPr wrap="square" lIns="0" rIns="0" tIns="0" bIns="0" anchor="t">
            <a:spAutoFit/>
          </a:bodyPr>
          <a:lstStyle/>
          <a:p>
            <a:pPr algn="ctr">
              <a:lnSpc>
                <a:spcPct val="112000"/>
              </a:lnSpc>
            </a:pPr>
            <a:r>
              <a:rPr sz="1100" b="1" i="0">
                <a:solidFill>
                  <a:srgbClr val="0B1F3A"/>
                </a:solidFill>
                <a:latin typeface="微软雅黑"/>
                <a:ea typeface="微软雅黑"/>
              </a:rPr>
              <a:t>处理超时</a:t>
            </a:r>
          </a:p>
        </p:txBody>
      </p:sp>
      <p:sp>
        <p:nvSpPr>
          <p:cNvPr id="24" name="TextBox 23"/>
          <p:cNvSpPr txBox="1"/>
          <p:nvPr/>
        </p:nvSpPr>
        <p:spPr>
          <a:xfrm>
            <a:off x="5660136" y="2304288"/>
            <a:ext cx="1700784" cy="219456"/>
          </a:xfrm>
          <a:prstGeom prst="rect">
            <a:avLst/>
          </a:prstGeom>
          <a:noFill/>
        </p:spPr>
        <p:txBody>
          <a:bodyPr wrap="square" lIns="0" rIns="0" tIns="0" bIns="0" anchor="t">
            <a:spAutoFit/>
          </a:bodyPr>
          <a:lstStyle/>
          <a:p>
            <a:pPr algn="ctr">
              <a:lnSpc>
                <a:spcPct val="112000"/>
              </a:lnSpc>
            </a:pPr>
            <a:r>
              <a:rPr sz="850" b="0" i="0">
                <a:solidFill>
                  <a:srgbClr val="64748B"/>
                </a:solidFill>
                <a:latin typeface="微软雅黑"/>
                <a:ea typeface="微软雅黑"/>
              </a:rPr>
              <a:t>L2 升级主管</a:t>
            </a:r>
          </a:p>
        </p:txBody>
      </p:sp>
      <p:sp>
        <p:nvSpPr>
          <p:cNvPr id="25" name="Oval 24"/>
          <p:cNvSpPr/>
          <p:nvPr/>
        </p:nvSpPr>
        <p:spPr>
          <a:xfrm>
            <a:off x="8247888" y="1764792"/>
            <a:ext cx="219456" cy="219456"/>
          </a:xfrm>
          <a:prstGeom prst="ellipse">
            <a:avLst/>
          </a:prstGeom>
          <a:solidFill>
            <a:srgbClr val="EF4444"/>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818120" y="1353312"/>
            <a:ext cx="1097280" cy="274320"/>
          </a:xfrm>
          <a:prstGeom prst="rect">
            <a:avLst/>
          </a:prstGeom>
          <a:noFill/>
        </p:spPr>
        <p:txBody>
          <a:bodyPr wrap="square" lIns="0" rIns="0" tIns="0" bIns="0" anchor="t">
            <a:spAutoFit/>
          </a:bodyPr>
          <a:lstStyle/>
          <a:p>
            <a:pPr algn="ctr">
              <a:lnSpc>
                <a:spcPct val="112000"/>
              </a:lnSpc>
            </a:pPr>
            <a:r>
              <a:rPr sz="1350" b="1" i="0">
                <a:solidFill>
                  <a:srgbClr val="EF4444"/>
                </a:solidFill>
                <a:latin typeface="微软雅黑"/>
                <a:ea typeface="微软雅黑"/>
              </a:rPr>
              <a:t>T+38</a:t>
            </a:r>
          </a:p>
        </p:txBody>
      </p:sp>
      <p:sp>
        <p:nvSpPr>
          <p:cNvPr id="27" name="TextBox 26"/>
          <p:cNvSpPr txBox="1"/>
          <p:nvPr/>
        </p:nvSpPr>
        <p:spPr>
          <a:xfrm>
            <a:off x="7507224" y="2029968"/>
            <a:ext cx="1700784" cy="256032"/>
          </a:xfrm>
          <a:prstGeom prst="rect">
            <a:avLst/>
          </a:prstGeom>
          <a:noFill/>
        </p:spPr>
        <p:txBody>
          <a:bodyPr wrap="square" lIns="0" rIns="0" tIns="0" bIns="0" anchor="t">
            <a:spAutoFit/>
          </a:bodyPr>
          <a:lstStyle/>
          <a:p>
            <a:pPr algn="ctr">
              <a:lnSpc>
                <a:spcPct val="112000"/>
              </a:lnSpc>
            </a:pPr>
            <a:r>
              <a:rPr sz="1100" b="1" i="0">
                <a:solidFill>
                  <a:srgbClr val="0B1F3A"/>
                </a:solidFill>
                <a:latin typeface="微软雅黑"/>
                <a:ea typeface="微软雅黑"/>
              </a:rPr>
              <a:t>缺照片退回</a:t>
            </a:r>
          </a:p>
        </p:txBody>
      </p:sp>
      <p:sp>
        <p:nvSpPr>
          <p:cNvPr id="28" name="TextBox 27"/>
          <p:cNvSpPr txBox="1"/>
          <p:nvPr/>
        </p:nvSpPr>
        <p:spPr>
          <a:xfrm>
            <a:off x="7507224" y="2304288"/>
            <a:ext cx="1700784" cy="219456"/>
          </a:xfrm>
          <a:prstGeom prst="rect">
            <a:avLst/>
          </a:prstGeom>
          <a:noFill/>
        </p:spPr>
        <p:txBody>
          <a:bodyPr wrap="square" lIns="0" rIns="0" tIns="0" bIns="0" anchor="t">
            <a:spAutoFit/>
          </a:bodyPr>
          <a:lstStyle/>
          <a:p>
            <a:pPr algn="ctr">
              <a:lnSpc>
                <a:spcPct val="112000"/>
              </a:lnSpc>
            </a:pPr>
            <a:r>
              <a:rPr sz="850" b="0" i="0">
                <a:solidFill>
                  <a:srgbClr val="64748B"/>
                </a:solidFill>
                <a:latin typeface="微软雅黑"/>
                <a:ea typeface="微软雅黑"/>
              </a:rPr>
              <a:t>0 张 → returned</a:t>
            </a:r>
          </a:p>
        </p:txBody>
      </p:sp>
      <p:sp>
        <p:nvSpPr>
          <p:cNvPr id="29" name="Oval 28"/>
          <p:cNvSpPr/>
          <p:nvPr/>
        </p:nvSpPr>
        <p:spPr>
          <a:xfrm>
            <a:off x="10094976" y="1764792"/>
            <a:ext cx="219456" cy="219456"/>
          </a:xfrm>
          <a:prstGeom prst="ellipse">
            <a:avLst/>
          </a:prstGeom>
          <a:solidFill>
            <a:srgbClr val="10B981"/>
          </a:solidFill>
          <a:ln w="152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665208" y="1353312"/>
            <a:ext cx="1097280" cy="274320"/>
          </a:xfrm>
          <a:prstGeom prst="rect">
            <a:avLst/>
          </a:prstGeom>
          <a:noFill/>
        </p:spPr>
        <p:txBody>
          <a:bodyPr wrap="square" lIns="0" rIns="0" tIns="0" bIns="0" anchor="t">
            <a:spAutoFit/>
          </a:bodyPr>
          <a:lstStyle/>
          <a:p>
            <a:pPr algn="ctr">
              <a:lnSpc>
                <a:spcPct val="112000"/>
              </a:lnSpc>
            </a:pPr>
            <a:r>
              <a:rPr sz="1350" b="1" i="0">
                <a:solidFill>
                  <a:srgbClr val="10B981"/>
                </a:solidFill>
                <a:latin typeface="微软雅黑"/>
                <a:ea typeface="微软雅黑"/>
              </a:rPr>
              <a:t>T+45</a:t>
            </a:r>
          </a:p>
        </p:txBody>
      </p:sp>
      <p:sp>
        <p:nvSpPr>
          <p:cNvPr id="31" name="TextBox 30"/>
          <p:cNvSpPr txBox="1"/>
          <p:nvPr/>
        </p:nvSpPr>
        <p:spPr>
          <a:xfrm>
            <a:off x="9354312" y="2029968"/>
            <a:ext cx="1700784" cy="256032"/>
          </a:xfrm>
          <a:prstGeom prst="rect">
            <a:avLst/>
          </a:prstGeom>
          <a:noFill/>
        </p:spPr>
        <p:txBody>
          <a:bodyPr wrap="square" lIns="0" rIns="0" tIns="0" bIns="0" anchor="t">
            <a:spAutoFit/>
          </a:bodyPr>
          <a:lstStyle/>
          <a:p>
            <a:pPr algn="ctr">
              <a:lnSpc>
                <a:spcPct val="112000"/>
              </a:lnSpc>
            </a:pPr>
            <a:r>
              <a:rPr sz="1100" b="1" i="0">
                <a:solidFill>
                  <a:srgbClr val="0B1F3A"/>
                </a:solidFill>
                <a:latin typeface="微软雅黑"/>
                <a:ea typeface="微软雅黑"/>
              </a:rPr>
              <a:t>补齐后闭环</a:t>
            </a:r>
          </a:p>
        </p:txBody>
      </p:sp>
      <p:sp>
        <p:nvSpPr>
          <p:cNvPr id="32" name="TextBox 31"/>
          <p:cNvSpPr txBox="1"/>
          <p:nvPr/>
        </p:nvSpPr>
        <p:spPr>
          <a:xfrm>
            <a:off x="9354312" y="2304288"/>
            <a:ext cx="1700784" cy="219456"/>
          </a:xfrm>
          <a:prstGeom prst="rect">
            <a:avLst/>
          </a:prstGeom>
          <a:noFill/>
        </p:spPr>
        <p:txBody>
          <a:bodyPr wrap="square" lIns="0" rIns="0" tIns="0" bIns="0" anchor="t">
            <a:spAutoFit/>
          </a:bodyPr>
          <a:lstStyle/>
          <a:p>
            <a:pPr algn="ctr">
              <a:lnSpc>
                <a:spcPct val="112000"/>
              </a:lnSpc>
            </a:pPr>
            <a:r>
              <a:rPr sz="850" b="0" i="0">
                <a:solidFill>
                  <a:srgbClr val="64748B"/>
                </a:solidFill>
                <a:latin typeface="微软雅黑"/>
                <a:ea typeface="微软雅黑"/>
              </a:rPr>
              <a:t>2 张 → closed</a:t>
            </a:r>
          </a:p>
        </p:txBody>
      </p:sp>
      <p:pic>
        <p:nvPicPr>
          <p:cNvPr id="33" name="Picture 32" descr="ppt_dispatch.png"/>
          <p:cNvPicPr>
            <a:picLocks noChangeAspect="1"/>
          </p:cNvPicPr>
          <p:nvPr/>
        </p:nvPicPr>
        <p:blipFill>
          <a:blip r:embed="rId2"/>
          <a:stretch>
            <a:fillRect/>
          </a:stretch>
        </p:blipFill>
        <p:spPr>
          <a:xfrm>
            <a:off x="685800" y="2697480"/>
            <a:ext cx="5943600" cy="3172146"/>
          </a:xfrm>
          <a:prstGeom prst="rect">
            <a:avLst/>
          </a:prstGeom>
        </p:spPr>
      </p:pic>
      <p:sp>
        <p:nvSpPr>
          <p:cNvPr id="34" name="TextBox 33"/>
          <p:cNvSpPr txBox="1"/>
          <p:nvPr/>
        </p:nvSpPr>
        <p:spPr>
          <a:xfrm>
            <a:off x="685800" y="5916168"/>
            <a:ext cx="5943600" cy="228600"/>
          </a:xfrm>
          <a:prstGeom prst="rect">
            <a:avLst/>
          </a:prstGeom>
          <a:noFill/>
        </p:spPr>
        <p:txBody>
          <a:bodyPr wrap="square" lIns="0" rIns="0" tIns="0" bIns="0" anchor="t">
            <a:spAutoFit/>
          </a:bodyPr>
          <a:lstStyle/>
          <a:p>
            <a:pPr algn="l">
              <a:lnSpc>
                <a:spcPct val="112000"/>
              </a:lnSpc>
            </a:pPr>
            <a:r>
              <a:rPr sz="900" b="0" i="0">
                <a:solidFill>
                  <a:srgbClr val="64748B"/>
                </a:solidFill>
                <a:latin typeface="微软雅黑"/>
                <a:ea typeface="微软雅黑"/>
              </a:rPr>
              <a:t>真实截图：智能派单页的 5 节点流水线与执行流</a:t>
            </a:r>
          </a:p>
        </p:txBody>
      </p:sp>
      <p:sp>
        <p:nvSpPr>
          <p:cNvPr id="35" name="TextBox 34"/>
          <p:cNvSpPr txBox="1"/>
          <p:nvPr/>
        </p:nvSpPr>
        <p:spPr>
          <a:xfrm>
            <a:off x="6876288" y="2724912"/>
            <a:ext cx="3840480" cy="274320"/>
          </a:xfrm>
          <a:prstGeom prst="rect">
            <a:avLst/>
          </a:prstGeom>
          <a:noFill/>
        </p:spPr>
        <p:txBody>
          <a:bodyPr wrap="square" lIns="0" rIns="0" tIns="0" bIns="0" anchor="t">
            <a:spAutoFit/>
          </a:bodyPr>
          <a:lstStyle/>
          <a:p>
            <a:pPr algn="l">
              <a:lnSpc>
                <a:spcPct val="112000"/>
              </a:lnSpc>
            </a:pPr>
            <a:r>
              <a:rPr sz="1500" b="1" i="0">
                <a:solidFill>
                  <a:srgbClr val="0B1F3A"/>
                </a:solidFill>
                <a:latin typeface="微软雅黑"/>
                <a:ea typeface="微软雅黑"/>
              </a:rPr>
              <a:t>演示不是预设动画</a:t>
            </a:r>
          </a:p>
        </p:txBody>
      </p:sp>
      <p:sp>
        <p:nvSpPr>
          <p:cNvPr id="36" name="TextBox 35"/>
          <p:cNvSpPr txBox="1"/>
          <p:nvPr/>
        </p:nvSpPr>
        <p:spPr>
          <a:xfrm>
            <a:off x="6876288" y="3090672"/>
            <a:ext cx="4572000" cy="1737360"/>
          </a:xfrm>
          <a:prstGeom prst="rect">
            <a:avLst/>
          </a:prstGeom>
          <a:noFill/>
        </p:spPr>
        <p:txBody>
          <a:bodyPr wrap="square" lIns="0" rIns="0" tIns="0" bIns="0" anchor="t">
            <a:spAutoFit/>
          </a:bodyPr>
          <a:lstStyle/>
          <a:p>
            <a:pPr marL="201168" indent="-201168">
              <a:lnSpc>
                <a:spcPct val="116000"/>
              </a:lnSpc>
              <a:spcAft>
                <a:spcPts val="700"/>
              </a:spcAft>
            </a:pPr>
            <a:r>
              <a:rPr sz="1600" b="1" i="0">
                <a:solidFill>
                  <a:srgbClr val="2563EB"/>
                </a:solidFill>
                <a:latin typeface="微软雅黑"/>
                <a:ea typeface="微软雅黑"/>
              </a:rPr>
              <a:t>•  </a:t>
            </a:r>
            <a:r>
              <a:rPr sz="1600" b="0" i="0">
                <a:solidFill>
                  <a:srgbClr val="0B1F3A"/>
                </a:solidFill>
                <a:latin typeface="微软雅黑"/>
                <a:ea typeface="微软雅黑"/>
              </a:rPr>
              <a:t>真实调用 POST /api/demo/run，事件全部入库</a:t>
            </a:r>
          </a:p>
          <a:p>
            <a:pPr marL="201168" indent="-201168">
              <a:lnSpc>
                <a:spcPct val="116000"/>
              </a:lnSpc>
              <a:spcAft>
                <a:spcPts val="700"/>
              </a:spcAft>
            </a:pPr>
            <a:r>
              <a:rPr sz="1600" b="1" i="0">
                <a:solidFill>
                  <a:srgbClr val="2563EB"/>
                </a:solidFill>
                <a:latin typeface="微软雅黑"/>
                <a:ea typeface="微软雅黑"/>
              </a:rPr>
              <a:t>•  </a:t>
            </a:r>
            <a:r>
              <a:rPr sz="1600" b="0" i="0">
                <a:solidFill>
                  <a:srgbClr val="0B1F3A"/>
                </a:solidFill>
                <a:latin typeface="微软雅黑"/>
                <a:ea typeface="微软雅黑"/>
              </a:rPr>
              <a:t>两条预警写入 warnings；T+38 退回，T+45 闭环</a:t>
            </a:r>
          </a:p>
          <a:p>
            <a:pPr marL="201168" indent="-201168">
              <a:lnSpc>
                <a:spcPct val="116000"/>
              </a:lnSpc>
              <a:spcAft>
                <a:spcPts val="700"/>
              </a:spcAft>
            </a:pPr>
            <a:r>
              <a:rPr sz="1600" b="1" i="0">
                <a:solidFill>
                  <a:srgbClr val="2563EB"/>
                </a:solidFill>
                <a:latin typeface="微软雅黑"/>
                <a:ea typeface="微软雅黑"/>
              </a:rPr>
              <a:t>•  </a:t>
            </a:r>
            <a:r>
              <a:rPr sz="1600" b="0" i="0">
                <a:solidFill>
                  <a:srgbClr val="0B1F3A"/>
                </a:solidFill>
                <a:latin typeface="微软雅黑"/>
                <a:ea typeface="微软雅黑"/>
              </a:rPr>
              <a:t>同一套 Agent 逻辑服务真实工单与回放</a:t>
            </a:r>
          </a:p>
        </p:txBody>
      </p:sp>
      <p:sp>
        <p:nvSpPr>
          <p:cNvPr id="37" name="TextBox 36"/>
          <p:cNvSpPr txBox="1"/>
          <p:nvPr/>
        </p:nvSpPr>
        <p:spPr>
          <a:xfrm>
            <a:off x="6876288" y="5138928"/>
            <a:ext cx="2011680" cy="320040"/>
          </a:xfrm>
          <a:prstGeom prst="rect">
            <a:avLst/>
          </a:prstGeom>
          <a:noFill/>
        </p:spPr>
        <p:txBody>
          <a:bodyPr wrap="square" lIns="0" rIns="0" tIns="0" bIns="0" anchor="t">
            <a:spAutoFit/>
          </a:bodyPr>
          <a:lstStyle/>
          <a:p>
            <a:pPr algn="l">
              <a:lnSpc>
                <a:spcPct val="112000"/>
              </a:lnSpc>
            </a:pPr>
            <a:r>
              <a:rPr sz="1800" b="1" i="0">
                <a:solidFill>
                  <a:srgbClr val="2563EB"/>
                </a:solidFill>
                <a:latin typeface="微软雅黑"/>
                <a:ea typeface="微软雅黑"/>
              </a:rPr>
              <a:t>1</a:t>
            </a:r>
            <a:r>
              <a:rPr sz="1050" b="0" i="0">
                <a:solidFill>
                  <a:srgbClr val="64748B"/>
                </a:solidFill>
                <a:latin typeface="微软雅黑"/>
                <a:ea typeface="微软雅黑"/>
              </a:rPr>
              <a:t>  条工单</a:t>
            </a:r>
          </a:p>
        </p:txBody>
      </p:sp>
      <p:sp>
        <p:nvSpPr>
          <p:cNvPr id="38" name="TextBox 37"/>
          <p:cNvSpPr txBox="1"/>
          <p:nvPr/>
        </p:nvSpPr>
        <p:spPr>
          <a:xfrm>
            <a:off x="9208008" y="5138928"/>
            <a:ext cx="2011680" cy="320040"/>
          </a:xfrm>
          <a:prstGeom prst="rect">
            <a:avLst/>
          </a:prstGeom>
          <a:noFill/>
        </p:spPr>
        <p:txBody>
          <a:bodyPr wrap="square" lIns="0" rIns="0" tIns="0" bIns="0" anchor="t">
            <a:spAutoFit/>
          </a:bodyPr>
          <a:lstStyle/>
          <a:p>
            <a:pPr algn="l">
              <a:lnSpc>
                <a:spcPct val="112000"/>
              </a:lnSpc>
            </a:pPr>
            <a:r>
              <a:rPr sz="1800" b="1" i="0">
                <a:solidFill>
                  <a:srgbClr val="2563EB"/>
                </a:solidFill>
                <a:latin typeface="微软雅黑"/>
                <a:ea typeface="微软雅黑"/>
              </a:rPr>
              <a:t>45</a:t>
            </a:r>
            <a:r>
              <a:rPr sz="1050" b="0" i="0">
                <a:solidFill>
                  <a:srgbClr val="64748B"/>
                </a:solidFill>
                <a:latin typeface="微软雅黑"/>
                <a:ea typeface="微软雅黑"/>
              </a:rPr>
              <a:t>  分钟故事线</a:t>
            </a:r>
          </a:p>
        </p:txBody>
      </p:sp>
      <p:sp>
        <p:nvSpPr>
          <p:cNvPr id="39" name="TextBox 38"/>
          <p:cNvSpPr txBox="1"/>
          <p:nvPr/>
        </p:nvSpPr>
        <p:spPr>
          <a:xfrm>
            <a:off x="6876288" y="5705856"/>
            <a:ext cx="2011680" cy="320040"/>
          </a:xfrm>
          <a:prstGeom prst="rect">
            <a:avLst/>
          </a:prstGeom>
          <a:noFill/>
        </p:spPr>
        <p:txBody>
          <a:bodyPr wrap="square" lIns="0" rIns="0" tIns="0" bIns="0" anchor="t">
            <a:spAutoFit/>
          </a:bodyPr>
          <a:lstStyle/>
          <a:p>
            <a:pPr algn="l">
              <a:lnSpc>
                <a:spcPct val="112000"/>
              </a:lnSpc>
            </a:pPr>
            <a:r>
              <a:rPr sz="1800" b="1" i="0">
                <a:solidFill>
                  <a:srgbClr val="2563EB"/>
                </a:solidFill>
                <a:latin typeface="微软雅黑"/>
                <a:ea typeface="微软雅黑"/>
              </a:rPr>
              <a:t>2</a:t>
            </a:r>
            <a:r>
              <a:rPr sz="1050" b="0" i="0">
                <a:solidFill>
                  <a:srgbClr val="64748B"/>
                </a:solidFill>
                <a:latin typeface="微软雅黑"/>
                <a:ea typeface="微软雅黑"/>
              </a:rPr>
              <a:t>  次验收</a:t>
            </a:r>
          </a:p>
        </p:txBody>
      </p:sp>
      <p:sp>
        <p:nvSpPr>
          <p:cNvPr id="40" name="TextBox 39"/>
          <p:cNvSpPr txBox="1"/>
          <p:nvPr/>
        </p:nvSpPr>
        <p:spPr>
          <a:xfrm>
            <a:off x="9208008" y="5705856"/>
            <a:ext cx="2011680" cy="320040"/>
          </a:xfrm>
          <a:prstGeom prst="rect">
            <a:avLst/>
          </a:prstGeom>
          <a:noFill/>
        </p:spPr>
        <p:txBody>
          <a:bodyPr wrap="square" lIns="0" rIns="0" tIns="0" bIns="0" anchor="t">
            <a:spAutoFit/>
          </a:bodyPr>
          <a:lstStyle/>
          <a:p>
            <a:pPr algn="l">
              <a:lnSpc>
                <a:spcPct val="112000"/>
              </a:lnSpc>
            </a:pPr>
            <a:r>
              <a:rPr sz="1800" b="1" i="0">
                <a:solidFill>
                  <a:srgbClr val="2563EB"/>
                </a:solidFill>
                <a:latin typeface="微软雅黑"/>
                <a:ea typeface="微软雅黑"/>
              </a:rPr>
              <a:t>5</a:t>
            </a:r>
            <a:r>
              <a:rPr sz="1050" b="0" i="0">
                <a:solidFill>
                  <a:srgbClr val="64748B"/>
                </a:solidFill>
                <a:latin typeface="微软雅黑"/>
                <a:ea typeface="微软雅黑"/>
              </a:rPr>
              <a:t>  个协作节点</a:t>
            </a:r>
          </a:p>
        </p:txBody>
      </p:sp>
      <p:sp>
        <p:nvSpPr>
          <p:cNvPr id="41" name="Rectangle 40"/>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43" name="TextBox 42"/>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09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05 / 系统实现</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从 API 到看板：一套可离线演示的实现</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FastAPI + SQLite + 原生前端 + 本地 ECharts；22 项 pytest 覆盖核心链路</a:t>
            </a:r>
          </a:p>
        </p:txBody>
      </p:sp>
      <p:pic>
        <p:nvPicPr>
          <p:cNvPr id="7" name="Picture 6" descr="ppt_dashboard_169.png"/>
          <p:cNvPicPr>
            <a:picLocks noChangeAspect="1"/>
          </p:cNvPicPr>
          <p:nvPr/>
        </p:nvPicPr>
        <p:blipFill>
          <a:blip r:embed="rId2"/>
          <a:stretch>
            <a:fillRect/>
          </a:stretch>
        </p:blipFill>
        <p:spPr>
          <a:xfrm>
            <a:off x="685800" y="1417320"/>
            <a:ext cx="6355080" cy="3573839"/>
          </a:xfrm>
          <a:prstGeom prst="rect">
            <a:avLst/>
          </a:prstGeom>
        </p:spPr>
      </p:pic>
      <p:sp>
        <p:nvSpPr>
          <p:cNvPr id="8" name="TextBox 7"/>
          <p:cNvSpPr txBox="1"/>
          <p:nvPr/>
        </p:nvSpPr>
        <p:spPr>
          <a:xfrm>
            <a:off x="685800" y="5047488"/>
            <a:ext cx="6355080" cy="219456"/>
          </a:xfrm>
          <a:prstGeom prst="rect">
            <a:avLst/>
          </a:prstGeom>
          <a:noFill/>
        </p:spPr>
        <p:txBody>
          <a:bodyPr wrap="square" lIns="0" rIns="0" tIns="0" bIns="0" anchor="t">
            <a:spAutoFit/>
          </a:bodyPr>
          <a:lstStyle/>
          <a:p>
            <a:pPr algn="l">
              <a:lnSpc>
                <a:spcPct val="112000"/>
              </a:lnSpc>
            </a:pPr>
            <a:r>
              <a:rPr sz="900" b="0" i="0">
                <a:solidFill>
                  <a:srgbClr val="64748B"/>
                </a:solidFill>
                <a:latin typeface="微软雅黑"/>
                <a:ea typeface="微软雅黑"/>
              </a:rPr>
              <a:t>总览：6 个 KPI、30 天趋势、Agent 运行指标（真实截图）</a:t>
            </a:r>
          </a:p>
        </p:txBody>
      </p:sp>
      <p:sp>
        <p:nvSpPr>
          <p:cNvPr id="9" name="Rounded Rectangle 8"/>
          <p:cNvSpPr/>
          <p:nvPr/>
        </p:nvSpPr>
        <p:spPr>
          <a:xfrm>
            <a:off x="685800" y="5440680"/>
            <a:ext cx="2029968" cy="530352"/>
          </a:xfrm>
          <a:prstGeom prst="roundRect">
            <a:avLst>
              <a:gd name="adj" fmla="val 12000"/>
            </a:avLst>
          </a:prstGeom>
          <a:solidFill>
            <a:srgbClr val="EFF6FF"/>
          </a:solidFill>
          <a:ln w="889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50392" y="5550408"/>
            <a:ext cx="1737360" cy="329184"/>
          </a:xfrm>
          <a:prstGeom prst="rect">
            <a:avLst/>
          </a:prstGeom>
          <a:noFill/>
        </p:spPr>
        <p:txBody>
          <a:bodyPr wrap="square" lIns="0" rIns="0" tIns="0" bIns="0" anchor="t">
            <a:spAutoFit/>
          </a:bodyPr>
          <a:lstStyle/>
          <a:p>
            <a:pPr algn="l">
              <a:lnSpc>
                <a:spcPct val="112000"/>
              </a:lnSpc>
            </a:pPr>
            <a:r>
              <a:rPr sz="1800" b="1" i="0">
                <a:solidFill>
                  <a:srgbClr val="2563EB"/>
                </a:solidFill>
                <a:latin typeface="微软雅黑"/>
                <a:ea typeface="微软雅黑"/>
              </a:rPr>
              <a:t>6</a:t>
            </a:r>
            <a:r>
              <a:rPr sz="1000" b="0" i="0">
                <a:solidFill>
                  <a:srgbClr val="64748B"/>
                </a:solidFill>
                <a:latin typeface="微软雅黑"/>
                <a:ea typeface="微软雅黑"/>
              </a:rPr>
              <a:t>  个页面</a:t>
            </a:r>
          </a:p>
        </p:txBody>
      </p:sp>
      <p:sp>
        <p:nvSpPr>
          <p:cNvPr id="11" name="Rounded Rectangle 10"/>
          <p:cNvSpPr/>
          <p:nvPr/>
        </p:nvSpPr>
        <p:spPr>
          <a:xfrm>
            <a:off x="2862072" y="5440680"/>
            <a:ext cx="2029968" cy="530352"/>
          </a:xfrm>
          <a:prstGeom prst="roundRect">
            <a:avLst>
              <a:gd name="adj" fmla="val 12000"/>
            </a:avLst>
          </a:prstGeom>
          <a:solidFill>
            <a:srgbClr val="EFF6FF"/>
          </a:solidFill>
          <a:ln w="889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026664" y="5550408"/>
            <a:ext cx="1737360" cy="329184"/>
          </a:xfrm>
          <a:prstGeom prst="rect">
            <a:avLst/>
          </a:prstGeom>
          <a:noFill/>
        </p:spPr>
        <p:txBody>
          <a:bodyPr wrap="square" lIns="0" rIns="0" tIns="0" bIns="0" anchor="t">
            <a:spAutoFit/>
          </a:bodyPr>
          <a:lstStyle/>
          <a:p>
            <a:pPr algn="l">
              <a:lnSpc>
                <a:spcPct val="112000"/>
              </a:lnSpc>
            </a:pPr>
            <a:r>
              <a:rPr sz="1800" b="1" i="0">
                <a:solidFill>
                  <a:srgbClr val="2563EB"/>
                </a:solidFill>
                <a:latin typeface="微软雅黑"/>
                <a:ea typeface="微软雅黑"/>
              </a:rPr>
              <a:t>0</a:t>
            </a:r>
            <a:r>
              <a:rPr sz="1000" b="0" i="0">
                <a:solidFill>
                  <a:srgbClr val="64748B"/>
                </a:solidFill>
                <a:latin typeface="微软雅黑"/>
                <a:ea typeface="微软雅黑"/>
              </a:rPr>
              <a:t>  外网依赖</a:t>
            </a:r>
          </a:p>
        </p:txBody>
      </p:sp>
      <p:sp>
        <p:nvSpPr>
          <p:cNvPr id="13" name="Rounded Rectangle 12"/>
          <p:cNvSpPr/>
          <p:nvPr/>
        </p:nvSpPr>
        <p:spPr>
          <a:xfrm>
            <a:off x="5038344" y="5440680"/>
            <a:ext cx="2029968" cy="530352"/>
          </a:xfrm>
          <a:prstGeom prst="roundRect">
            <a:avLst>
              <a:gd name="adj" fmla="val 12000"/>
            </a:avLst>
          </a:prstGeom>
          <a:solidFill>
            <a:srgbClr val="EFF6FF"/>
          </a:solidFill>
          <a:ln w="889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202936" y="5550408"/>
            <a:ext cx="1737360" cy="329184"/>
          </a:xfrm>
          <a:prstGeom prst="rect">
            <a:avLst/>
          </a:prstGeom>
          <a:noFill/>
        </p:spPr>
        <p:txBody>
          <a:bodyPr wrap="square" lIns="0" rIns="0" tIns="0" bIns="0" anchor="t">
            <a:spAutoFit/>
          </a:bodyPr>
          <a:lstStyle/>
          <a:p>
            <a:pPr algn="l">
              <a:lnSpc>
                <a:spcPct val="112000"/>
              </a:lnSpc>
            </a:pPr>
            <a:r>
              <a:rPr sz="1800" b="1" i="0">
                <a:solidFill>
                  <a:srgbClr val="2563EB"/>
                </a:solidFill>
                <a:latin typeface="微软雅黑"/>
                <a:ea typeface="微软雅黑"/>
              </a:rPr>
              <a:t>22</a:t>
            </a:r>
            <a:r>
              <a:rPr sz="1000" b="0" i="0">
                <a:solidFill>
                  <a:srgbClr val="64748B"/>
                </a:solidFill>
                <a:latin typeface="微软雅黑"/>
                <a:ea typeface="微软雅黑"/>
              </a:rPr>
              <a:t>  项测试</a:t>
            </a:r>
          </a:p>
        </p:txBody>
      </p:sp>
      <p:sp>
        <p:nvSpPr>
          <p:cNvPr id="15" name="TextBox 14"/>
          <p:cNvSpPr txBox="1"/>
          <p:nvPr/>
        </p:nvSpPr>
        <p:spPr>
          <a:xfrm>
            <a:off x="7269480" y="1536192"/>
            <a:ext cx="4160520" cy="2834640"/>
          </a:xfrm>
          <a:prstGeom prst="rect">
            <a:avLst/>
          </a:prstGeom>
          <a:noFill/>
        </p:spPr>
        <p:txBody>
          <a:bodyPr wrap="square" lIns="0" rIns="0" tIns="0" bIns="0" anchor="t">
            <a:spAutoFit/>
          </a:bodyPr>
          <a:lstStyle/>
          <a:p>
            <a:pPr marL="201168" indent="-201168">
              <a:lnSpc>
                <a:spcPct val="116000"/>
              </a:lnSpc>
              <a:spcAft>
                <a:spcPts val="900"/>
              </a:spcAft>
            </a:pPr>
            <a:r>
              <a:rPr sz="1600" b="1" i="0">
                <a:solidFill>
                  <a:srgbClr val="2563EB"/>
                </a:solidFill>
                <a:latin typeface="微软雅黑"/>
                <a:ea typeface="微软雅黑"/>
              </a:rPr>
              <a:t>•  </a:t>
            </a:r>
            <a:r>
              <a:rPr sz="1600" b="0" i="0">
                <a:solidFill>
                  <a:srgbClr val="0B1F3A"/>
                </a:solidFill>
                <a:latin typeface="微软雅黑"/>
                <a:ea typeface="微软雅黑"/>
              </a:rPr>
              <a:t>后端：FastAPI + Pydantic + Uvicorn</a:t>
            </a:r>
          </a:p>
          <a:p>
            <a:pPr marL="201168" indent="-201168">
              <a:lnSpc>
                <a:spcPct val="116000"/>
              </a:lnSpc>
              <a:spcAft>
                <a:spcPts val="900"/>
              </a:spcAft>
            </a:pPr>
            <a:r>
              <a:rPr sz="1600" b="1" i="0">
                <a:solidFill>
                  <a:srgbClr val="2563EB"/>
                </a:solidFill>
                <a:latin typeface="微软雅黑"/>
                <a:ea typeface="微软雅黑"/>
              </a:rPr>
              <a:t>•  </a:t>
            </a:r>
            <a:r>
              <a:rPr sz="1600" b="0" i="0">
                <a:solidFill>
                  <a:srgbClr val="0B1F3A"/>
                </a:solidFill>
                <a:latin typeface="微软雅黑"/>
                <a:ea typeface="微软雅黑"/>
              </a:rPr>
              <a:t>存储：SQLite（WAL），四张核心表</a:t>
            </a:r>
          </a:p>
          <a:p>
            <a:pPr marL="201168" indent="-201168">
              <a:lnSpc>
                <a:spcPct val="116000"/>
              </a:lnSpc>
              <a:spcAft>
                <a:spcPts val="900"/>
              </a:spcAft>
            </a:pPr>
            <a:r>
              <a:rPr sz="1600" b="1" i="0">
                <a:solidFill>
                  <a:srgbClr val="2563EB"/>
                </a:solidFill>
                <a:latin typeface="微软雅黑"/>
                <a:ea typeface="微软雅黑"/>
              </a:rPr>
              <a:t>•  </a:t>
            </a:r>
            <a:r>
              <a:rPr sz="1600" b="0" i="0">
                <a:solidFill>
                  <a:srgbClr val="0B1F3A"/>
                </a:solidFill>
                <a:latin typeface="微软雅黑"/>
                <a:ea typeface="微软雅黑"/>
              </a:rPr>
              <a:t>前端：原生 JS + 本地 ECharts</a:t>
            </a:r>
          </a:p>
          <a:p>
            <a:pPr marL="201168" indent="-201168">
              <a:lnSpc>
                <a:spcPct val="116000"/>
              </a:lnSpc>
              <a:spcAft>
                <a:spcPts val="900"/>
              </a:spcAft>
            </a:pPr>
            <a:r>
              <a:rPr sz="1600" b="1" i="0">
                <a:solidFill>
                  <a:srgbClr val="2563EB"/>
                </a:solidFill>
                <a:latin typeface="微软雅黑"/>
                <a:ea typeface="微软雅黑"/>
              </a:rPr>
              <a:t>•  </a:t>
            </a:r>
            <a:r>
              <a:rPr sz="1600" b="0" i="0">
                <a:solidFill>
                  <a:srgbClr val="0B1F3A"/>
                </a:solidFill>
                <a:latin typeface="微软雅黑"/>
                <a:ea typeface="微软雅黑"/>
              </a:rPr>
              <a:t>测试：pytest 22 项覆盖核心链路</a:t>
            </a:r>
          </a:p>
          <a:p>
            <a:pPr marL="201168" indent="-201168">
              <a:lnSpc>
                <a:spcPct val="116000"/>
              </a:lnSpc>
              <a:spcAft>
                <a:spcPts val="900"/>
              </a:spcAft>
            </a:pPr>
            <a:r>
              <a:rPr sz="1600" b="1" i="0">
                <a:solidFill>
                  <a:srgbClr val="2563EB"/>
                </a:solidFill>
                <a:latin typeface="微软雅黑"/>
                <a:ea typeface="微软雅黑"/>
              </a:rPr>
              <a:t>•  </a:t>
            </a:r>
            <a:r>
              <a:rPr sz="1600" b="0" i="0">
                <a:solidFill>
                  <a:srgbClr val="0B1F3A"/>
                </a:solidFill>
                <a:latin typeface="微软雅黑"/>
                <a:ea typeface="微软雅黑"/>
              </a:rPr>
              <a:t>部署：run.sh 一键启动</a:t>
            </a:r>
          </a:p>
        </p:txBody>
      </p:sp>
      <p:sp>
        <p:nvSpPr>
          <p:cNvPr id="16" name="Rounded Rectangle 15"/>
          <p:cNvSpPr/>
          <p:nvPr/>
        </p:nvSpPr>
        <p:spPr>
          <a:xfrm>
            <a:off x="7269480" y="4526280"/>
            <a:ext cx="4224528" cy="1417320"/>
          </a:xfrm>
          <a:prstGeom prst="roundRect">
            <a:avLst>
              <a:gd name="adj" fmla="val 8000"/>
            </a:avLst>
          </a:prstGeom>
          <a:solidFill>
            <a:srgbClr val="EFF6FF"/>
          </a:solidFill>
          <a:ln w="1016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79792" y="4663440"/>
            <a:ext cx="2011680" cy="256032"/>
          </a:xfrm>
          <a:prstGeom prst="rect">
            <a:avLst/>
          </a:prstGeom>
          <a:noFill/>
        </p:spPr>
        <p:txBody>
          <a:bodyPr wrap="square" lIns="0" rIns="0" tIns="0" bIns="0" anchor="t">
            <a:spAutoFit/>
          </a:bodyPr>
          <a:lstStyle/>
          <a:p>
            <a:pPr algn="l">
              <a:lnSpc>
                <a:spcPct val="112000"/>
              </a:lnSpc>
            </a:pPr>
            <a:r>
              <a:rPr sz="1200" b="1" i="0">
                <a:solidFill>
                  <a:srgbClr val="2563EB"/>
                </a:solidFill>
                <a:latin typeface="微软雅黑"/>
                <a:ea typeface="微软雅黑"/>
              </a:rPr>
              <a:t>离线可演示</a:t>
            </a:r>
          </a:p>
        </p:txBody>
      </p:sp>
      <p:sp>
        <p:nvSpPr>
          <p:cNvPr id="18" name="TextBox 17"/>
          <p:cNvSpPr txBox="1"/>
          <p:nvPr/>
        </p:nvSpPr>
        <p:spPr>
          <a:xfrm>
            <a:off x="7479792" y="4983480"/>
            <a:ext cx="3794760" cy="777240"/>
          </a:xfrm>
          <a:prstGeom prst="rect">
            <a:avLst/>
          </a:prstGeom>
          <a:noFill/>
        </p:spPr>
        <p:txBody>
          <a:bodyPr wrap="square" lIns="0" rIns="0" tIns="0" bIns="0" anchor="t">
            <a:spAutoFit/>
          </a:bodyPr>
          <a:lstStyle/>
          <a:p>
            <a:pPr algn="l">
              <a:lnSpc>
                <a:spcPct val="130000"/>
              </a:lnSpc>
            </a:pPr>
            <a:r>
              <a:rPr sz="1050" b="0" i="0">
                <a:solidFill>
                  <a:srgbClr val="0B1F3A"/>
                </a:solidFill>
                <a:latin typeface="微软雅黑"/>
                <a:ea typeface="微软雅黑"/>
              </a:rPr>
              <a:t>ECharts 与静态资源全部本地加载，答辩现场无需外网；SQLite 单机即可运行。</a:t>
            </a:r>
          </a:p>
        </p:txBody>
      </p:sp>
      <p:sp>
        <p:nvSpPr>
          <p:cNvPr id="19" name="Rectangle 18"/>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21" name="TextBox 20"/>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06 / 数据分析</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3000 条历史工单：数据告诉我们什么</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固定种子 20261020，180 天、13 类报修、12 名维修工、5 个小区</a:t>
            </a:r>
          </a:p>
        </p:txBody>
      </p:sp>
      <p:sp>
        <p:nvSpPr>
          <p:cNvPr id="7" name="Rounded Rectangle 6"/>
          <p:cNvSpPr/>
          <p:nvPr/>
        </p:nvSpPr>
        <p:spPr>
          <a:xfrm>
            <a:off x="685800" y="1444752"/>
            <a:ext cx="2615184" cy="841248"/>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1517904"/>
            <a:ext cx="1463040" cy="384048"/>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3000</a:t>
            </a:r>
          </a:p>
        </p:txBody>
      </p:sp>
      <p:sp>
        <p:nvSpPr>
          <p:cNvPr id="9" name="TextBox 8"/>
          <p:cNvSpPr txBox="1"/>
          <p:nvPr/>
        </p:nvSpPr>
        <p:spPr>
          <a:xfrm>
            <a:off x="2103120" y="1627632"/>
            <a:ext cx="1051560" cy="228600"/>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历史工单</a:t>
            </a:r>
          </a:p>
        </p:txBody>
      </p:sp>
      <p:sp>
        <p:nvSpPr>
          <p:cNvPr id="10" name="Rounded Rectangle 9"/>
          <p:cNvSpPr/>
          <p:nvPr/>
        </p:nvSpPr>
        <p:spPr>
          <a:xfrm>
            <a:off x="3447288" y="1444752"/>
            <a:ext cx="2615184" cy="841248"/>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30168" y="1517904"/>
            <a:ext cx="1463040" cy="384048"/>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93.6%</a:t>
            </a:r>
          </a:p>
        </p:txBody>
      </p:sp>
      <p:sp>
        <p:nvSpPr>
          <p:cNvPr id="12" name="TextBox 11"/>
          <p:cNvSpPr txBox="1"/>
          <p:nvPr/>
        </p:nvSpPr>
        <p:spPr>
          <a:xfrm>
            <a:off x="4864608" y="1627632"/>
            <a:ext cx="1051560" cy="228600"/>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闭环率</a:t>
            </a:r>
          </a:p>
        </p:txBody>
      </p:sp>
      <p:sp>
        <p:nvSpPr>
          <p:cNvPr id="13" name="Rounded Rectangle 12"/>
          <p:cNvSpPr/>
          <p:nvPr/>
        </p:nvSpPr>
        <p:spPr>
          <a:xfrm>
            <a:off x="6208776" y="1444752"/>
            <a:ext cx="2615184" cy="841248"/>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91656" y="1517904"/>
            <a:ext cx="1463040" cy="384048"/>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12.1%</a:t>
            </a:r>
          </a:p>
        </p:txBody>
      </p:sp>
      <p:sp>
        <p:nvSpPr>
          <p:cNvPr id="15" name="TextBox 14"/>
          <p:cNvSpPr txBox="1"/>
          <p:nvPr/>
        </p:nvSpPr>
        <p:spPr>
          <a:xfrm>
            <a:off x="7626096" y="1627632"/>
            <a:ext cx="1051560" cy="228600"/>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超时率</a:t>
            </a:r>
          </a:p>
        </p:txBody>
      </p:sp>
      <p:sp>
        <p:nvSpPr>
          <p:cNvPr id="16" name="Rounded Rectangle 15"/>
          <p:cNvSpPr/>
          <p:nvPr/>
        </p:nvSpPr>
        <p:spPr>
          <a:xfrm>
            <a:off x="8970264" y="1444752"/>
            <a:ext cx="2615184" cy="841248"/>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153144" y="1517904"/>
            <a:ext cx="1463040" cy="384048"/>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92.9</a:t>
            </a:r>
          </a:p>
        </p:txBody>
      </p:sp>
      <p:sp>
        <p:nvSpPr>
          <p:cNvPr id="18" name="TextBox 17"/>
          <p:cNvSpPr txBox="1"/>
          <p:nvPr/>
        </p:nvSpPr>
        <p:spPr>
          <a:xfrm>
            <a:off x="10387584" y="1627632"/>
            <a:ext cx="1051560" cy="228600"/>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平均处理分钟</a:t>
            </a:r>
          </a:p>
        </p:txBody>
      </p:sp>
      <p:sp>
        <p:nvSpPr>
          <p:cNvPr id="19" name="TextBox 18"/>
          <p:cNvSpPr txBox="1"/>
          <p:nvPr/>
        </p:nvSpPr>
        <p:spPr>
          <a:xfrm>
            <a:off x="713232" y="2542032"/>
            <a:ext cx="2743200" cy="256032"/>
          </a:xfrm>
          <a:prstGeom prst="rect">
            <a:avLst/>
          </a:prstGeom>
          <a:noFill/>
        </p:spPr>
        <p:txBody>
          <a:bodyPr wrap="square" lIns="0" rIns="0" tIns="0" bIns="0" anchor="t">
            <a:spAutoFit/>
          </a:bodyPr>
          <a:lstStyle/>
          <a:p>
            <a:pPr algn="l">
              <a:lnSpc>
                <a:spcPct val="112000"/>
              </a:lnSpc>
            </a:pPr>
            <a:r>
              <a:rPr sz="1200" b="1" i="0">
                <a:solidFill>
                  <a:srgbClr val="0B1F3A"/>
                </a:solidFill>
                <a:latin typeface="微软雅黑"/>
                <a:ea typeface="微软雅黑"/>
              </a:rPr>
              <a:t>报修类型 TOP 6（单）</a:t>
            </a:r>
          </a:p>
        </p:txBody>
      </p:sp>
      <p:sp>
        <p:nvSpPr>
          <p:cNvPr id="20" name="TextBox 19"/>
          <p:cNvSpPr txBox="1"/>
          <p:nvPr/>
        </p:nvSpPr>
        <p:spPr>
          <a:xfrm>
            <a:off x="731520" y="2962656"/>
            <a:ext cx="1143000" cy="219456"/>
          </a:xfrm>
          <a:prstGeom prst="rect">
            <a:avLst/>
          </a:prstGeom>
          <a:noFill/>
        </p:spPr>
        <p:txBody>
          <a:bodyPr wrap="square" lIns="0" rIns="0" tIns="0" bIns="0" anchor="t">
            <a:spAutoFit/>
          </a:bodyPr>
          <a:lstStyle/>
          <a:p>
            <a:pPr algn="l">
              <a:lnSpc>
                <a:spcPct val="112000"/>
              </a:lnSpc>
            </a:pPr>
            <a:r>
              <a:rPr sz="1050" b="0" i="0">
                <a:solidFill>
                  <a:srgbClr val="0B1F3A"/>
                </a:solidFill>
                <a:latin typeface="微软雅黑"/>
                <a:ea typeface="微软雅黑"/>
              </a:rPr>
              <a:t>水管漏水</a:t>
            </a:r>
          </a:p>
        </p:txBody>
      </p:sp>
      <p:sp>
        <p:nvSpPr>
          <p:cNvPr id="21" name="Rounded Rectangle 20"/>
          <p:cNvSpPr/>
          <p:nvPr/>
        </p:nvSpPr>
        <p:spPr>
          <a:xfrm>
            <a:off x="1938528" y="2980944"/>
            <a:ext cx="2926080" cy="164592"/>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919472" y="2944368"/>
            <a:ext cx="548640" cy="219456"/>
          </a:xfrm>
          <a:prstGeom prst="rect">
            <a:avLst/>
          </a:prstGeom>
          <a:noFill/>
        </p:spPr>
        <p:txBody>
          <a:bodyPr wrap="square" lIns="0" rIns="0" tIns="0" bIns="0" anchor="t">
            <a:spAutoFit/>
          </a:bodyPr>
          <a:lstStyle/>
          <a:p>
            <a:pPr algn="l">
              <a:lnSpc>
                <a:spcPct val="112000"/>
              </a:lnSpc>
            </a:pPr>
            <a:r>
              <a:rPr sz="950" b="1" i="0">
                <a:solidFill>
                  <a:srgbClr val="64748B"/>
                </a:solidFill>
                <a:latin typeface="微软雅黑"/>
                <a:ea typeface="微软雅黑"/>
              </a:rPr>
              <a:t>504</a:t>
            </a:r>
          </a:p>
        </p:txBody>
      </p:sp>
      <p:sp>
        <p:nvSpPr>
          <p:cNvPr id="23" name="TextBox 22"/>
          <p:cNvSpPr txBox="1"/>
          <p:nvPr/>
        </p:nvSpPr>
        <p:spPr>
          <a:xfrm>
            <a:off x="731520" y="3419856"/>
            <a:ext cx="1143000" cy="219456"/>
          </a:xfrm>
          <a:prstGeom prst="rect">
            <a:avLst/>
          </a:prstGeom>
          <a:noFill/>
        </p:spPr>
        <p:txBody>
          <a:bodyPr wrap="square" lIns="0" rIns="0" tIns="0" bIns="0" anchor="t">
            <a:spAutoFit/>
          </a:bodyPr>
          <a:lstStyle/>
          <a:p>
            <a:pPr algn="l">
              <a:lnSpc>
                <a:spcPct val="112000"/>
              </a:lnSpc>
            </a:pPr>
            <a:r>
              <a:rPr sz="1050" b="0" i="0">
                <a:solidFill>
                  <a:srgbClr val="0B1F3A"/>
                </a:solidFill>
                <a:latin typeface="微软雅黑"/>
                <a:ea typeface="微软雅黑"/>
              </a:rPr>
              <a:t>下水道堵塞</a:t>
            </a:r>
          </a:p>
        </p:txBody>
      </p:sp>
      <p:sp>
        <p:nvSpPr>
          <p:cNvPr id="24" name="Rounded Rectangle 23"/>
          <p:cNvSpPr/>
          <p:nvPr/>
        </p:nvSpPr>
        <p:spPr>
          <a:xfrm>
            <a:off x="1938528" y="3438144"/>
            <a:ext cx="2188754" cy="164592"/>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182146" y="3401568"/>
            <a:ext cx="548640" cy="219456"/>
          </a:xfrm>
          <a:prstGeom prst="rect">
            <a:avLst/>
          </a:prstGeom>
          <a:noFill/>
        </p:spPr>
        <p:txBody>
          <a:bodyPr wrap="square" lIns="0" rIns="0" tIns="0" bIns="0" anchor="t">
            <a:spAutoFit/>
          </a:bodyPr>
          <a:lstStyle/>
          <a:p>
            <a:pPr algn="l">
              <a:lnSpc>
                <a:spcPct val="112000"/>
              </a:lnSpc>
            </a:pPr>
            <a:r>
              <a:rPr sz="950" b="1" i="0">
                <a:solidFill>
                  <a:srgbClr val="64748B"/>
                </a:solidFill>
                <a:latin typeface="微软雅黑"/>
                <a:ea typeface="微软雅黑"/>
              </a:rPr>
              <a:t>377</a:t>
            </a:r>
          </a:p>
        </p:txBody>
      </p:sp>
      <p:sp>
        <p:nvSpPr>
          <p:cNvPr id="26" name="TextBox 25"/>
          <p:cNvSpPr txBox="1"/>
          <p:nvPr/>
        </p:nvSpPr>
        <p:spPr>
          <a:xfrm>
            <a:off x="731520" y="3877056"/>
            <a:ext cx="1143000" cy="219456"/>
          </a:xfrm>
          <a:prstGeom prst="rect">
            <a:avLst/>
          </a:prstGeom>
          <a:noFill/>
        </p:spPr>
        <p:txBody>
          <a:bodyPr wrap="square" lIns="0" rIns="0" tIns="0" bIns="0" anchor="t">
            <a:spAutoFit/>
          </a:bodyPr>
          <a:lstStyle/>
          <a:p>
            <a:pPr algn="l">
              <a:lnSpc>
                <a:spcPct val="112000"/>
              </a:lnSpc>
            </a:pPr>
            <a:r>
              <a:rPr sz="1050" b="0" i="0">
                <a:solidFill>
                  <a:srgbClr val="0B1F3A"/>
                </a:solidFill>
                <a:latin typeface="微软雅黑"/>
                <a:ea typeface="微软雅黑"/>
              </a:rPr>
              <a:t>电路故障</a:t>
            </a:r>
          </a:p>
        </p:txBody>
      </p:sp>
      <p:sp>
        <p:nvSpPr>
          <p:cNvPr id="27" name="Rounded Rectangle 26"/>
          <p:cNvSpPr/>
          <p:nvPr/>
        </p:nvSpPr>
        <p:spPr>
          <a:xfrm>
            <a:off x="1938528" y="3895344"/>
            <a:ext cx="1863634" cy="164592"/>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57026" y="3858768"/>
            <a:ext cx="548640" cy="219456"/>
          </a:xfrm>
          <a:prstGeom prst="rect">
            <a:avLst/>
          </a:prstGeom>
          <a:noFill/>
        </p:spPr>
        <p:txBody>
          <a:bodyPr wrap="square" lIns="0" rIns="0" tIns="0" bIns="0" anchor="t">
            <a:spAutoFit/>
          </a:bodyPr>
          <a:lstStyle/>
          <a:p>
            <a:pPr algn="l">
              <a:lnSpc>
                <a:spcPct val="112000"/>
              </a:lnSpc>
            </a:pPr>
            <a:r>
              <a:rPr sz="950" b="1" i="0">
                <a:solidFill>
                  <a:srgbClr val="64748B"/>
                </a:solidFill>
                <a:latin typeface="微软雅黑"/>
                <a:ea typeface="微软雅黑"/>
              </a:rPr>
              <a:t>321</a:t>
            </a:r>
          </a:p>
        </p:txBody>
      </p:sp>
      <p:sp>
        <p:nvSpPr>
          <p:cNvPr id="29" name="TextBox 28"/>
          <p:cNvSpPr txBox="1"/>
          <p:nvPr/>
        </p:nvSpPr>
        <p:spPr>
          <a:xfrm>
            <a:off x="731520" y="4334256"/>
            <a:ext cx="1143000" cy="219456"/>
          </a:xfrm>
          <a:prstGeom prst="rect">
            <a:avLst/>
          </a:prstGeom>
          <a:noFill/>
        </p:spPr>
        <p:txBody>
          <a:bodyPr wrap="square" lIns="0" rIns="0" tIns="0" bIns="0" anchor="t">
            <a:spAutoFit/>
          </a:bodyPr>
          <a:lstStyle/>
          <a:p>
            <a:pPr algn="l">
              <a:lnSpc>
                <a:spcPct val="112000"/>
              </a:lnSpc>
            </a:pPr>
            <a:r>
              <a:rPr sz="1050" b="0" i="0">
                <a:solidFill>
                  <a:srgbClr val="0B1F3A"/>
                </a:solidFill>
                <a:latin typeface="微软雅黑"/>
                <a:ea typeface="微软雅黑"/>
              </a:rPr>
              <a:t>环境卫生</a:t>
            </a:r>
          </a:p>
        </p:txBody>
      </p:sp>
      <p:sp>
        <p:nvSpPr>
          <p:cNvPr id="30" name="Rounded Rectangle 29"/>
          <p:cNvSpPr/>
          <p:nvPr/>
        </p:nvSpPr>
        <p:spPr>
          <a:xfrm>
            <a:off x="1938528" y="4352544"/>
            <a:ext cx="1643017" cy="164592"/>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3636409" y="4315968"/>
            <a:ext cx="548640" cy="219456"/>
          </a:xfrm>
          <a:prstGeom prst="rect">
            <a:avLst/>
          </a:prstGeom>
          <a:noFill/>
        </p:spPr>
        <p:txBody>
          <a:bodyPr wrap="square" lIns="0" rIns="0" tIns="0" bIns="0" anchor="t">
            <a:spAutoFit/>
          </a:bodyPr>
          <a:lstStyle/>
          <a:p>
            <a:pPr algn="l">
              <a:lnSpc>
                <a:spcPct val="112000"/>
              </a:lnSpc>
            </a:pPr>
            <a:r>
              <a:rPr sz="950" b="1" i="0">
                <a:solidFill>
                  <a:srgbClr val="64748B"/>
                </a:solidFill>
                <a:latin typeface="微软雅黑"/>
                <a:ea typeface="微软雅黑"/>
              </a:rPr>
              <a:t>283</a:t>
            </a:r>
          </a:p>
        </p:txBody>
      </p:sp>
      <p:sp>
        <p:nvSpPr>
          <p:cNvPr id="32" name="TextBox 31"/>
          <p:cNvSpPr txBox="1"/>
          <p:nvPr/>
        </p:nvSpPr>
        <p:spPr>
          <a:xfrm>
            <a:off x="731520" y="4791456"/>
            <a:ext cx="1143000" cy="219456"/>
          </a:xfrm>
          <a:prstGeom prst="rect">
            <a:avLst/>
          </a:prstGeom>
          <a:noFill/>
        </p:spPr>
        <p:txBody>
          <a:bodyPr wrap="square" lIns="0" rIns="0" tIns="0" bIns="0" anchor="t">
            <a:spAutoFit/>
          </a:bodyPr>
          <a:lstStyle/>
          <a:p>
            <a:pPr algn="l">
              <a:lnSpc>
                <a:spcPct val="112000"/>
              </a:lnSpc>
            </a:pPr>
            <a:r>
              <a:rPr sz="1050" b="0" i="0">
                <a:solidFill>
                  <a:srgbClr val="0B1F3A"/>
                </a:solidFill>
                <a:latin typeface="微软雅黑"/>
                <a:ea typeface="微软雅黑"/>
              </a:rPr>
              <a:t>电梯故障</a:t>
            </a:r>
          </a:p>
        </p:txBody>
      </p:sp>
      <p:sp>
        <p:nvSpPr>
          <p:cNvPr id="33" name="Rounded Rectangle 32"/>
          <p:cNvSpPr/>
          <p:nvPr/>
        </p:nvSpPr>
        <p:spPr>
          <a:xfrm>
            <a:off x="1938528" y="4809744"/>
            <a:ext cx="1613988" cy="164592"/>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607380" y="4773168"/>
            <a:ext cx="548640" cy="219456"/>
          </a:xfrm>
          <a:prstGeom prst="rect">
            <a:avLst/>
          </a:prstGeom>
          <a:noFill/>
        </p:spPr>
        <p:txBody>
          <a:bodyPr wrap="square" lIns="0" rIns="0" tIns="0" bIns="0" anchor="t">
            <a:spAutoFit/>
          </a:bodyPr>
          <a:lstStyle/>
          <a:p>
            <a:pPr algn="l">
              <a:lnSpc>
                <a:spcPct val="112000"/>
              </a:lnSpc>
            </a:pPr>
            <a:r>
              <a:rPr sz="950" b="1" i="0">
                <a:solidFill>
                  <a:srgbClr val="64748B"/>
                </a:solidFill>
                <a:latin typeface="微软雅黑"/>
                <a:ea typeface="微软雅黑"/>
              </a:rPr>
              <a:t>278</a:t>
            </a:r>
          </a:p>
        </p:txBody>
      </p:sp>
      <p:sp>
        <p:nvSpPr>
          <p:cNvPr id="35" name="TextBox 34"/>
          <p:cNvSpPr txBox="1"/>
          <p:nvPr/>
        </p:nvSpPr>
        <p:spPr>
          <a:xfrm>
            <a:off x="731520" y="5248656"/>
            <a:ext cx="1143000" cy="219456"/>
          </a:xfrm>
          <a:prstGeom prst="rect">
            <a:avLst/>
          </a:prstGeom>
          <a:noFill/>
        </p:spPr>
        <p:txBody>
          <a:bodyPr wrap="square" lIns="0" rIns="0" tIns="0" bIns="0" anchor="t">
            <a:spAutoFit/>
          </a:bodyPr>
          <a:lstStyle/>
          <a:p>
            <a:pPr algn="l">
              <a:lnSpc>
                <a:spcPct val="112000"/>
              </a:lnSpc>
            </a:pPr>
            <a:r>
              <a:rPr sz="1050" b="0" i="0">
                <a:solidFill>
                  <a:srgbClr val="0B1F3A"/>
                </a:solidFill>
                <a:latin typeface="微软雅黑"/>
                <a:ea typeface="微软雅黑"/>
              </a:rPr>
              <a:t>公共照明</a:t>
            </a:r>
          </a:p>
        </p:txBody>
      </p:sp>
      <p:sp>
        <p:nvSpPr>
          <p:cNvPr id="36" name="Rounded Rectangle 35"/>
          <p:cNvSpPr/>
          <p:nvPr/>
        </p:nvSpPr>
        <p:spPr>
          <a:xfrm>
            <a:off x="1938528" y="5266944"/>
            <a:ext cx="1561737" cy="164592"/>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55129" y="5230368"/>
            <a:ext cx="548640" cy="219456"/>
          </a:xfrm>
          <a:prstGeom prst="rect">
            <a:avLst/>
          </a:prstGeom>
          <a:noFill/>
        </p:spPr>
        <p:txBody>
          <a:bodyPr wrap="square" lIns="0" rIns="0" tIns="0" bIns="0" anchor="t">
            <a:spAutoFit/>
          </a:bodyPr>
          <a:lstStyle/>
          <a:p>
            <a:pPr algn="l">
              <a:lnSpc>
                <a:spcPct val="112000"/>
              </a:lnSpc>
            </a:pPr>
            <a:r>
              <a:rPr sz="950" b="1" i="0">
                <a:solidFill>
                  <a:srgbClr val="64748B"/>
                </a:solidFill>
                <a:latin typeface="微软雅黑"/>
                <a:ea typeface="微软雅黑"/>
              </a:rPr>
              <a:t>269</a:t>
            </a:r>
          </a:p>
        </p:txBody>
      </p:sp>
      <p:sp>
        <p:nvSpPr>
          <p:cNvPr id="38" name="TextBox 37"/>
          <p:cNvSpPr txBox="1"/>
          <p:nvPr/>
        </p:nvSpPr>
        <p:spPr>
          <a:xfrm>
            <a:off x="713232" y="5742432"/>
            <a:ext cx="4937760" cy="201168"/>
          </a:xfrm>
          <a:prstGeom prst="rect">
            <a:avLst/>
          </a:prstGeom>
          <a:noFill/>
        </p:spPr>
        <p:txBody>
          <a:bodyPr wrap="square" lIns="0" rIns="0" tIns="0" bIns="0" anchor="t">
            <a:spAutoFit/>
          </a:bodyPr>
          <a:lstStyle/>
          <a:p>
            <a:pPr algn="l">
              <a:lnSpc>
                <a:spcPct val="112000"/>
              </a:lnSpc>
            </a:pPr>
            <a:r>
              <a:rPr sz="850" b="0" i="0">
                <a:solidFill>
                  <a:srgbClr val="64748B"/>
                </a:solidFill>
                <a:latin typeface="微软雅黑"/>
                <a:ea typeface="微软雅黑"/>
              </a:rPr>
              <a:t>全部 13 类分布见报告图 5-1；给排水合计 32.1%</a:t>
            </a:r>
          </a:p>
        </p:txBody>
      </p:sp>
      <p:sp>
        <p:nvSpPr>
          <p:cNvPr id="39" name="TextBox 38"/>
          <p:cNvSpPr txBox="1"/>
          <p:nvPr/>
        </p:nvSpPr>
        <p:spPr>
          <a:xfrm>
            <a:off x="5989320" y="2560320"/>
            <a:ext cx="2743200" cy="274320"/>
          </a:xfrm>
          <a:prstGeom prst="rect">
            <a:avLst/>
          </a:prstGeom>
          <a:noFill/>
        </p:spPr>
        <p:txBody>
          <a:bodyPr wrap="square" lIns="0" rIns="0" tIns="0" bIns="0" anchor="t">
            <a:spAutoFit/>
          </a:bodyPr>
          <a:lstStyle/>
          <a:p>
            <a:pPr algn="l">
              <a:lnSpc>
                <a:spcPct val="112000"/>
              </a:lnSpc>
            </a:pPr>
            <a:r>
              <a:rPr sz="1500" b="1" i="0">
                <a:solidFill>
                  <a:srgbClr val="0B1F3A"/>
                </a:solidFill>
                <a:latin typeface="微软雅黑"/>
                <a:ea typeface="微软雅黑"/>
              </a:rPr>
              <a:t>三个关键结论</a:t>
            </a:r>
          </a:p>
        </p:txBody>
      </p:sp>
      <p:sp>
        <p:nvSpPr>
          <p:cNvPr id="40" name="TextBox 39"/>
          <p:cNvSpPr txBox="1"/>
          <p:nvPr/>
        </p:nvSpPr>
        <p:spPr>
          <a:xfrm>
            <a:off x="5989320" y="2926080"/>
            <a:ext cx="5532120" cy="1554480"/>
          </a:xfrm>
          <a:prstGeom prst="rect">
            <a:avLst/>
          </a:prstGeom>
          <a:noFill/>
        </p:spPr>
        <p:txBody>
          <a:bodyPr wrap="square" lIns="0" rIns="0" tIns="0" bIns="0" anchor="t">
            <a:spAutoFit/>
          </a:bodyPr>
          <a:lstStyle/>
          <a:p>
            <a:pPr marL="201168" indent="-201168">
              <a:lnSpc>
                <a:spcPct val="116000"/>
              </a:lnSpc>
              <a:spcAft>
                <a:spcPts val="700"/>
              </a:spcAft>
            </a:pPr>
            <a:r>
              <a:rPr sz="1600" b="1" i="0">
                <a:solidFill>
                  <a:srgbClr val="2563EB"/>
                </a:solidFill>
                <a:latin typeface="微软雅黑"/>
                <a:ea typeface="微软雅黑"/>
              </a:rPr>
              <a:t>•  </a:t>
            </a:r>
            <a:r>
              <a:rPr sz="1600" b="0" i="0">
                <a:solidFill>
                  <a:srgbClr val="0B1F3A"/>
                </a:solidFill>
                <a:latin typeface="微软雅黑"/>
                <a:ea typeface="微软雅黑"/>
              </a:rPr>
              <a:t>水管漏水 504 单（16.8%）；给排水合计 32.1%</a:t>
            </a:r>
          </a:p>
          <a:p>
            <a:pPr marL="201168" indent="-201168">
              <a:lnSpc>
                <a:spcPct val="116000"/>
              </a:lnSpc>
              <a:spcAft>
                <a:spcPts val="700"/>
              </a:spcAft>
            </a:pPr>
            <a:r>
              <a:rPr sz="1600" b="1" i="0">
                <a:solidFill>
                  <a:srgbClr val="2563EB"/>
                </a:solidFill>
                <a:latin typeface="微软雅黑"/>
                <a:ea typeface="微软雅黑"/>
              </a:rPr>
              <a:t>•  </a:t>
            </a:r>
            <a:r>
              <a:rPr sz="1600" b="0" i="0">
                <a:solidFill>
                  <a:srgbClr val="0B1F3A"/>
                </a:solidFill>
                <a:latin typeface="微软雅黑"/>
                <a:ea typeface="微软雅黑"/>
              </a:rPr>
              <a:t>工作日 8–11 点、18–21 点双高峰，19 点峰值 255 单</a:t>
            </a:r>
          </a:p>
          <a:p>
            <a:pPr marL="201168" indent="-201168">
              <a:lnSpc>
                <a:spcPct val="116000"/>
              </a:lnSpc>
              <a:spcAft>
                <a:spcPts val="700"/>
              </a:spcAft>
            </a:pPr>
            <a:r>
              <a:rPr sz="1600" b="1" i="0">
                <a:solidFill>
                  <a:srgbClr val="2563EB"/>
                </a:solidFill>
                <a:latin typeface="微软雅黑"/>
                <a:ea typeface="微软雅黑"/>
              </a:rPr>
              <a:t>•  </a:t>
            </a:r>
            <a:r>
              <a:rPr sz="1600" b="0" i="0">
                <a:solidFill>
                  <a:srgbClr val="0B1F3A"/>
                </a:solidFill>
                <a:latin typeface="微软雅黑"/>
                <a:ea typeface="微软雅黑"/>
              </a:rPr>
              <a:t>超时工单闭环率 57.5%，非超时 98.5%</a:t>
            </a:r>
          </a:p>
        </p:txBody>
      </p:sp>
      <p:sp>
        <p:nvSpPr>
          <p:cNvPr id="41" name="TextBox 40"/>
          <p:cNvSpPr txBox="1"/>
          <p:nvPr/>
        </p:nvSpPr>
        <p:spPr>
          <a:xfrm>
            <a:off x="5989320" y="4462272"/>
            <a:ext cx="1828800" cy="228600"/>
          </a:xfrm>
          <a:prstGeom prst="rect">
            <a:avLst/>
          </a:prstGeom>
          <a:noFill/>
        </p:spPr>
        <p:txBody>
          <a:bodyPr wrap="square" lIns="0" rIns="0" tIns="0" bIns="0" anchor="t">
            <a:spAutoFit/>
          </a:bodyPr>
          <a:lstStyle/>
          <a:p>
            <a:pPr algn="l">
              <a:lnSpc>
                <a:spcPct val="112000"/>
              </a:lnSpc>
            </a:pPr>
            <a:r>
              <a:rPr sz="1000" b="1" i="0">
                <a:solidFill>
                  <a:srgbClr val="64748B"/>
                </a:solidFill>
                <a:latin typeface="微软雅黑"/>
                <a:ea typeface="微软雅黑"/>
              </a:rPr>
              <a:t>超时 × 闭环率</a:t>
            </a:r>
          </a:p>
        </p:txBody>
      </p:sp>
      <p:sp>
        <p:nvSpPr>
          <p:cNvPr id="42" name="TextBox 41"/>
          <p:cNvSpPr txBox="1"/>
          <p:nvPr/>
        </p:nvSpPr>
        <p:spPr>
          <a:xfrm>
            <a:off x="5989320" y="4754880"/>
            <a:ext cx="1143000" cy="228600"/>
          </a:xfrm>
          <a:prstGeom prst="rect">
            <a:avLst/>
          </a:prstGeom>
          <a:noFill/>
        </p:spPr>
        <p:txBody>
          <a:bodyPr wrap="square" lIns="0" rIns="0" tIns="0" bIns="0" anchor="t">
            <a:spAutoFit/>
          </a:bodyPr>
          <a:lstStyle/>
          <a:p>
            <a:pPr algn="l">
              <a:lnSpc>
                <a:spcPct val="112000"/>
              </a:lnSpc>
            </a:pPr>
            <a:r>
              <a:rPr sz="1050" b="0" i="0">
                <a:solidFill>
                  <a:srgbClr val="0B1F3A"/>
                </a:solidFill>
                <a:latin typeface="微软雅黑"/>
                <a:ea typeface="微软雅黑"/>
              </a:rPr>
              <a:t>超时工单</a:t>
            </a:r>
          </a:p>
        </p:txBody>
      </p:sp>
      <p:sp>
        <p:nvSpPr>
          <p:cNvPr id="43" name="Rounded Rectangle 42"/>
          <p:cNvSpPr/>
          <p:nvPr/>
        </p:nvSpPr>
        <p:spPr>
          <a:xfrm>
            <a:off x="7178040" y="4782312"/>
            <a:ext cx="3108960" cy="201168"/>
          </a:xfrm>
          <a:prstGeom prst="roundRect">
            <a:avLst>
              <a:gd name="adj" fmla="val 5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7178040" y="4782312"/>
            <a:ext cx="1787652" cy="201168"/>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0378440" y="4745736"/>
            <a:ext cx="822960" cy="228600"/>
          </a:xfrm>
          <a:prstGeom prst="rect">
            <a:avLst/>
          </a:prstGeom>
          <a:noFill/>
        </p:spPr>
        <p:txBody>
          <a:bodyPr wrap="square" lIns="0" rIns="0" tIns="0" bIns="0" anchor="t">
            <a:spAutoFit/>
          </a:bodyPr>
          <a:lstStyle/>
          <a:p>
            <a:pPr algn="l">
              <a:lnSpc>
                <a:spcPct val="112000"/>
              </a:lnSpc>
            </a:pPr>
            <a:r>
              <a:rPr sz="1050" b="1" i="0">
                <a:solidFill>
                  <a:srgbClr val="EF4444"/>
                </a:solidFill>
                <a:latin typeface="微软雅黑"/>
                <a:ea typeface="微软雅黑"/>
              </a:rPr>
              <a:t>57.5%</a:t>
            </a:r>
          </a:p>
        </p:txBody>
      </p:sp>
      <p:sp>
        <p:nvSpPr>
          <p:cNvPr id="46" name="TextBox 45"/>
          <p:cNvSpPr txBox="1"/>
          <p:nvPr/>
        </p:nvSpPr>
        <p:spPr>
          <a:xfrm>
            <a:off x="5989320" y="5321808"/>
            <a:ext cx="1143000" cy="228600"/>
          </a:xfrm>
          <a:prstGeom prst="rect">
            <a:avLst/>
          </a:prstGeom>
          <a:noFill/>
        </p:spPr>
        <p:txBody>
          <a:bodyPr wrap="square" lIns="0" rIns="0" tIns="0" bIns="0" anchor="t">
            <a:spAutoFit/>
          </a:bodyPr>
          <a:lstStyle/>
          <a:p>
            <a:pPr algn="l">
              <a:lnSpc>
                <a:spcPct val="112000"/>
              </a:lnSpc>
            </a:pPr>
            <a:r>
              <a:rPr sz="1050" b="0" i="0">
                <a:solidFill>
                  <a:srgbClr val="0B1F3A"/>
                </a:solidFill>
                <a:latin typeface="微软雅黑"/>
                <a:ea typeface="微软雅黑"/>
              </a:rPr>
              <a:t>非超时工单</a:t>
            </a:r>
          </a:p>
        </p:txBody>
      </p:sp>
      <p:sp>
        <p:nvSpPr>
          <p:cNvPr id="47" name="Rounded Rectangle 46"/>
          <p:cNvSpPr/>
          <p:nvPr/>
        </p:nvSpPr>
        <p:spPr>
          <a:xfrm>
            <a:off x="7178040" y="5349240"/>
            <a:ext cx="3108960" cy="201168"/>
          </a:xfrm>
          <a:prstGeom prst="roundRect">
            <a:avLst>
              <a:gd name="adj" fmla="val 5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7178040" y="5349240"/>
            <a:ext cx="3062325" cy="20116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378440" y="5312664"/>
            <a:ext cx="822960" cy="228600"/>
          </a:xfrm>
          <a:prstGeom prst="rect">
            <a:avLst/>
          </a:prstGeom>
          <a:noFill/>
        </p:spPr>
        <p:txBody>
          <a:bodyPr wrap="square" lIns="0" rIns="0" tIns="0" bIns="0" anchor="t">
            <a:spAutoFit/>
          </a:bodyPr>
          <a:lstStyle/>
          <a:p>
            <a:pPr algn="l">
              <a:lnSpc>
                <a:spcPct val="112000"/>
              </a:lnSpc>
            </a:pPr>
            <a:r>
              <a:rPr sz="1050" b="1" i="0">
                <a:solidFill>
                  <a:srgbClr val="10B981"/>
                </a:solidFill>
                <a:latin typeface="微软雅黑"/>
                <a:ea typeface="微软雅黑"/>
              </a:rPr>
              <a:t>98.5%</a:t>
            </a:r>
          </a:p>
        </p:txBody>
      </p:sp>
      <p:sp>
        <p:nvSpPr>
          <p:cNvPr id="50" name="Rounded Rectangle 49"/>
          <p:cNvSpPr/>
          <p:nvPr/>
        </p:nvSpPr>
        <p:spPr>
          <a:xfrm>
            <a:off x="5989320" y="5806440"/>
            <a:ext cx="5349240" cy="384048"/>
          </a:xfrm>
          <a:prstGeom prst="roundRect">
            <a:avLst>
              <a:gd name="adj" fmla="val 20000"/>
            </a:avLst>
          </a:prstGeom>
          <a:solidFill>
            <a:srgbClr val="EFF6FF"/>
          </a:solidFill>
          <a:ln w="889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144768" y="5888736"/>
            <a:ext cx="5029200" cy="219456"/>
          </a:xfrm>
          <a:prstGeom prst="rect">
            <a:avLst/>
          </a:prstGeom>
          <a:noFill/>
        </p:spPr>
        <p:txBody>
          <a:bodyPr wrap="square" lIns="0" rIns="0" tIns="0" bIns="0" anchor="t">
            <a:spAutoFit/>
          </a:bodyPr>
          <a:lstStyle/>
          <a:p>
            <a:pPr algn="l">
              <a:lnSpc>
                <a:spcPct val="112000"/>
              </a:lnSpc>
            </a:pPr>
            <a:r>
              <a:rPr sz="950" b="1" i="0">
                <a:solidFill>
                  <a:srgbClr val="2563EB"/>
                </a:solidFill>
                <a:latin typeface="微软雅黑"/>
                <a:ea typeface="微软雅黑"/>
              </a:rPr>
              <a:t>分析产物：dispatch_priors.json → 直接参与在线派单评分</a:t>
            </a:r>
          </a:p>
        </p:txBody>
      </p:sp>
      <p:sp>
        <p:nvSpPr>
          <p:cNvPr id="52" name="Rectangle 51"/>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54" name="TextBox 53"/>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06 / 实验评估</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600 条样本：Agent 到底准不准</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随机抽样 random_state=42，以历史人工标注类型、紧急度、实际工种为真值</a:t>
            </a:r>
          </a:p>
        </p:txBody>
      </p:sp>
      <p:graphicFrame>
        <p:nvGraphicFramePr>
          <p:cNvPr id="7" name="Table 6"/>
          <p:cNvGraphicFramePr>
            <a:graphicFrameLocks noGrp="1"/>
          </p:cNvGraphicFramePr>
          <p:nvPr/>
        </p:nvGraphicFramePr>
        <p:xfrm>
          <a:off x="685800" y="1536192"/>
          <a:ext cx="6537960" cy="3767328"/>
        </p:xfrm>
        <a:graphic>
          <a:graphicData uri="http://schemas.openxmlformats.org/drawingml/2006/table">
            <a:tbl>
              <a:tblPr bandRow="1">
                <a:tableStyleId>{2D5ABB26-0587-4C30-8999-92F81FD0307C}</a:tableStyleId>
              </a:tblPr>
              <a:tblGrid>
                <a:gridCol w="2743200"/>
                <a:gridCol w="1463040"/>
                <a:gridCol w="2331720"/>
              </a:tblGrid>
              <a:tr h="475488">
                <a:tc>
                  <a:txBody>
                    <a:bodyPr/>
                    <a:lstStyle/>
                    <a:p>
                      <a:pPr algn="l"/>
                      <a:r>
                        <a:rPr sz="1150" b="1" i="0">
                          <a:solidFill>
                            <a:srgbClr val="FFFFFF"/>
                          </a:solidFill>
                          <a:latin typeface="微软雅黑"/>
                          <a:ea typeface="微软雅黑"/>
                        </a:rPr>
                        <a:t>指标</a:t>
                      </a:r>
                    </a:p>
                  </a:txBody>
                  <a:tcPr marL="109728" marR="109728" marT="18288" marB="18288" anchor="ctr">
                    <a:solidFill>
                      <a:srgbClr val="0B1F3A"/>
                    </a:solidFill>
                  </a:tcPr>
                </a:tc>
                <a:tc>
                  <a:txBody>
                    <a:bodyPr/>
                    <a:lstStyle/>
                    <a:p>
                      <a:pPr algn="l"/>
                      <a:r>
                        <a:rPr sz="1150" b="1" i="0">
                          <a:solidFill>
                            <a:srgbClr val="FFFFFF"/>
                          </a:solidFill>
                          <a:latin typeface="微软雅黑"/>
                          <a:ea typeface="微软雅黑"/>
                        </a:rPr>
                        <a:t>结果</a:t>
                      </a:r>
                    </a:p>
                  </a:txBody>
                  <a:tcPr marL="109728" marR="109728" marT="18288" marB="18288" anchor="ctr">
                    <a:solidFill>
                      <a:srgbClr val="0B1F3A"/>
                    </a:solidFill>
                  </a:tcPr>
                </a:tc>
                <a:tc>
                  <a:txBody>
                    <a:bodyPr/>
                    <a:lstStyle/>
                    <a:p>
                      <a:pPr algn="l"/>
                      <a:r>
                        <a:rPr sz="1150" b="1" i="0">
                          <a:solidFill>
                            <a:srgbClr val="FFFFFF"/>
                          </a:solidFill>
                          <a:latin typeface="微软雅黑"/>
                          <a:ea typeface="微软雅黑"/>
                        </a:rPr>
                        <a:t>口径</a:t>
                      </a:r>
                    </a:p>
                  </a:txBody>
                  <a:tcPr marL="109728" marR="109728" marT="18288" marB="18288" anchor="ctr">
                    <a:solidFill>
                      <a:srgbClr val="0B1F3A"/>
                    </a:solidFill>
                  </a:tcPr>
                </a:tc>
              </a:tr>
              <a:tr h="548640">
                <a:tc>
                  <a:txBody>
                    <a:bodyPr/>
                    <a:lstStyle/>
                    <a:p>
                      <a:pPr algn="l"/>
                      <a:r>
                        <a:rPr sz="1250" b="1" i="0">
                          <a:solidFill>
                            <a:srgbClr val="0B1F3A"/>
                          </a:solidFill>
                          <a:latin typeface="微软雅黑"/>
                          <a:ea typeface="微软雅黑"/>
                        </a:rPr>
                        <a:t>报修类型理解</a:t>
                      </a:r>
                    </a:p>
                  </a:txBody>
                  <a:tcPr marL="109728" marR="109728" marT="18288" marB="18288" anchor="ctr">
                    <a:solidFill>
                      <a:srgbClr val="FFFFFF"/>
                    </a:solidFill>
                  </a:tcPr>
                </a:tc>
                <a:tc>
                  <a:txBody>
                    <a:bodyPr/>
                    <a:lstStyle/>
                    <a:p>
                      <a:pPr algn="l"/>
                      <a:r>
                        <a:rPr sz="1600" b="1" i="0">
                          <a:solidFill>
                            <a:srgbClr val="2563EB"/>
                          </a:solidFill>
                          <a:latin typeface="微软雅黑"/>
                          <a:ea typeface="微软雅黑"/>
                        </a:rPr>
                        <a:t>98.83%</a:t>
                      </a:r>
                    </a:p>
                  </a:txBody>
                  <a:tcPr marL="109728" marR="109728" marT="18288" marB="18288" anchor="ctr">
                    <a:solidFill>
                      <a:srgbClr val="FFFFFF"/>
                    </a:solidFill>
                  </a:tcPr>
                </a:tc>
                <a:tc>
                  <a:txBody>
                    <a:bodyPr/>
                    <a:lstStyle/>
                    <a:p>
                      <a:pPr algn="l"/>
                      <a:r>
                        <a:rPr sz="1050" b="0" i="0">
                          <a:solidFill>
                            <a:srgbClr val="64748B"/>
                          </a:solidFill>
                          <a:latin typeface="微软雅黑"/>
                          <a:ea typeface="微软雅黑"/>
                        </a:rPr>
                        <a:t>13 类分类是否正确</a:t>
                      </a:r>
                    </a:p>
                  </a:txBody>
                  <a:tcPr marL="109728" marR="109728" marT="18288" marB="18288" anchor="ctr">
                    <a:solidFill>
                      <a:srgbClr val="FFFFFF"/>
                    </a:solidFill>
                  </a:tcPr>
                </a:tc>
              </a:tr>
              <a:tr h="548640">
                <a:tc>
                  <a:txBody>
                    <a:bodyPr/>
                    <a:lstStyle/>
                    <a:p>
                      <a:pPr algn="l"/>
                      <a:r>
                        <a:rPr sz="1250" b="1" i="0">
                          <a:solidFill>
                            <a:srgbClr val="0B1F3A"/>
                          </a:solidFill>
                          <a:latin typeface="微软雅黑"/>
                          <a:ea typeface="微软雅黑"/>
                        </a:rPr>
                        <a:t>紧急程度判断</a:t>
                      </a:r>
                    </a:p>
                  </a:txBody>
                  <a:tcPr marL="109728" marR="109728" marT="18288" marB="18288" anchor="ctr">
                    <a:solidFill>
                      <a:srgbClr val="F8FAFC"/>
                    </a:solidFill>
                  </a:tcPr>
                </a:tc>
                <a:tc>
                  <a:txBody>
                    <a:bodyPr/>
                    <a:lstStyle/>
                    <a:p>
                      <a:pPr algn="l"/>
                      <a:r>
                        <a:rPr sz="1600" b="1" i="0">
                          <a:solidFill>
                            <a:srgbClr val="2563EB"/>
                          </a:solidFill>
                          <a:latin typeface="微软雅黑"/>
                          <a:ea typeface="微软雅黑"/>
                        </a:rPr>
                        <a:t>96.50%</a:t>
                      </a:r>
                    </a:p>
                  </a:txBody>
                  <a:tcPr marL="109728" marR="109728" marT="18288" marB="18288" anchor="ctr">
                    <a:solidFill>
                      <a:srgbClr val="F8FAFC"/>
                    </a:solidFill>
                  </a:tcPr>
                </a:tc>
                <a:tc>
                  <a:txBody>
                    <a:bodyPr/>
                    <a:lstStyle/>
                    <a:p>
                      <a:pPr algn="l"/>
                      <a:r>
                        <a:rPr sz="1050" b="0" i="0">
                          <a:solidFill>
                            <a:srgbClr val="64748B"/>
                          </a:solidFill>
                          <a:latin typeface="微软雅黑"/>
                          <a:ea typeface="微软雅黑"/>
                        </a:rPr>
                        <a:t>紧急 / 高 / 中 / 低</a:t>
                      </a:r>
                    </a:p>
                  </a:txBody>
                  <a:tcPr marL="109728" marR="109728" marT="18288" marB="18288" anchor="ctr">
                    <a:solidFill>
                      <a:srgbClr val="F8FAFC"/>
                    </a:solidFill>
                  </a:tcPr>
                </a:tc>
              </a:tr>
              <a:tr h="548640">
                <a:tc>
                  <a:txBody>
                    <a:bodyPr/>
                    <a:lstStyle/>
                    <a:p>
                      <a:pPr algn="l"/>
                      <a:r>
                        <a:rPr sz="1250" b="1" i="0">
                          <a:solidFill>
                            <a:srgbClr val="0B1F3A"/>
                          </a:solidFill>
                          <a:latin typeface="微软雅黑"/>
                          <a:ea typeface="微软雅黑"/>
                        </a:rPr>
                        <a:t>派单责任工种</a:t>
                      </a:r>
                    </a:p>
                  </a:txBody>
                  <a:tcPr marL="109728" marR="109728" marT="18288" marB="18288" anchor="ctr">
                    <a:solidFill>
                      <a:srgbClr val="FFFFFF"/>
                    </a:solidFill>
                  </a:tcPr>
                </a:tc>
                <a:tc>
                  <a:txBody>
                    <a:bodyPr/>
                    <a:lstStyle/>
                    <a:p>
                      <a:pPr algn="l"/>
                      <a:r>
                        <a:rPr sz="1600" b="1" i="0">
                          <a:solidFill>
                            <a:srgbClr val="2563EB"/>
                          </a:solidFill>
                          <a:latin typeface="微软雅黑"/>
                          <a:ea typeface="微软雅黑"/>
                        </a:rPr>
                        <a:t>99.17%</a:t>
                      </a:r>
                    </a:p>
                  </a:txBody>
                  <a:tcPr marL="109728" marR="109728" marT="18288" marB="18288" anchor="ctr">
                    <a:solidFill>
                      <a:srgbClr val="FFFFFF"/>
                    </a:solidFill>
                  </a:tcPr>
                </a:tc>
                <a:tc>
                  <a:txBody>
                    <a:bodyPr/>
                    <a:lstStyle/>
                    <a:p>
                      <a:pPr algn="l"/>
                      <a:r>
                        <a:rPr sz="1050" b="0" i="0">
                          <a:solidFill>
                            <a:srgbClr val="64748B"/>
                          </a:solidFill>
                          <a:latin typeface="微软雅黑"/>
                          <a:ea typeface="微软雅黑"/>
                        </a:rPr>
                        <a:t>推荐工种与实际工种一致</a:t>
                      </a:r>
                    </a:p>
                  </a:txBody>
                  <a:tcPr marL="109728" marR="109728" marT="18288" marB="18288" anchor="ctr">
                    <a:solidFill>
                      <a:srgbClr val="FFFFFF"/>
                    </a:solidFill>
                  </a:tcPr>
                </a:tc>
              </a:tr>
              <a:tr h="548640">
                <a:tc>
                  <a:txBody>
                    <a:bodyPr/>
                    <a:lstStyle/>
                    <a:p>
                      <a:pPr algn="l"/>
                      <a:r>
                        <a:rPr sz="1250" b="1" i="0">
                          <a:solidFill>
                            <a:srgbClr val="0B1F3A"/>
                          </a:solidFill>
                          <a:latin typeface="微软雅黑"/>
                          <a:ea typeface="微软雅黑"/>
                        </a:rPr>
                        <a:t>综合自动派单</a:t>
                      </a:r>
                    </a:p>
                  </a:txBody>
                  <a:tcPr marL="109728" marR="109728" marT="18288" marB="18288" anchor="ctr">
                    <a:solidFill>
                      <a:srgbClr val="F8FAFC"/>
                    </a:solidFill>
                  </a:tcPr>
                </a:tc>
                <a:tc>
                  <a:txBody>
                    <a:bodyPr/>
                    <a:lstStyle/>
                    <a:p>
                      <a:pPr algn="l"/>
                      <a:r>
                        <a:rPr sz="1600" b="1" i="0">
                          <a:solidFill>
                            <a:srgbClr val="2563EB"/>
                          </a:solidFill>
                          <a:latin typeface="微软雅黑"/>
                          <a:ea typeface="微软雅黑"/>
                        </a:rPr>
                        <a:t>98.83%</a:t>
                      </a:r>
                    </a:p>
                  </a:txBody>
                  <a:tcPr marL="109728" marR="109728" marT="18288" marB="18288" anchor="ctr">
                    <a:solidFill>
                      <a:srgbClr val="F8FAFC"/>
                    </a:solidFill>
                  </a:tcPr>
                </a:tc>
                <a:tc>
                  <a:txBody>
                    <a:bodyPr/>
                    <a:lstStyle/>
                    <a:p>
                      <a:pPr algn="l"/>
                      <a:r>
                        <a:rPr sz="1050" b="0" i="0">
                          <a:solidFill>
                            <a:srgbClr val="64748B"/>
                          </a:solidFill>
                          <a:latin typeface="微软雅黑"/>
                          <a:ea typeface="微软雅黑"/>
                        </a:rPr>
                        <a:t>类型正确且工种正确</a:t>
                      </a:r>
                    </a:p>
                  </a:txBody>
                  <a:tcPr marL="109728" marR="109728" marT="18288" marB="18288" anchor="ctr">
                    <a:solidFill>
                      <a:srgbClr val="F8FAFC"/>
                    </a:solidFill>
                  </a:tcPr>
                </a:tc>
              </a:tr>
              <a:tr h="548640">
                <a:tc>
                  <a:txBody>
                    <a:bodyPr/>
                    <a:lstStyle/>
                    <a:p>
                      <a:pPr algn="l"/>
                      <a:r>
                        <a:rPr sz="1250" b="1" i="0">
                          <a:solidFill>
                            <a:srgbClr val="0B1F3A"/>
                          </a:solidFill>
                          <a:latin typeface="微软雅黑"/>
                          <a:ea typeface="微软雅黑"/>
                        </a:rPr>
                        <a:t>闭环验收通过率</a:t>
                      </a:r>
                    </a:p>
                  </a:txBody>
                  <a:tcPr marL="109728" marR="109728" marT="18288" marB="18288" anchor="ctr">
                    <a:solidFill>
                      <a:srgbClr val="FFFFFF"/>
                    </a:solidFill>
                  </a:tcPr>
                </a:tc>
                <a:tc>
                  <a:txBody>
                    <a:bodyPr/>
                    <a:lstStyle/>
                    <a:p>
                      <a:pPr algn="l"/>
                      <a:r>
                        <a:rPr sz="1600" b="1" i="0">
                          <a:solidFill>
                            <a:srgbClr val="EF4444"/>
                          </a:solidFill>
                          <a:latin typeface="微软雅黑"/>
                          <a:ea typeface="微软雅黑"/>
                        </a:rPr>
                        <a:t>71.33%</a:t>
                      </a:r>
                    </a:p>
                  </a:txBody>
                  <a:tcPr marL="109728" marR="109728" marT="18288" marB="18288" anchor="ctr">
                    <a:solidFill>
                      <a:srgbClr val="FFFFFF"/>
                    </a:solidFill>
                  </a:tcPr>
                </a:tc>
                <a:tc>
                  <a:txBody>
                    <a:bodyPr/>
                    <a:lstStyle/>
                    <a:p>
                      <a:pPr algn="l"/>
                      <a:r>
                        <a:rPr sz="1050" b="0" i="0">
                          <a:solidFill>
                            <a:srgbClr val="64748B"/>
                          </a:solidFill>
                          <a:latin typeface="微软雅黑"/>
                          <a:ea typeface="微软雅黑"/>
                        </a:rPr>
                        <a:t>用历史完工记录重放验收</a:t>
                      </a:r>
                    </a:p>
                  </a:txBody>
                  <a:tcPr marL="109728" marR="109728" marT="18288" marB="18288" anchor="ctr">
                    <a:solidFill>
                      <a:srgbClr val="FFFFFF"/>
                    </a:solidFill>
                  </a:tcPr>
                </a:tc>
              </a:tr>
              <a:tr h="548640">
                <a:tc>
                  <a:txBody>
                    <a:bodyPr/>
                    <a:lstStyle/>
                    <a:p>
                      <a:pPr algn="l"/>
                      <a:r>
                        <a:rPr sz="1250" b="1" i="0">
                          <a:solidFill>
                            <a:srgbClr val="0B1F3A"/>
                          </a:solidFill>
                          <a:latin typeface="微软雅黑"/>
                          <a:ea typeface="微软雅黑"/>
                        </a:rPr>
                        <a:t>人工改派率</a:t>
                      </a:r>
                    </a:p>
                  </a:txBody>
                  <a:tcPr marL="109728" marR="109728" marT="18288" marB="18288" anchor="ctr">
                    <a:solidFill>
                      <a:srgbClr val="F8FAFC"/>
                    </a:solidFill>
                  </a:tcPr>
                </a:tc>
                <a:tc>
                  <a:txBody>
                    <a:bodyPr/>
                    <a:lstStyle/>
                    <a:p>
                      <a:pPr algn="l"/>
                      <a:r>
                        <a:rPr sz="1600" b="1" i="0">
                          <a:solidFill>
                            <a:srgbClr val="0B1F3A"/>
                          </a:solidFill>
                          <a:latin typeface="微软雅黑"/>
                          <a:ea typeface="微软雅黑"/>
                        </a:rPr>
                        <a:t>5.30%</a:t>
                      </a:r>
                    </a:p>
                  </a:txBody>
                  <a:tcPr marL="109728" marR="109728" marT="18288" marB="18288" anchor="ctr">
                    <a:solidFill>
                      <a:srgbClr val="F8FAFC"/>
                    </a:solidFill>
                  </a:tcPr>
                </a:tc>
                <a:tc>
                  <a:txBody>
                    <a:bodyPr/>
                    <a:lstStyle/>
                    <a:p>
                      <a:pPr algn="l"/>
                      <a:r>
                        <a:rPr sz="1050" b="0" i="0">
                          <a:solidFill>
                            <a:srgbClr val="64748B"/>
                          </a:solidFill>
                          <a:latin typeface="微软雅黑"/>
                          <a:ea typeface="微软雅黑"/>
                        </a:rPr>
                        <a:t>历史工单 reassigned 字段</a:t>
                      </a:r>
                    </a:p>
                  </a:txBody>
                  <a:tcPr marL="109728" marR="109728" marT="18288" marB="18288" anchor="ctr">
                    <a:solidFill>
                      <a:srgbClr val="F8FAFC"/>
                    </a:solidFill>
                  </a:tcPr>
                </a:tc>
              </a:tr>
            </a:tbl>
          </a:graphicData>
        </a:graphic>
      </p:graphicFrame>
      <p:sp>
        <p:nvSpPr>
          <p:cNvPr id="8" name="TextBox 7"/>
          <p:cNvSpPr txBox="1"/>
          <p:nvPr/>
        </p:nvSpPr>
        <p:spPr>
          <a:xfrm>
            <a:off x="7498079" y="1554480"/>
            <a:ext cx="2743200" cy="274320"/>
          </a:xfrm>
          <a:prstGeom prst="rect">
            <a:avLst/>
          </a:prstGeom>
          <a:noFill/>
        </p:spPr>
        <p:txBody>
          <a:bodyPr wrap="square" lIns="0" rIns="0" tIns="0" bIns="0" anchor="t">
            <a:spAutoFit/>
          </a:bodyPr>
          <a:lstStyle/>
          <a:p>
            <a:pPr algn="l">
              <a:lnSpc>
                <a:spcPct val="112000"/>
              </a:lnSpc>
            </a:pPr>
            <a:r>
              <a:rPr sz="1400" b="1" i="0">
                <a:solidFill>
                  <a:srgbClr val="0B1F3A"/>
                </a:solidFill>
                <a:latin typeface="微软雅黑"/>
                <a:ea typeface="微软雅黑"/>
              </a:rPr>
              <a:t>如何理解这张表</a:t>
            </a:r>
          </a:p>
        </p:txBody>
      </p:sp>
      <p:sp>
        <p:nvSpPr>
          <p:cNvPr id="9" name="TextBox 8"/>
          <p:cNvSpPr txBox="1"/>
          <p:nvPr/>
        </p:nvSpPr>
        <p:spPr>
          <a:xfrm>
            <a:off x="7498079" y="1920240"/>
            <a:ext cx="4069080" cy="2103120"/>
          </a:xfrm>
          <a:prstGeom prst="rect">
            <a:avLst/>
          </a:prstGeom>
          <a:noFill/>
        </p:spPr>
        <p:txBody>
          <a:bodyPr wrap="square" lIns="0" rIns="0" tIns="0" bIns="0" anchor="t">
            <a:spAutoFit/>
          </a:bodyPr>
          <a:lstStyle/>
          <a:p>
            <a:pPr marL="201168" indent="-201168">
              <a:lnSpc>
                <a:spcPct val="120000"/>
              </a:lnSpc>
              <a:spcAft>
                <a:spcPts val="600"/>
              </a:spcAft>
            </a:pPr>
            <a:r>
              <a:rPr sz="1300" b="1" i="0">
                <a:solidFill>
                  <a:srgbClr val="2563EB"/>
                </a:solidFill>
                <a:latin typeface="微软雅黑"/>
                <a:ea typeface="微软雅黑"/>
              </a:rPr>
              <a:t>•  </a:t>
            </a:r>
            <a:r>
              <a:rPr sz="1300" b="0" i="0">
                <a:solidFill>
                  <a:srgbClr val="0B1F3A"/>
                </a:solidFill>
                <a:latin typeface="微软雅黑"/>
                <a:ea typeface="微软雅黑"/>
              </a:rPr>
              <a:t>600 条随机样本，标签来自历史工单</a:t>
            </a:r>
          </a:p>
          <a:p>
            <a:pPr marL="201168" indent="-201168">
              <a:lnSpc>
                <a:spcPct val="120000"/>
              </a:lnSpc>
              <a:spcAft>
                <a:spcPts val="600"/>
              </a:spcAft>
            </a:pPr>
            <a:r>
              <a:rPr sz="1300" b="1" i="0">
                <a:solidFill>
                  <a:srgbClr val="2563EB"/>
                </a:solidFill>
                <a:latin typeface="微软雅黑"/>
                <a:ea typeface="微软雅黑"/>
              </a:rPr>
              <a:t>•  </a:t>
            </a:r>
            <a:r>
              <a:rPr sz="1300" b="0" i="0">
                <a:solidFill>
                  <a:srgbClr val="0B1F3A"/>
                </a:solidFill>
                <a:latin typeface="微软雅黑"/>
                <a:ea typeface="微软雅黑"/>
              </a:rPr>
              <a:t>同分布测试，指标偏乐观，不等于上线承诺</a:t>
            </a:r>
          </a:p>
          <a:p>
            <a:pPr marL="201168" indent="-201168">
              <a:lnSpc>
                <a:spcPct val="120000"/>
              </a:lnSpc>
              <a:spcAft>
                <a:spcPts val="600"/>
              </a:spcAft>
            </a:pPr>
            <a:r>
              <a:rPr sz="1300" b="1" i="0">
                <a:solidFill>
                  <a:srgbClr val="2563EB"/>
                </a:solidFill>
                <a:latin typeface="微软雅黑"/>
                <a:ea typeface="微软雅黑"/>
              </a:rPr>
              <a:t>•  </a:t>
            </a:r>
            <a:r>
              <a:rPr sz="1300" b="0" i="0">
                <a:solidFill>
                  <a:srgbClr val="0B1F3A"/>
                </a:solidFill>
                <a:latin typeface="微软雅黑"/>
                <a:ea typeface="微软雅黑"/>
              </a:rPr>
              <a:t>验收 71.33% 偏低：16.7% 无照片、15% 说明不匹配</a:t>
            </a:r>
          </a:p>
          <a:p>
            <a:pPr marL="201168" indent="-201168">
              <a:lnSpc>
                <a:spcPct val="120000"/>
              </a:lnSpc>
              <a:spcAft>
                <a:spcPts val="600"/>
              </a:spcAft>
            </a:pPr>
            <a:r>
              <a:rPr sz="1300" b="1" i="0">
                <a:solidFill>
                  <a:srgbClr val="2563EB"/>
                </a:solidFill>
                <a:latin typeface="微软雅黑"/>
                <a:ea typeface="微软雅黑"/>
              </a:rPr>
              <a:t>•  </a:t>
            </a:r>
            <a:r>
              <a:rPr sz="1300" b="0" i="0">
                <a:solidFill>
                  <a:srgbClr val="0B1F3A"/>
                </a:solidFill>
                <a:latin typeface="微软雅黑"/>
                <a:ea typeface="微软雅黑"/>
              </a:rPr>
              <a:t>平均决策耗时 0.46 ms，规则推理无模型调用</a:t>
            </a:r>
          </a:p>
        </p:txBody>
      </p:sp>
      <p:sp>
        <p:nvSpPr>
          <p:cNvPr id="10" name="Rounded Rectangle 9"/>
          <p:cNvSpPr/>
          <p:nvPr/>
        </p:nvSpPr>
        <p:spPr>
          <a:xfrm>
            <a:off x="7498079" y="4187952"/>
            <a:ext cx="4041648" cy="1417320"/>
          </a:xfrm>
          <a:prstGeom prst="roundRect">
            <a:avLst>
              <a:gd name="adj" fmla="val 8000"/>
            </a:avLst>
          </a:prstGeom>
          <a:solidFill>
            <a:srgbClr val="FFFBEB"/>
          </a:solidFill>
          <a:ln w="11430">
            <a:solidFill>
              <a:srgbClr val="FDE68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99248" y="4315968"/>
            <a:ext cx="1371600" cy="228600"/>
          </a:xfrm>
          <a:prstGeom prst="rect">
            <a:avLst/>
          </a:prstGeom>
          <a:noFill/>
        </p:spPr>
        <p:txBody>
          <a:bodyPr wrap="square" lIns="0" rIns="0" tIns="0" bIns="0" anchor="t">
            <a:spAutoFit/>
          </a:bodyPr>
          <a:lstStyle/>
          <a:p>
            <a:pPr algn="l">
              <a:lnSpc>
                <a:spcPct val="112000"/>
              </a:lnSpc>
            </a:pPr>
            <a:r>
              <a:rPr sz="1100" b="1" i="0">
                <a:solidFill>
                  <a:srgbClr val="92400E"/>
                </a:solidFill>
                <a:latin typeface="微软雅黑"/>
                <a:ea typeface="微软雅黑"/>
              </a:rPr>
              <a:t>诚实口径</a:t>
            </a:r>
          </a:p>
        </p:txBody>
      </p:sp>
      <p:sp>
        <p:nvSpPr>
          <p:cNvPr id="12" name="TextBox 11"/>
          <p:cNvSpPr txBox="1"/>
          <p:nvPr/>
        </p:nvSpPr>
        <p:spPr>
          <a:xfrm>
            <a:off x="7699248" y="4590288"/>
            <a:ext cx="3639312" cy="868680"/>
          </a:xfrm>
          <a:prstGeom prst="rect">
            <a:avLst/>
          </a:prstGeom>
          <a:noFill/>
        </p:spPr>
        <p:txBody>
          <a:bodyPr wrap="square" lIns="0" rIns="0" tIns="0" bIns="0" anchor="t">
            <a:spAutoFit/>
          </a:bodyPr>
          <a:lstStyle/>
          <a:p>
            <a:pPr algn="l">
              <a:lnSpc>
                <a:spcPct val="128000"/>
              </a:lnSpc>
            </a:pPr>
            <a:r>
              <a:rPr sz="980" b="0" i="0">
                <a:solidFill>
                  <a:srgbClr val="78350F"/>
                </a:solidFill>
                <a:latin typeface="微软雅黑"/>
                <a:ea typeface="微软雅黑"/>
              </a:rPr>
              <a:t>评估数据由同一业务规则生成，属于同分布测试；真实上线需用脱敏生产工单做外部验证，并以人工改派率持续校准。</a:t>
            </a:r>
          </a:p>
        </p:txBody>
      </p:sp>
      <p:sp>
        <p:nvSpPr>
          <p:cNvPr id="13" name="Rectangle 12"/>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15" name="TextBox 14"/>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05 / 可追溯</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决策日志：每个“为什么”都有答案</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rationale / confidence / duration_ms / trace_id / output_json</a:t>
            </a:r>
          </a:p>
        </p:txBody>
      </p:sp>
      <p:pic>
        <p:nvPicPr>
          <p:cNvPr id="7" name="Picture 6" descr="ppt_logs.png"/>
          <p:cNvPicPr>
            <a:picLocks noChangeAspect="1"/>
          </p:cNvPicPr>
          <p:nvPr/>
        </p:nvPicPr>
        <p:blipFill>
          <a:blip r:embed="rId2"/>
          <a:stretch>
            <a:fillRect/>
          </a:stretch>
        </p:blipFill>
        <p:spPr>
          <a:xfrm>
            <a:off x="685800" y="1463040"/>
            <a:ext cx="5852160" cy="4569945"/>
          </a:xfrm>
          <a:prstGeom prst="rect">
            <a:avLst/>
          </a:prstGeom>
        </p:spPr>
      </p:pic>
      <p:sp>
        <p:nvSpPr>
          <p:cNvPr id="8" name="TextBox 7"/>
          <p:cNvSpPr txBox="1"/>
          <p:nvPr/>
        </p:nvSpPr>
        <p:spPr>
          <a:xfrm>
            <a:off x="685800" y="6071616"/>
            <a:ext cx="5852160" cy="201168"/>
          </a:xfrm>
          <a:prstGeom prst="rect">
            <a:avLst/>
          </a:prstGeom>
          <a:noFill/>
        </p:spPr>
        <p:txBody>
          <a:bodyPr wrap="square" lIns="0" rIns="0" tIns="0" bIns="0" anchor="t">
            <a:spAutoFit/>
          </a:bodyPr>
          <a:lstStyle/>
          <a:p>
            <a:pPr algn="l">
              <a:lnSpc>
                <a:spcPct val="112000"/>
              </a:lnSpc>
            </a:pPr>
            <a:r>
              <a:rPr sz="850" b="0" i="0">
                <a:solidFill>
                  <a:srgbClr val="64748B"/>
                </a:solidFill>
                <a:latin typeface="微软雅黑"/>
                <a:ea typeface="微软雅黑"/>
              </a:rPr>
              <a:t>真实截图：决策日志页，可按 Agent 过滤并展开 JSON</a:t>
            </a:r>
          </a:p>
        </p:txBody>
      </p:sp>
      <p:sp>
        <p:nvSpPr>
          <p:cNvPr id="9" name="TextBox 8"/>
          <p:cNvSpPr txBox="1"/>
          <p:nvPr/>
        </p:nvSpPr>
        <p:spPr>
          <a:xfrm>
            <a:off x="6995160" y="1517904"/>
            <a:ext cx="4023360" cy="274320"/>
          </a:xfrm>
          <a:prstGeom prst="rect">
            <a:avLst/>
          </a:prstGeom>
          <a:noFill/>
        </p:spPr>
        <p:txBody>
          <a:bodyPr wrap="square" lIns="0" rIns="0" tIns="0" bIns="0" anchor="t">
            <a:spAutoFit/>
          </a:bodyPr>
          <a:lstStyle/>
          <a:p>
            <a:pPr algn="l">
              <a:lnSpc>
                <a:spcPct val="112000"/>
              </a:lnSpc>
            </a:pPr>
            <a:r>
              <a:rPr sz="1450" b="1" i="0">
                <a:solidFill>
                  <a:srgbClr val="0B1F3A"/>
                </a:solidFill>
                <a:latin typeface="微软雅黑"/>
                <a:ea typeface="微软雅黑"/>
              </a:rPr>
              <a:t>每条日志回答五个问题</a:t>
            </a:r>
          </a:p>
        </p:txBody>
      </p:sp>
      <p:sp>
        <p:nvSpPr>
          <p:cNvPr id="10" name="Rounded Rectangle 9"/>
          <p:cNvSpPr/>
          <p:nvPr/>
        </p:nvSpPr>
        <p:spPr>
          <a:xfrm>
            <a:off x="6995160" y="1920240"/>
            <a:ext cx="4526280" cy="548640"/>
          </a:xfrm>
          <a:prstGeom prst="roundRect">
            <a:avLst>
              <a:gd name="adj" fmla="val 12000"/>
            </a:avLst>
          </a:prstGeom>
          <a:solidFill>
            <a:srgbClr val="FFFFFF"/>
          </a:solidFill>
          <a:ln w="889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168896" y="2075688"/>
            <a:ext cx="868680" cy="228600"/>
          </a:xfrm>
          <a:prstGeom prst="rect">
            <a:avLst/>
          </a:prstGeom>
          <a:noFill/>
        </p:spPr>
        <p:txBody>
          <a:bodyPr wrap="square" lIns="0" rIns="0" tIns="0" bIns="0" anchor="t">
            <a:spAutoFit/>
          </a:bodyPr>
          <a:lstStyle/>
          <a:p>
            <a:pPr algn="l">
              <a:lnSpc>
                <a:spcPct val="112000"/>
              </a:lnSpc>
            </a:pPr>
            <a:r>
              <a:rPr sz="1200" b="1" i="0">
                <a:solidFill>
                  <a:srgbClr val="2563EB"/>
                </a:solidFill>
                <a:latin typeface="微软雅黑"/>
                <a:ea typeface="微软雅黑"/>
              </a:rPr>
              <a:t>谁在做</a:t>
            </a:r>
          </a:p>
        </p:txBody>
      </p:sp>
      <p:sp>
        <p:nvSpPr>
          <p:cNvPr id="12" name="TextBox 11"/>
          <p:cNvSpPr txBox="1"/>
          <p:nvPr/>
        </p:nvSpPr>
        <p:spPr>
          <a:xfrm>
            <a:off x="8101583" y="2075688"/>
            <a:ext cx="3246120" cy="228600"/>
          </a:xfrm>
          <a:prstGeom prst="rect">
            <a:avLst/>
          </a:prstGeom>
          <a:noFill/>
        </p:spPr>
        <p:txBody>
          <a:bodyPr wrap="square" lIns="0" rIns="0" tIns="0" bIns="0" anchor="t">
            <a:spAutoFit/>
          </a:bodyPr>
          <a:lstStyle/>
          <a:p>
            <a:pPr algn="l">
              <a:lnSpc>
                <a:spcPct val="112000"/>
              </a:lnSpc>
            </a:pPr>
            <a:r>
              <a:rPr sz="1200" b="0" i="0">
                <a:solidFill>
                  <a:srgbClr val="0B1F3A"/>
                </a:solidFill>
                <a:latin typeface="Consolas"/>
                <a:ea typeface="Consolas"/>
              </a:rPr>
              <a:t>agent / action</a:t>
            </a:r>
          </a:p>
        </p:txBody>
      </p:sp>
      <p:sp>
        <p:nvSpPr>
          <p:cNvPr id="13" name="Rounded Rectangle 12"/>
          <p:cNvSpPr/>
          <p:nvPr/>
        </p:nvSpPr>
        <p:spPr>
          <a:xfrm>
            <a:off x="6995160" y="2596896"/>
            <a:ext cx="4526280" cy="548640"/>
          </a:xfrm>
          <a:prstGeom prst="roundRect">
            <a:avLst>
              <a:gd name="adj" fmla="val 12000"/>
            </a:avLst>
          </a:prstGeom>
          <a:solidFill>
            <a:srgbClr val="FFFFFF"/>
          </a:solidFill>
          <a:ln w="889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168896" y="2752344"/>
            <a:ext cx="868680" cy="228600"/>
          </a:xfrm>
          <a:prstGeom prst="rect">
            <a:avLst/>
          </a:prstGeom>
          <a:noFill/>
        </p:spPr>
        <p:txBody>
          <a:bodyPr wrap="square" lIns="0" rIns="0" tIns="0" bIns="0" anchor="t">
            <a:spAutoFit/>
          </a:bodyPr>
          <a:lstStyle/>
          <a:p>
            <a:pPr algn="l">
              <a:lnSpc>
                <a:spcPct val="112000"/>
              </a:lnSpc>
            </a:pPr>
            <a:r>
              <a:rPr sz="1200" b="1" i="0">
                <a:solidFill>
                  <a:srgbClr val="2563EB"/>
                </a:solidFill>
                <a:latin typeface="微软雅黑"/>
                <a:ea typeface="微软雅黑"/>
              </a:rPr>
              <a:t>为什么</a:t>
            </a:r>
          </a:p>
        </p:txBody>
      </p:sp>
      <p:sp>
        <p:nvSpPr>
          <p:cNvPr id="15" name="TextBox 14"/>
          <p:cNvSpPr txBox="1"/>
          <p:nvPr/>
        </p:nvSpPr>
        <p:spPr>
          <a:xfrm>
            <a:off x="8101583" y="2752344"/>
            <a:ext cx="3246120" cy="228600"/>
          </a:xfrm>
          <a:prstGeom prst="rect">
            <a:avLst/>
          </a:prstGeom>
          <a:noFill/>
        </p:spPr>
        <p:txBody>
          <a:bodyPr wrap="square" lIns="0" rIns="0" tIns="0" bIns="0" anchor="t">
            <a:spAutoFit/>
          </a:bodyPr>
          <a:lstStyle/>
          <a:p>
            <a:pPr algn="l">
              <a:lnSpc>
                <a:spcPct val="112000"/>
              </a:lnSpc>
            </a:pPr>
            <a:r>
              <a:rPr sz="1200" b="0" i="0">
                <a:solidFill>
                  <a:srgbClr val="0B1F3A"/>
                </a:solidFill>
                <a:latin typeface="Consolas"/>
                <a:ea typeface="Consolas"/>
              </a:rPr>
              <a:t>rationale + confidence</a:t>
            </a:r>
          </a:p>
        </p:txBody>
      </p:sp>
      <p:sp>
        <p:nvSpPr>
          <p:cNvPr id="16" name="Rounded Rectangle 15"/>
          <p:cNvSpPr/>
          <p:nvPr/>
        </p:nvSpPr>
        <p:spPr>
          <a:xfrm>
            <a:off x="6995160" y="3273552"/>
            <a:ext cx="4526280" cy="548640"/>
          </a:xfrm>
          <a:prstGeom prst="roundRect">
            <a:avLst>
              <a:gd name="adj" fmla="val 12000"/>
            </a:avLst>
          </a:prstGeom>
          <a:solidFill>
            <a:srgbClr val="FFFFFF"/>
          </a:solidFill>
          <a:ln w="889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68896" y="3429000"/>
            <a:ext cx="868680" cy="228600"/>
          </a:xfrm>
          <a:prstGeom prst="rect">
            <a:avLst/>
          </a:prstGeom>
          <a:noFill/>
        </p:spPr>
        <p:txBody>
          <a:bodyPr wrap="square" lIns="0" rIns="0" tIns="0" bIns="0" anchor="t">
            <a:spAutoFit/>
          </a:bodyPr>
          <a:lstStyle/>
          <a:p>
            <a:pPr algn="l">
              <a:lnSpc>
                <a:spcPct val="112000"/>
              </a:lnSpc>
            </a:pPr>
            <a:r>
              <a:rPr sz="1200" b="1" i="0">
                <a:solidFill>
                  <a:srgbClr val="2563EB"/>
                </a:solidFill>
                <a:latin typeface="微软雅黑"/>
                <a:ea typeface="微软雅黑"/>
              </a:rPr>
              <a:t>花多久</a:t>
            </a:r>
          </a:p>
        </p:txBody>
      </p:sp>
      <p:sp>
        <p:nvSpPr>
          <p:cNvPr id="18" name="TextBox 17"/>
          <p:cNvSpPr txBox="1"/>
          <p:nvPr/>
        </p:nvSpPr>
        <p:spPr>
          <a:xfrm>
            <a:off x="8101583" y="3429000"/>
            <a:ext cx="3246120" cy="228600"/>
          </a:xfrm>
          <a:prstGeom prst="rect">
            <a:avLst/>
          </a:prstGeom>
          <a:noFill/>
        </p:spPr>
        <p:txBody>
          <a:bodyPr wrap="square" lIns="0" rIns="0" tIns="0" bIns="0" anchor="t">
            <a:spAutoFit/>
          </a:bodyPr>
          <a:lstStyle/>
          <a:p>
            <a:pPr algn="l">
              <a:lnSpc>
                <a:spcPct val="112000"/>
              </a:lnSpc>
            </a:pPr>
            <a:r>
              <a:rPr sz="1200" b="0" i="0">
                <a:solidFill>
                  <a:srgbClr val="0B1F3A"/>
                </a:solidFill>
                <a:latin typeface="Consolas"/>
                <a:ea typeface="Consolas"/>
              </a:rPr>
              <a:t>duration_ms</a:t>
            </a:r>
          </a:p>
        </p:txBody>
      </p:sp>
      <p:sp>
        <p:nvSpPr>
          <p:cNvPr id="19" name="Rounded Rectangle 18"/>
          <p:cNvSpPr/>
          <p:nvPr/>
        </p:nvSpPr>
        <p:spPr>
          <a:xfrm>
            <a:off x="6995160" y="3950208"/>
            <a:ext cx="4526280" cy="548640"/>
          </a:xfrm>
          <a:prstGeom prst="roundRect">
            <a:avLst>
              <a:gd name="adj" fmla="val 12000"/>
            </a:avLst>
          </a:prstGeom>
          <a:solidFill>
            <a:srgbClr val="FFFFFF"/>
          </a:solidFill>
          <a:ln w="889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68896" y="4105656"/>
            <a:ext cx="868680" cy="228600"/>
          </a:xfrm>
          <a:prstGeom prst="rect">
            <a:avLst/>
          </a:prstGeom>
          <a:noFill/>
        </p:spPr>
        <p:txBody>
          <a:bodyPr wrap="square" lIns="0" rIns="0" tIns="0" bIns="0" anchor="t">
            <a:spAutoFit/>
          </a:bodyPr>
          <a:lstStyle/>
          <a:p>
            <a:pPr algn="l">
              <a:lnSpc>
                <a:spcPct val="112000"/>
              </a:lnSpc>
            </a:pPr>
            <a:r>
              <a:rPr sz="1200" b="1" i="0">
                <a:solidFill>
                  <a:srgbClr val="2563EB"/>
                </a:solidFill>
                <a:latin typeface="微软雅黑"/>
                <a:ea typeface="微软雅黑"/>
              </a:rPr>
              <a:t>关联谁</a:t>
            </a:r>
          </a:p>
        </p:txBody>
      </p:sp>
      <p:sp>
        <p:nvSpPr>
          <p:cNvPr id="21" name="TextBox 20"/>
          <p:cNvSpPr txBox="1"/>
          <p:nvPr/>
        </p:nvSpPr>
        <p:spPr>
          <a:xfrm>
            <a:off x="8101583" y="4105656"/>
            <a:ext cx="3246120" cy="228600"/>
          </a:xfrm>
          <a:prstGeom prst="rect">
            <a:avLst/>
          </a:prstGeom>
          <a:noFill/>
        </p:spPr>
        <p:txBody>
          <a:bodyPr wrap="square" lIns="0" rIns="0" tIns="0" bIns="0" anchor="t">
            <a:spAutoFit/>
          </a:bodyPr>
          <a:lstStyle/>
          <a:p>
            <a:pPr algn="l">
              <a:lnSpc>
                <a:spcPct val="112000"/>
              </a:lnSpc>
            </a:pPr>
            <a:r>
              <a:rPr sz="1200" b="0" i="0">
                <a:solidFill>
                  <a:srgbClr val="0B1F3A"/>
                </a:solidFill>
                <a:latin typeface="Consolas"/>
                <a:ea typeface="Consolas"/>
              </a:rPr>
              <a:t>trace_id / ticket_id</a:t>
            </a:r>
          </a:p>
        </p:txBody>
      </p:sp>
      <p:sp>
        <p:nvSpPr>
          <p:cNvPr id="22" name="Rounded Rectangle 21"/>
          <p:cNvSpPr/>
          <p:nvPr/>
        </p:nvSpPr>
        <p:spPr>
          <a:xfrm>
            <a:off x="6995160" y="4626864"/>
            <a:ext cx="4526280" cy="548640"/>
          </a:xfrm>
          <a:prstGeom prst="roundRect">
            <a:avLst>
              <a:gd name="adj" fmla="val 12000"/>
            </a:avLst>
          </a:prstGeom>
          <a:solidFill>
            <a:srgbClr val="FFFFFF"/>
          </a:solidFill>
          <a:ln w="889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68896" y="4782312"/>
            <a:ext cx="868680" cy="228600"/>
          </a:xfrm>
          <a:prstGeom prst="rect">
            <a:avLst/>
          </a:prstGeom>
          <a:noFill/>
        </p:spPr>
        <p:txBody>
          <a:bodyPr wrap="square" lIns="0" rIns="0" tIns="0" bIns="0" anchor="t">
            <a:spAutoFit/>
          </a:bodyPr>
          <a:lstStyle/>
          <a:p>
            <a:pPr algn="l">
              <a:lnSpc>
                <a:spcPct val="112000"/>
              </a:lnSpc>
            </a:pPr>
            <a:r>
              <a:rPr sz="1200" b="1" i="0">
                <a:solidFill>
                  <a:srgbClr val="2563EB"/>
                </a:solidFill>
                <a:latin typeface="微软雅黑"/>
                <a:ea typeface="微软雅黑"/>
              </a:rPr>
              <a:t>输出什么</a:t>
            </a:r>
          </a:p>
        </p:txBody>
      </p:sp>
      <p:sp>
        <p:nvSpPr>
          <p:cNvPr id="24" name="TextBox 23"/>
          <p:cNvSpPr txBox="1"/>
          <p:nvPr/>
        </p:nvSpPr>
        <p:spPr>
          <a:xfrm>
            <a:off x="8101583" y="4782312"/>
            <a:ext cx="3246120" cy="228600"/>
          </a:xfrm>
          <a:prstGeom prst="rect">
            <a:avLst/>
          </a:prstGeom>
          <a:noFill/>
        </p:spPr>
        <p:txBody>
          <a:bodyPr wrap="square" lIns="0" rIns="0" tIns="0" bIns="0" anchor="t">
            <a:spAutoFit/>
          </a:bodyPr>
          <a:lstStyle/>
          <a:p>
            <a:pPr algn="l">
              <a:lnSpc>
                <a:spcPct val="112000"/>
              </a:lnSpc>
            </a:pPr>
            <a:r>
              <a:rPr sz="1200" b="0" i="0">
                <a:solidFill>
                  <a:srgbClr val="0B1F3A"/>
                </a:solidFill>
                <a:latin typeface="Consolas"/>
                <a:ea typeface="Consolas"/>
              </a:rPr>
              <a:t>output_json</a:t>
            </a:r>
          </a:p>
        </p:txBody>
      </p:sp>
      <p:sp>
        <p:nvSpPr>
          <p:cNvPr id="25" name="Rounded Rectangle 24"/>
          <p:cNvSpPr/>
          <p:nvPr/>
        </p:nvSpPr>
        <p:spPr>
          <a:xfrm>
            <a:off x="6995160" y="5468112"/>
            <a:ext cx="4526280" cy="777240"/>
          </a:xfrm>
          <a:prstGeom prst="roundRect">
            <a:avLst>
              <a:gd name="adj" fmla="val 8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187184" y="5559552"/>
            <a:ext cx="4206240" cy="228600"/>
          </a:xfrm>
          <a:prstGeom prst="rect">
            <a:avLst/>
          </a:prstGeom>
          <a:noFill/>
        </p:spPr>
        <p:txBody>
          <a:bodyPr wrap="square" lIns="0" rIns="0" tIns="0" bIns="0" anchor="t">
            <a:spAutoFit/>
          </a:bodyPr>
          <a:lstStyle/>
          <a:p>
            <a:pPr algn="l">
              <a:lnSpc>
                <a:spcPct val="112000"/>
              </a:lnSpc>
            </a:pPr>
            <a:r>
              <a:rPr sz="1150" b="1" i="0">
                <a:solidFill>
                  <a:srgbClr val="67E8F9"/>
                </a:solidFill>
                <a:latin typeface="微软雅黑"/>
                <a:ea typeface="微软雅黑"/>
              </a:rPr>
              <a:t>可追溯 = 可复核 + 可审计 + 可复现</a:t>
            </a:r>
          </a:p>
        </p:txBody>
      </p:sp>
      <p:sp>
        <p:nvSpPr>
          <p:cNvPr id="27" name="TextBox 26"/>
          <p:cNvSpPr txBox="1"/>
          <p:nvPr/>
        </p:nvSpPr>
        <p:spPr>
          <a:xfrm>
            <a:off x="7187184" y="5852160"/>
            <a:ext cx="4206240" cy="274320"/>
          </a:xfrm>
          <a:prstGeom prst="rect">
            <a:avLst/>
          </a:prstGeom>
          <a:noFill/>
        </p:spPr>
        <p:txBody>
          <a:bodyPr wrap="square" lIns="0" rIns="0" tIns="0" bIns="0" anchor="t">
            <a:spAutoFit/>
          </a:bodyPr>
          <a:lstStyle/>
          <a:p>
            <a:pPr algn="l">
              <a:lnSpc>
                <a:spcPct val="112000"/>
              </a:lnSpc>
            </a:pPr>
            <a:r>
              <a:rPr sz="900" b="0" i="0">
                <a:solidFill>
                  <a:srgbClr val="CBD5E1"/>
                </a:solidFill>
                <a:latin typeface="微软雅黑"/>
                <a:ea typeface="微软雅黑"/>
              </a:rPr>
              <a:t>答辩时可打开任意工单，逐条解释派单与退回依据</a:t>
            </a:r>
          </a:p>
        </p:txBody>
      </p:sp>
      <p:sp>
        <p:nvSpPr>
          <p:cNvPr id="28" name="Rectangle 27"/>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30" name="TextBox 29"/>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07 / 创新点</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三个创新点，对应课题要求</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不追求框架复杂度，追求业务闭环、可解释与数据反哺</a:t>
            </a:r>
          </a:p>
        </p:txBody>
      </p:sp>
      <p:sp>
        <p:nvSpPr>
          <p:cNvPr id="7" name="Rounded Rectangle 6"/>
          <p:cNvSpPr/>
          <p:nvPr/>
        </p:nvSpPr>
        <p:spPr>
          <a:xfrm>
            <a:off x="685800" y="1554480"/>
            <a:ext cx="3520440" cy="370332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85800" y="1554480"/>
            <a:ext cx="3520440" cy="54864"/>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05256" y="1755648"/>
            <a:ext cx="731520" cy="365760"/>
          </a:xfrm>
          <a:prstGeom prst="rect">
            <a:avLst/>
          </a:prstGeom>
          <a:noFill/>
        </p:spPr>
        <p:txBody>
          <a:bodyPr wrap="square" lIns="0" rIns="0" tIns="0" bIns="0" anchor="t">
            <a:spAutoFit/>
          </a:bodyPr>
          <a:lstStyle/>
          <a:p>
            <a:pPr algn="l">
              <a:lnSpc>
                <a:spcPct val="112000"/>
              </a:lnSpc>
            </a:pPr>
            <a:r>
              <a:rPr sz="2200" b="1" i="0">
                <a:solidFill>
                  <a:srgbClr val="2563EB"/>
                </a:solidFill>
                <a:latin typeface="微软雅黑"/>
                <a:ea typeface="微软雅黑"/>
              </a:rPr>
              <a:t>01</a:t>
            </a:r>
          </a:p>
        </p:txBody>
      </p:sp>
      <p:sp>
        <p:nvSpPr>
          <p:cNvPr id="10" name="TextBox 9"/>
          <p:cNvSpPr txBox="1"/>
          <p:nvPr/>
        </p:nvSpPr>
        <p:spPr>
          <a:xfrm>
            <a:off x="905256" y="2194560"/>
            <a:ext cx="3063240" cy="640080"/>
          </a:xfrm>
          <a:prstGeom prst="rect">
            <a:avLst/>
          </a:prstGeom>
          <a:noFill/>
        </p:spPr>
        <p:txBody>
          <a:bodyPr wrap="square" lIns="0" rIns="0" tIns="0" bIns="0" anchor="t">
            <a:spAutoFit/>
          </a:bodyPr>
          <a:lstStyle/>
          <a:p>
            <a:pPr algn="l">
              <a:lnSpc>
                <a:spcPct val="115000"/>
              </a:lnSpc>
            </a:pPr>
            <a:r>
              <a:rPr sz="1650" b="1" i="0">
                <a:solidFill>
                  <a:srgbClr val="0B1F3A"/>
                </a:solidFill>
                <a:latin typeface="微软雅黑"/>
                <a:ea typeface="微软雅黑"/>
              </a:rPr>
              <a:t>多智能体协同的工单闭环</a:t>
            </a:r>
          </a:p>
        </p:txBody>
      </p:sp>
      <p:sp>
        <p:nvSpPr>
          <p:cNvPr id="11" name="TextBox 10"/>
          <p:cNvSpPr txBox="1"/>
          <p:nvPr/>
        </p:nvSpPr>
        <p:spPr>
          <a:xfrm>
            <a:off x="905256" y="2834640"/>
            <a:ext cx="3063240" cy="1920240"/>
          </a:xfrm>
          <a:prstGeom prst="rect">
            <a:avLst/>
          </a:prstGeom>
          <a:noFill/>
        </p:spPr>
        <p:txBody>
          <a:bodyPr wrap="square" lIns="0" rIns="0" tIns="0" bIns="0" anchor="t">
            <a:spAutoFit/>
          </a:bodyPr>
          <a:lstStyle/>
          <a:p>
            <a:pPr marL="201168" indent="-201168">
              <a:lnSpc>
                <a:spcPct val="122000"/>
              </a:lnSpc>
              <a:spcAft>
                <a:spcPts val="800"/>
              </a:spcAft>
            </a:pPr>
            <a:r>
              <a:rPr sz="1400" b="1" i="0">
                <a:solidFill>
                  <a:srgbClr val="2563EB"/>
                </a:solidFill>
                <a:latin typeface="微软雅黑"/>
                <a:ea typeface="微软雅黑"/>
              </a:rPr>
              <a:t>•  </a:t>
            </a:r>
            <a:r>
              <a:rPr sz="1400" b="0" i="0">
                <a:solidFill>
                  <a:srgbClr val="0B1F3A"/>
                </a:solidFill>
                <a:latin typeface="微软雅黑"/>
                <a:ea typeface="微软雅黑"/>
              </a:rPr>
              <a:t>从单点文本分类扩展到理解—派单—监控—验收</a:t>
            </a:r>
          </a:p>
          <a:p>
            <a:pPr marL="201168" indent="-201168">
              <a:lnSpc>
                <a:spcPct val="122000"/>
              </a:lnSpc>
              <a:spcAft>
                <a:spcPts val="800"/>
              </a:spcAft>
            </a:pPr>
            <a:r>
              <a:rPr sz="1400" b="1" i="0">
                <a:solidFill>
                  <a:srgbClr val="2563EB"/>
                </a:solidFill>
                <a:latin typeface="微软雅黑"/>
                <a:ea typeface="微软雅黑"/>
              </a:rPr>
              <a:t>•  </a:t>
            </a:r>
            <a:r>
              <a:rPr sz="1400" b="0" i="0">
                <a:solidFill>
                  <a:srgbClr val="0B1F3A"/>
                </a:solidFill>
                <a:latin typeface="微软雅黑"/>
                <a:ea typeface="微软雅黑"/>
              </a:rPr>
              <a:t>验收不通过可退回，补充材料后再次闭环</a:t>
            </a:r>
          </a:p>
          <a:p>
            <a:pPr marL="201168" indent="-201168">
              <a:lnSpc>
                <a:spcPct val="122000"/>
              </a:lnSpc>
              <a:spcAft>
                <a:spcPts val="800"/>
              </a:spcAft>
            </a:pPr>
            <a:r>
              <a:rPr sz="1400" b="1" i="0">
                <a:solidFill>
                  <a:srgbClr val="2563EB"/>
                </a:solidFill>
                <a:latin typeface="微软雅黑"/>
                <a:ea typeface="微软雅黑"/>
              </a:rPr>
              <a:t>•  </a:t>
            </a:r>
            <a:r>
              <a:rPr sz="1400" b="0" i="0">
                <a:solidFill>
                  <a:srgbClr val="0B1F3A"/>
                </a:solidFill>
                <a:latin typeface="微软雅黑"/>
                <a:ea typeface="微软雅黑"/>
              </a:rPr>
              <a:t>4 个专职 Agent + 1 个编排中心</a:t>
            </a:r>
          </a:p>
        </p:txBody>
      </p:sp>
      <p:sp>
        <p:nvSpPr>
          <p:cNvPr id="12" name="TextBox 11"/>
          <p:cNvSpPr txBox="1"/>
          <p:nvPr/>
        </p:nvSpPr>
        <p:spPr>
          <a:xfrm>
            <a:off x="905256" y="4937760"/>
            <a:ext cx="3108960" cy="228600"/>
          </a:xfrm>
          <a:prstGeom prst="rect">
            <a:avLst/>
          </a:prstGeom>
          <a:noFill/>
        </p:spPr>
        <p:txBody>
          <a:bodyPr wrap="square" lIns="0" rIns="0" tIns="0" bIns="0" anchor="t">
            <a:spAutoFit/>
          </a:bodyPr>
          <a:lstStyle/>
          <a:p>
            <a:pPr algn="l">
              <a:lnSpc>
                <a:spcPct val="112000"/>
              </a:lnSpc>
            </a:pPr>
            <a:r>
              <a:rPr sz="950" b="1" i="0">
                <a:solidFill>
                  <a:srgbClr val="64748B"/>
                </a:solidFill>
                <a:latin typeface="微软雅黑"/>
                <a:ea typeface="微软雅黑"/>
              </a:rPr>
              <a:t>对应：多智能体协同 / 业务闭环</a:t>
            </a:r>
          </a:p>
        </p:txBody>
      </p:sp>
      <p:sp>
        <p:nvSpPr>
          <p:cNvPr id="13" name="Rounded Rectangle 12"/>
          <p:cNvSpPr/>
          <p:nvPr/>
        </p:nvSpPr>
        <p:spPr>
          <a:xfrm>
            <a:off x="4398264" y="1554480"/>
            <a:ext cx="3520440" cy="370332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98264" y="1554480"/>
            <a:ext cx="3520440" cy="5486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617720" y="1755648"/>
            <a:ext cx="731520" cy="365760"/>
          </a:xfrm>
          <a:prstGeom prst="rect">
            <a:avLst/>
          </a:prstGeom>
          <a:noFill/>
        </p:spPr>
        <p:txBody>
          <a:bodyPr wrap="square" lIns="0" rIns="0" tIns="0" bIns="0" anchor="t">
            <a:spAutoFit/>
          </a:bodyPr>
          <a:lstStyle/>
          <a:p>
            <a:pPr algn="l">
              <a:lnSpc>
                <a:spcPct val="112000"/>
              </a:lnSpc>
            </a:pPr>
            <a:r>
              <a:rPr sz="2200" b="1" i="0">
                <a:solidFill>
                  <a:srgbClr val="06B6D4"/>
                </a:solidFill>
                <a:latin typeface="微软雅黑"/>
                <a:ea typeface="微软雅黑"/>
              </a:rPr>
              <a:t>02</a:t>
            </a:r>
          </a:p>
        </p:txBody>
      </p:sp>
      <p:sp>
        <p:nvSpPr>
          <p:cNvPr id="16" name="TextBox 15"/>
          <p:cNvSpPr txBox="1"/>
          <p:nvPr/>
        </p:nvSpPr>
        <p:spPr>
          <a:xfrm>
            <a:off x="4617720" y="2194560"/>
            <a:ext cx="3063240" cy="640080"/>
          </a:xfrm>
          <a:prstGeom prst="rect">
            <a:avLst/>
          </a:prstGeom>
          <a:noFill/>
        </p:spPr>
        <p:txBody>
          <a:bodyPr wrap="square" lIns="0" rIns="0" tIns="0" bIns="0" anchor="t">
            <a:spAutoFit/>
          </a:bodyPr>
          <a:lstStyle/>
          <a:p>
            <a:pPr algn="l">
              <a:lnSpc>
                <a:spcPct val="115000"/>
              </a:lnSpc>
            </a:pPr>
            <a:r>
              <a:rPr sz="1650" b="1" i="0">
                <a:solidFill>
                  <a:srgbClr val="0B1F3A"/>
                </a:solidFill>
                <a:latin typeface="微软雅黑"/>
                <a:ea typeface="微软雅黑"/>
              </a:rPr>
              <a:t>可追溯的 Agent 决策日志</a:t>
            </a:r>
          </a:p>
        </p:txBody>
      </p:sp>
      <p:sp>
        <p:nvSpPr>
          <p:cNvPr id="17" name="TextBox 16"/>
          <p:cNvSpPr txBox="1"/>
          <p:nvPr/>
        </p:nvSpPr>
        <p:spPr>
          <a:xfrm>
            <a:off x="4617720" y="2834640"/>
            <a:ext cx="3063240" cy="1920240"/>
          </a:xfrm>
          <a:prstGeom prst="rect">
            <a:avLst/>
          </a:prstGeom>
          <a:noFill/>
        </p:spPr>
        <p:txBody>
          <a:bodyPr wrap="square" lIns="0" rIns="0" tIns="0" bIns="0" anchor="t">
            <a:spAutoFit/>
          </a:bodyPr>
          <a:lstStyle/>
          <a:p>
            <a:pPr marL="201168" indent="-201168">
              <a:lnSpc>
                <a:spcPct val="122000"/>
              </a:lnSpc>
              <a:spcAft>
                <a:spcPts val="800"/>
              </a:spcAft>
            </a:pPr>
            <a:r>
              <a:rPr sz="1400" b="1" i="0">
                <a:solidFill>
                  <a:srgbClr val="06B6D4"/>
                </a:solidFill>
                <a:latin typeface="微软雅黑"/>
                <a:ea typeface="微软雅黑"/>
              </a:rPr>
              <a:t>•  </a:t>
            </a:r>
            <a:r>
              <a:rPr sz="1400" b="0" i="0">
                <a:solidFill>
                  <a:srgbClr val="0B1F3A"/>
                </a:solidFill>
                <a:latin typeface="微软雅黑"/>
                <a:ea typeface="微软雅黑"/>
              </a:rPr>
              <a:t>每次分类、评分、预警、验收都有依据</a:t>
            </a:r>
          </a:p>
          <a:p>
            <a:pPr marL="201168" indent="-201168">
              <a:lnSpc>
                <a:spcPct val="122000"/>
              </a:lnSpc>
              <a:spcAft>
                <a:spcPts val="800"/>
              </a:spcAft>
            </a:pPr>
            <a:r>
              <a:rPr sz="1400" b="1" i="0">
                <a:solidFill>
                  <a:srgbClr val="06B6D4"/>
                </a:solidFill>
                <a:latin typeface="微软雅黑"/>
                <a:ea typeface="微软雅黑"/>
              </a:rPr>
              <a:t>•  </a:t>
            </a:r>
            <a:r>
              <a:rPr sz="1400" b="0" i="0">
                <a:solidFill>
                  <a:srgbClr val="0B1F3A"/>
                </a:solidFill>
                <a:latin typeface="微软雅黑"/>
                <a:ea typeface="微软雅黑"/>
              </a:rPr>
              <a:t>规则命中、候选得分、置信度、耗时全记录</a:t>
            </a:r>
          </a:p>
          <a:p>
            <a:pPr marL="201168" indent="-201168">
              <a:lnSpc>
                <a:spcPct val="122000"/>
              </a:lnSpc>
              <a:spcAft>
                <a:spcPts val="800"/>
              </a:spcAft>
            </a:pPr>
            <a:r>
              <a:rPr sz="1400" b="1" i="0">
                <a:solidFill>
                  <a:srgbClr val="06B6D4"/>
                </a:solidFill>
                <a:latin typeface="微软雅黑"/>
                <a:ea typeface="微软雅黑"/>
              </a:rPr>
              <a:t>•  </a:t>
            </a:r>
            <a:r>
              <a:rPr sz="1400" b="0" i="0">
                <a:solidFill>
                  <a:srgbClr val="0B1F3A"/>
                </a:solidFill>
                <a:latin typeface="微软雅黑"/>
                <a:ea typeface="微软雅黑"/>
              </a:rPr>
              <a:t>trace_id 串联事件与日志，可回放</a:t>
            </a:r>
          </a:p>
        </p:txBody>
      </p:sp>
      <p:sp>
        <p:nvSpPr>
          <p:cNvPr id="18" name="TextBox 17"/>
          <p:cNvSpPr txBox="1"/>
          <p:nvPr/>
        </p:nvSpPr>
        <p:spPr>
          <a:xfrm>
            <a:off x="4617720" y="4937760"/>
            <a:ext cx="3108960" cy="228600"/>
          </a:xfrm>
          <a:prstGeom prst="rect">
            <a:avLst/>
          </a:prstGeom>
          <a:noFill/>
        </p:spPr>
        <p:txBody>
          <a:bodyPr wrap="square" lIns="0" rIns="0" tIns="0" bIns="0" anchor="t">
            <a:spAutoFit/>
          </a:bodyPr>
          <a:lstStyle/>
          <a:p>
            <a:pPr algn="l">
              <a:lnSpc>
                <a:spcPct val="112000"/>
              </a:lnSpc>
            </a:pPr>
            <a:r>
              <a:rPr sz="950" b="1" i="0">
                <a:solidFill>
                  <a:srgbClr val="64748B"/>
                </a:solidFill>
                <a:latin typeface="微软雅黑"/>
                <a:ea typeface="微软雅黑"/>
              </a:rPr>
              <a:t>对应：可解释性 / 工程可审计</a:t>
            </a:r>
          </a:p>
        </p:txBody>
      </p:sp>
      <p:sp>
        <p:nvSpPr>
          <p:cNvPr id="19" name="Rounded Rectangle 18"/>
          <p:cNvSpPr/>
          <p:nvPr/>
        </p:nvSpPr>
        <p:spPr>
          <a:xfrm>
            <a:off x="8110727" y="1554480"/>
            <a:ext cx="3520440" cy="3703320"/>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110727" y="1554480"/>
            <a:ext cx="35204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330183" y="1755648"/>
            <a:ext cx="731520" cy="365760"/>
          </a:xfrm>
          <a:prstGeom prst="rect">
            <a:avLst/>
          </a:prstGeom>
          <a:noFill/>
        </p:spPr>
        <p:txBody>
          <a:bodyPr wrap="square" lIns="0" rIns="0" tIns="0" bIns="0" anchor="t">
            <a:spAutoFit/>
          </a:bodyPr>
          <a:lstStyle/>
          <a:p>
            <a:pPr algn="l">
              <a:lnSpc>
                <a:spcPct val="112000"/>
              </a:lnSpc>
            </a:pPr>
            <a:r>
              <a:rPr sz="2200" b="1" i="0">
                <a:solidFill>
                  <a:srgbClr val="F59E0B"/>
                </a:solidFill>
                <a:latin typeface="微软雅黑"/>
                <a:ea typeface="微软雅黑"/>
              </a:rPr>
              <a:t>03</a:t>
            </a:r>
          </a:p>
        </p:txBody>
      </p:sp>
      <p:sp>
        <p:nvSpPr>
          <p:cNvPr id="22" name="TextBox 21"/>
          <p:cNvSpPr txBox="1"/>
          <p:nvPr/>
        </p:nvSpPr>
        <p:spPr>
          <a:xfrm>
            <a:off x="8330183" y="2194560"/>
            <a:ext cx="3063240" cy="640080"/>
          </a:xfrm>
          <a:prstGeom prst="rect">
            <a:avLst/>
          </a:prstGeom>
          <a:noFill/>
        </p:spPr>
        <p:txBody>
          <a:bodyPr wrap="square" lIns="0" rIns="0" tIns="0" bIns="0" anchor="t">
            <a:spAutoFit/>
          </a:bodyPr>
          <a:lstStyle/>
          <a:p>
            <a:pPr algn="l">
              <a:lnSpc>
                <a:spcPct val="115000"/>
              </a:lnSpc>
            </a:pPr>
            <a:r>
              <a:rPr sz="1650" b="1" i="0">
                <a:solidFill>
                  <a:srgbClr val="0B1F3A"/>
                </a:solidFill>
                <a:latin typeface="微软雅黑"/>
                <a:ea typeface="微软雅黑"/>
              </a:rPr>
              <a:t>离线分析反哺在线 Agent</a:t>
            </a:r>
          </a:p>
        </p:txBody>
      </p:sp>
      <p:sp>
        <p:nvSpPr>
          <p:cNvPr id="23" name="TextBox 22"/>
          <p:cNvSpPr txBox="1"/>
          <p:nvPr/>
        </p:nvSpPr>
        <p:spPr>
          <a:xfrm>
            <a:off x="8330183" y="2834640"/>
            <a:ext cx="3063240" cy="1920240"/>
          </a:xfrm>
          <a:prstGeom prst="rect">
            <a:avLst/>
          </a:prstGeom>
          <a:noFill/>
        </p:spPr>
        <p:txBody>
          <a:bodyPr wrap="square" lIns="0" rIns="0" tIns="0" bIns="0" anchor="t">
            <a:spAutoFit/>
          </a:bodyPr>
          <a:lstStyle/>
          <a:p>
            <a:pPr marL="201168" indent="-201168">
              <a:lnSpc>
                <a:spcPct val="122000"/>
              </a:lnSpc>
              <a:spcAft>
                <a:spcPts val="800"/>
              </a:spcAft>
            </a:pPr>
            <a:r>
              <a:rPr sz="1400" b="1" i="0">
                <a:solidFill>
                  <a:srgbClr val="F59E0B"/>
                </a:solidFill>
                <a:latin typeface="微软雅黑"/>
                <a:ea typeface="微软雅黑"/>
              </a:rPr>
              <a:t>•  </a:t>
            </a:r>
            <a:r>
              <a:rPr sz="1400" b="0" i="0">
                <a:solidFill>
                  <a:srgbClr val="0B1F3A"/>
                </a:solidFill>
                <a:latin typeface="微软雅黑"/>
                <a:ea typeface="微软雅黑"/>
              </a:rPr>
              <a:t>3000 条历史工单统计出类型时长与超时率</a:t>
            </a:r>
          </a:p>
          <a:p>
            <a:pPr marL="201168" indent="-201168">
              <a:lnSpc>
                <a:spcPct val="122000"/>
              </a:lnSpc>
              <a:spcAft>
                <a:spcPts val="800"/>
              </a:spcAft>
            </a:pPr>
            <a:r>
              <a:rPr sz="1400" b="1" i="0">
                <a:solidFill>
                  <a:srgbClr val="F59E0B"/>
                </a:solidFill>
                <a:latin typeface="微软雅黑"/>
                <a:ea typeface="微软雅黑"/>
              </a:rPr>
              <a:t>•  </a:t>
            </a:r>
            <a:r>
              <a:rPr sz="1400" b="0" i="0">
                <a:solidFill>
                  <a:srgbClr val="0B1F3A"/>
                </a:solidFill>
                <a:latin typeface="微软雅黑"/>
                <a:ea typeface="微软雅黑"/>
              </a:rPr>
              <a:t>dispatch_priors.json 直接参与派单评分</a:t>
            </a:r>
          </a:p>
          <a:p>
            <a:pPr marL="201168" indent="-201168">
              <a:lnSpc>
                <a:spcPct val="122000"/>
              </a:lnSpc>
              <a:spcAft>
                <a:spcPts val="800"/>
              </a:spcAft>
            </a:pPr>
            <a:r>
              <a:rPr sz="1400" b="1" i="0">
                <a:solidFill>
                  <a:srgbClr val="F59E0B"/>
                </a:solidFill>
                <a:latin typeface="微软雅黑"/>
                <a:ea typeface="微软雅黑"/>
              </a:rPr>
              <a:t>•  </a:t>
            </a:r>
            <a:r>
              <a:rPr sz="1400" b="0" i="0">
                <a:solidFill>
                  <a:srgbClr val="0B1F3A"/>
                </a:solidFill>
                <a:latin typeface="微软雅黑"/>
                <a:ea typeface="微软雅黑"/>
              </a:rPr>
              <a:t>数据专业方法落到在线决策</a:t>
            </a:r>
          </a:p>
        </p:txBody>
      </p:sp>
      <p:sp>
        <p:nvSpPr>
          <p:cNvPr id="24" name="TextBox 23"/>
          <p:cNvSpPr txBox="1"/>
          <p:nvPr/>
        </p:nvSpPr>
        <p:spPr>
          <a:xfrm>
            <a:off x="8330183" y="4937760"/>
            <a:ext cx="3108960" cy="228600"/>
          </a:xfrm>
          <a:prstGeom prst="rect">
            <a:avLst/>
          </a:prstGeom>
          <a:noFill/>
        </p:spPr>
        <p:txBody>
          <a:bodyPr wrap="square" lIns="0" rIns="0" tIns="0" bIns="0" anchor="t">
            <a:spAutoFit/>
          </a:bodyPr>
          <a:lstStyle/>
          <a:p>
            <a:pPr algn="l">
              <a:lnSpc>
                <a:spcPct val="112000"/>
              </a:lnSpc>
            </a:pPr>
            <a:r>
              <a:rPr sz="950" b="1" i="0">
                <a:solidFill>
                  <a:srgbClr val="64748B"/>
                </a:solidFill>
                <a:latin typeface="微软雅黑"/>
                <a:ea typeface="微软雅黑"/>
              </a:rPr>
              <a:t>对应：数据驱动 / 专业特色</a:t>
            </a:r>
          </a:p>
        </p:txBody>
      </p:sp>
      <p:sp>
        <p:nvSpPr>
          <p:cNvPr id="25" name="TextBox 24"/>
          <p:cNvSpPr txBox="1"/>
          <p:nvPr/>
        </p:nvSpPr>
        <p:spPr>
          <a:xfrm>
            <a:off x="777240" y="5623560"/>
            <a:ext cx="10607040" cy="320040"/>
          </a:xfrm>
          <a:prstGeom prst="rect">
            <a:avLst/>
          </a:prstGeom>
          <a:noFill/>
        </p:spPr>
        <p:txBody>
          <a:bodyPr wrap="square" lIns="0" rIns="0" tIns="0" bIns="0" anchor="t">
            <a:spAutoFit/>
          </a:bodyPr>
          <a:lstStyle/>
          <a:p>
            <a:pPr algn="l">
              <a:lnSpc>
                <a:spcPct val="112000"/>
              </a:lnSpc>
            </a:pPr>
            <a:r>
              <a:rPr sz="1300" b="1" i="0">
                <a:solidFill>
                  <a:srgbClr val="2563EB"/>
                </a:solidFill>
                <a:latin typeface="微软雅黑"/>
                <a:ea typeface="微软雅黑"/>
              </a:rPr>
              <a:t>共同支撑：</a:t>
            </a:r>
            <a:r>
              <a:rPr sz="1300" b="1" i="0">
                <a:solidFill>
                  <a:srgbClr val="0B1F3A"/>
                </a:solidFill>
                <a:latin typeface="微软雅黑"/>
                <a:ea typeface="微软雅黑"/>
              </a:rPr>
              <a:t>可解释 · 可追溯 · 可复现</a:t>
            </a:r>
            <a:r>
              <a:rPr sz="1200" b="0" i="0">
                <a:solidFill>
                  <a:srgbClr val="64748B"/>
                </a:solidFill>
                <a:latin typeface="微软雅黑"/>
                <a:ea typeface="微软雅黑"/>
              </a:rPr>
              <a:t>　——　这也是答辩现场能讲清每一步的底气。</a:t>
            </a:r>
          </a:p>
        </p:txBody>
      </p:sp>
      <p:sp>
        <p:nvSpPr>
          <p:cNvPr id="26" name="Rectangle 25"/>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28" name="TextBox 27"/>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05 / 演示与部署</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5 分钟演示流程 + 一条命令启动</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从总览到智能派单，再到工单详情与决策日志；现场可完全离线</a:t>
            </a:r>
          </a:p>
        </p:txBody>
      </p:sp>
      <p:sp>
        <p:nvSpPr>
          <p:cNvPr id="7" name="Oval 6"/>
          <p:cNvSpPr/>
          <p:nvPr/>
        </p:nvSpPr>
        <p:spPr>
          <a:xfrm>
            <a:off x="713232" y="1563624"/>
            <a:ext cx="329184" cy="32918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3232" y="1618488"/>
            <a:ext cx="329184" cy="219456"/>
          </a:xfrm>
          <a:prstGeom prst="rect">
            <a:avLst/>
          </a:prstGeom>
          <a:noFill/>
        </p:spPr>
        <p:txBody>
          <a:bodyPr wrap="square" lIns="0" rIns="0" tIns="0" bIns="0" anchor="t">
            <a:spAutoFit/>
          </a:bodyPr>
          <a:lstStyle/>
          <a:p>
            <a:pPr algn="ctr">
              <a:lnSpc>
                <a:spcPct val="112000"/>
              </a:lnSpc>
            </a:pPr>
            <a:r>
              <a:rPr sz="1100" b="1" i="0">
                <a:solidFill>
                  <a:srgbClr val="FFFFFF"/>
                </a:solidFill>
                <a:latin typeface="微软雅黑"/>
                <a:ea typeface="微软雅黑"/>
              </a:rPr>
              <a:t>1</a:t>
            </a:r>
          </a:p>
        </p:txBody>
      </p:sp>
      <p:sp>
        <p:nvSpPr>
          <p:cNvPr id="9" name="TextBox 8"/>
          <p:cNvSpPr txBox="1"/>
          <p:nvPr/>
        </p:nvSpPr>
        <p:spPr>
          <a:xfrm>
            <a:off x="1207008" y="1536192"/>
            <a:ext cx="2743200" cy="256032"/>
          </a:xfrm>
          <a:prstGeom prst="rect">
            <a:avLst/>
          </a:prstGeom>
          <a:noFill/>
        </p:spPr>
        <p:txBody>
          <a:bodyPr wrap="square" lIns="0" rIns="0" tIns="0" bIns="0" anchor="t">
            <a:spAutoFit/>
          </a:bodyPr>
          <a:lstStyle/>
          <a:p>
            <a:pPr algn="l">
              <a:lnSpc>
                <a:spcPct val="112000"/>
              </a:lnSpc>
            </a:pPr>
            <a:r>
              <a:rPr sz="1400" b="1" i="0">
                <a:solidFill>
                  <a:srgbClr val="0B1F3A"/>
                </a:solidFill>
                <a:latin typeface="微软雅黑"/>
                <a:ea typeface="微软雅黑"/>
              </a:rPr>
              <a:t>打开总览</a:t>
            </a:r>
          </a:p>
        </p:txBody>
      </p:sp>
      <p:sp>
        <p:nvSpPr>
          <p:cNvPr id="10" name="TextBox 9"/>
          <p:cNvSpPr txBox="1"/>
          <p:nvPr/>
        </p:nvSpPr>
        <p:spPr>
          <a:xfrm>
            <a:off x="1207008" y="1828800"/>
            <a:ext cx="4206240" cy="237744"/>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查看 3000 单指标、30 天趋势与实时看板</a:t>
            </a:r>
          </a:p>
        </p:txBody>
      </p:sp>
      <p:cxnSp>
        <p:nvCxnSpPr>
          <p:cNvPr id="11" name="Connector 10"/>
          <p:cNvCxnSpPr/>
          <p:nvPr/>
        </p:nvCxnSpPr>
        <p:spPr>
          <a:xfrm>
            <a:off x="877824" y="1901952"/>
            <a:ext cx="0" cy="530352"/>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13232" y="2459736"/>
            <a:ext cx="329184" cy="32918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3232" y="2514600"/>
            <a:ext cx="329184" cy="219456"/>
          </a:xfrm>
          <a:prstGeom prst="rect">
            <a:avLst/>
          </a:prstGeom>
          <a:noFill/>
        </p:spPr>
        <p:txBody>
          <a:bodyPr wrap="square" lIns="0" rIns="0" tIns="0" bIns="0" anchor="t">
            <a:spAutoFit/>
          </a:bodyPr>
          <a:lstStyle/>
          <a:p>
            <a:pPr algn="ctr">
              <a:lnSpc>
                <a:spcPct val="112000"/>
              </a:lnSpc>
            </a:pPr>
            <a:r>
              <a:rPr sz="1100" b="1" i="0">
                <a:solidFill>
                  <a:srgbClr val="FFFFFF"/>
                </a:solidFill>
                <a:latin typeface="微软雅黑"/>
                <a:ea typeface="微软雅黑"/>
              </a:rPr>
              <a:t>2</a:t>
            </a:r>
          </a:p>
        </p:txBody>
      </p:sp>
      <p:sp>
        <p:nvSpPr>
          <p:cNvPr id="14" name="TextBox 13"/>
          <p:cNvSpPr txBox="1"/>
          <p:nvPr/>
        </p:nvSpPr>
        <p:spPr>
          <a:xfrm>
            <a:off x="1207008" y="2432304"/>
            <a:ext cx="2743200" cy="256032"/>
          </a:xfrm>
          <a:prstGeom prst="rect">
            <a:avLst/>
          </a:prstGeom>
          <a:noFill/>
        </p:spPr>
        <p:txBody>
          <a:bodyPr wrap="square" lIns="0" rIns="0" tIns="0" bIns="0" anchor="t">
            <a:spAutoFit/>
          </a:bodyPr>
          <a:lstStyle/>
          <a:p>
            <a:pPr algn="l">
              <a:lnSpc>
                <a:spcPct val="112000"/>
              </a:lnSpc>
            </a:pPr>
            <a:r>
              <a:rPr sz="1400" b="1" i="0">
                <a:solidFill>
                  <a:srgbClr val="0B1F3A"/>
                </a:solidFill>
                <a:latin typeface="微软雅黑"/>
                <a:ea typeface="微软雅黑"/>
              </a:rPr>
              <a:t>进入智能派单</a:t>
            </a:r>
          </a:p>
        </p:txBody>
      </p:sp>
      <p:sp>
        <p:nvSpPr>
          <p:cNvPr id="15" name="TextBox 14"/>
          <p:cNvSpPr txBox="1"/>
          <p:nvPr/>
        </p:nvSpPr>
        <p:spPr>
          <a:xfrm>
            <a:off x="1207008" y="2724912"/>
            <a:ext cx="4206240" cy="237744"/>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输入：5栋1单元水管爆裂，楼道积水</a:t>
            </a:r>
          </a:p>
        </p:txBody>
      </p:sp>
      <p:cxnSp>
        <p:nvCxnSpPr>
          <p:cNvPr id="16" name="Connector 15"/>
          <p:cNvCxnSpPr/>
          <p:nvPr/>
        </p:nvCxnSpPr>
        <p:spPr>
          <a:xfrm>
            <a:off x="877824" y="2798064"/>
            <a:ext cx="0" cy="530352"/>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713232" y="3355847"/>
            <a:ext cx="329184" cy="32918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3232" y="3410711"/>
            <a:ext cx="329184" cy="219456"/>
          </a:xfrm>
          <a:prstGeom prst="rect">
            <a:avLst/>
          </a:prstGeom>
          <a:noFill/>
        </p:spPr>
        <p:txBody>
          <a:bodyPr wrap="square" lIns="0" rIns="0" tIns="0" bIns="0" anchor="t">
            <a:spAutoFit/>
          </a:bodyPr>
          <a:lstStyle/>
          <a:p>
            <a:pPr algn="ctr">
              <a:lnSpc>
                <a:spcPct val="112000"/>
              </a:lnSpc>
            </a:pPr>
            <a:r>
              <a:rPr sz="1100" b="1" i="0">
                <a:solidFill>
                  <a:srgbClr val="FFFFFF"/>
                </a:solidFill>
                <a:latin typeface="微软雅黑"/>
                <a:ea typeface="微软雅黑"/>
              </a:rPr>
              <a:t>3</a:t>
            </a:r>
          </a:p>
        </p:txBody>
      </p:sp>
      <p:sp>
        <p:nvSpPr>
          <p:cNvPr id="19" name="TextBox 18"/>
          <p:cNvSpPr txBox="1"/>
          <p:nvPr/>
        </p:nvSpPr>
        <p:spPr>
          <a:xfrm>
            <a:off x="1207008" y="3328415"/>
            <a:ext cx="2743200" cy="256032"/>
          </a:xfrm>
          <a:prstGeom prst="rect">
            <a:avLst/>
          </a:prstGeom>
          <a:noFill/>
        </p:spPr>
        <p:txBody>
          <a:bodyPr wrap="square" lIns="0" rIns="0" tIns="0" bIns="0" anchor="t">
            <a:spAutoFit/>
          </a:bodyPr>
          <a:lstStyle/>
          <a:p>
            <a:pPr algn="l">
              <a:lnSpc>
                <a:spcPct val="112000"/>
              </a:lnSpc>
            </a:pPr>
            <a:r>
              <a:rPr sz="1400" b="1" i="0">
                <a:solidFill>
                  <a:srgbClr val="0B1F3A"/>
                </a:solidFill>
                <a:latin typeface="微软雅黑"/>
                <a:ea typeface="微软雅黑"/>
              </a:rPr>
              <a:t>运行完整闭环演示</a:t>
            </a:r>
          </a:p>
        </p:txBody>
      </p:sp>
      <p:sp>
        <p:nvSpPr>
          <p:cNvPr id="20" name="TextBox 19"/>
          <p:cNvSpPr txBox="1"/>
          <p:nvPr/>
        </p:nvSpPr>
        <p:spPr>
          <a:xfrm>
            <a:off x="1207008" y="3621023"/>
            <a:ext cx="4206240" cy="237744"/>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观察 5 个节点依次点亮与两条预警</a:t>
            </a:r>
          </a:p>
        </p:txBody>
      </p:sp>
      <p:cxnSp>
        <p:nvCxnSpPr>
          <p:cNvPr id="21" name="Connector 20"/>
          <p:cNvCxnSpPr/>
          <p:nvPr/>
        </p:nvCxnSpPr>
        <p:spPr>
          <a:xfrm>
            <a:off x="877824" y="3694176"/>
            <a:ext cx="0" cy="530351"/>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13232" y="4251960"/>
            <a:ext cx="329184" cy="32918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13232" y="4306824"/>
            <a:ext cx="329184" cy="219456"/>
          </a:xfrm>
          <a:prstGeom prst="rect">
            <a:avLst/>
          </a:prstGeom>
          <a:noFill/>
        </p:spPr>
        <p:txBody>
          <a:bodyPr wrap="square" lIns="0" rIns="0" tIns="0" bIns="0" anchor="t">
            <a:spAutoFit/>
          </a:bodyPr>
          <a:lstStyle/>
          <a:p>
            <a:pPr algn="ctr">
              <a:lnSpc>
                <a:spcPct val="112000"/>
              </a:lnSpc>
            </a:pPr>
            <a:r>
              <a:rPr sz="1100" b="1" i="0">
                <a:solidFill>
                  <a:srgbClr val="FFFFFF"/>
                </a:solidFill>
                <a:latin typeface="微软雅黑"/>
                <a:ea typeface="微软雅黑"/>
              </a:rPr>
              <a:t>4</a:t>
            </a:r>
          </a:p>
        </p:txBody>
      </p:sp>
      <p:sp>
        <p:nvSpPr>
          <p:cNvPr id="24" name="TextBox 23"/>
          <p:cNvSpPr txBox="1"/>
          <p:nvPr/>
        </p:nvSpPr>
        <p:spPr>
          <a:xfrm>
            <a:off x="1207008" y="4224528"/>
            <a:ext cx="2743200" cy="256032"/>
          </a:xfrm>
          <a:prstGeom prst="rect">
            <a:avLst/>
          </a:prstGeom>
          <a:noFill/>
        </p:spPr>
        <p:txBody>
          <a:bodyPr wrap="square" lIns="0" rIns="0" tIns="0" bIns="0" anchor="t">
            <a:spAutoFit/>
          </a:bodyPr>
          <a:lstStyle/>
          <a:p>
            <a:pPr algn="l">
              <a:lnSpc>
                <a:spcPct val="112000"/>
              </a:lnSpc>
            </a:pPr>
            <a:r>
              <a:rPr sz="1400" b="1" i="0">
                <a:solidFill>
                  <a:srgbClr val="0B1F3A"/>
                </a:solidFill>
                <a:latin typeface="微软雅黑"/>
                <a:ea typeface="微软雅黑"/>
              </a:rPr>
              <a:t>打开工单中心</a:t>
            </a:r>
          </a:p>
        </p:txBody>
      </p:sp>
      <p:sp>
        <p:nvSpPr>
          <p:cNvPr id="25" name="TextBox 24"/>
          <p:cNvSpPr txBox="1"/>
          <p:nvPr/>
        </p:nvSpPr>
        <p:spPr>
          <a:xfrm>
            <a:off x="1207008" y="4517136"/>
            <a:ext cx="4206240" cy="237744"/>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查看事件时间线、退回整改与补充照片</a:t>
            </a:r>
          </a:p>
        </p:txBody>
      </p:sp>
      <p:cxnSp>
        <p:nvCxnSpPr>
          <p:cNvPr id="26" name="Connector 25"/>
          <p:cNvCxnSpPr/>
          <p:nvPr/>
        </p:nvCxnSpPr>
        <p:spPr>
          <a:xfrm>
            <a:off x="877824" y="4590288"/>
            <a:ext cx="0" cy="530352"/>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13232" y="5148072"/>
            <a:ext cx="329184" cy="329184"/>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13232" y="5202936"/>
            <a:ext cx="329184" cy="219456"/>
          </a:xfrm>
          <a:prstGeom prst="rect">
            <a:avLst/>
          </a:prstGeom>
          <a:noFill/>
        </p:spPr>
        <p:txBody>
          <a:bodyPr wrap="square" lIns="0" rIns="0" tIns="0" bIns="0" anchor="t">
            <a:spAutoFit/>
          </a:bodyPr>
          <a:lstStyle/>
          <a:p>
            <a:pPr algn="ctr">
              <a:lnSpc>
                <a:spcPct val="112000"/>
              </a:lnSpc>
            </a:pPr>
            <a:r>
              <a:rPr sz="1100" b="1" i="0">
                <a:solidFill>
                  <a:srgbClr val="FFFFFF"/>
                </a:solidFill>
                <a:latin typeface="微软雅黑"/>
                <a:ea typeface="微软雅黑"/>
              </a:rPr>
              <a:t>5</a:t>
            </a:r>
          </a:p>
        </p:txBody>
      </p:sp>
      <p:sp>
        <p:nvSpPr>
          <p:cNvPr id="29" name="TextBox 28"/>
          <p:cNvSpPr txBox="1"/>
          <p:nvPr/>
        </p:nvSpPr>
        <p:spPr>
          <a:xfrm>
            <a:off x="1207008" y="5120640"/>
            <a:ext cx="2743200" cy="256032"/>
          </a:xfrm>
          <a:prstGeom prst="rect">
            <a:avLst/>
          </a:prstGeom>
          <a:noFill/>
        </p:spPr>
        <p:txBody>
          <a:bodyPr wrap="square" lIns="0" rIns="0" tIns="0" bIns="0" anchor="t">
            <a:spAutoFit/>
          </a:bodyPr>
          <a:lstStyle/>
          <a:p>
            <a:pPr algn="l">
              <a:lnSpc>
                <a:spcPct val="112000"/>
              </a:lnSpc>
            </a:pPr>
            <a:r>
              <a:rPr sz="1400" b="1" i="0">
                <a:solidFill>
                  <a:srgbClr val="0B1F3A"/>
                </a:solidFill>
                <a:latin typeface="微软雅黑"/>
                <a:ea typeface="微软雅黑"/>
              </a:rPr>
              <a:t>打开决策日志</a:t>
            </a:r>
          </a:p>
        </p:txBody>
      </p:sp>
      <p:sp>
        <p:nvSpPr>
          <p:cNvPr id="30" name="TextBox 29"/>
          <p:cNvSpPr txBox="1"/>
          <p:nvPr/>
        </p:nvSpPr>
        <p:spPr>
          <a:xfrm>
            <a:off x="1207008" y="5413248"/>
            <a:ext cx="4206240" cy="237744"/>
          </a:xfrm>
          <a:prstGeom prst="rect">
            <a:avLst/>
          </a:prstGeom>
          <a:noFill/>
        </p:spPr>
        <p:txBody>
          <a:bodyPr wrap="square" lIns="0" rIns="0" tIns="0" bIns="0" anchor="t">
            <a:spAutoFit/>
          </a:bodyPr>
          <a:lstStyle/>
          <a:p>
            <a:pPr algn="l">
              <a:lnSpc>
                <a:spcPct val="112000"/>
              </a:lnSpc>
            </a:pPr>
            <a:r>
              <a:rPr sz="1200" b="0" i="0">
                <a:solidFill>
                  <a:srgbClr val="64748B"/>
                </a:solidFill>
                <a:latin typeface="微软雅黑"/>
                <a:ea typeface="微软雅黑"/>
              </a:rPr>
              <a:t>按 Agent 过滤，查看 rationale 与 JSON</a:t>
            </a:r>
          </a:p>
        </p:txBody>
      </p:sp>
      <p:sp>
        <p:nvSpPr>
          <p:cNvPr id="31" name="Rounded Rectangle 30"/>
          <p:cNvSpPr/>
          <p:nvPr/>
        </p:nvSpPr>
        <p:spPr>
          <a:xfrm>
            <a:off x="5989320" y="1536192"/>
            <a:ext cx="5257800" cy="1938528"/>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217920" y="1664208"/>
            <a:ext cx="1828800" cy="228600"/>
          </a:xfrm>
          <a:prstGeom prst="rect">
            <a:avLst/>
          </a:prstGeom>
          <a:noFill/>
        </p:spPr>
        <p:txBody>
          <a:bodyPr wrap="square" lIns="0" rIns="0" tIns="0" bIns="0" anchor="t">
            <a:spAutoFit/>
          </a:bodyPr>
          <a:lstStyle/>
          <a:p>
            <a:pPr algn="l">
              <a:lnSpc>
                <a:spcPct val="112000"/>
              </a:lnSpc>
            </a:pPr>
            <a:r>
              <a:rPr sz="1000" b="1" i="0">
                <a:solidFill>
                  <a:srgbClr val="67E8F9"/>
                </a:solidFill>
                <a:latin typeface="微软雅黑"/>
                <a:ea typeface="微软雅黑"/>
              </a:rPr>
              <a:t>▸ 终端</a:t>
            </a:r>
          </a:p>
        </p:txBody>
      </p:sp>
      <p:sp>
        <p:nvSpPr>
          <p:cNvPr id="33" name="TextBox 32"/>
          <p:cNvSpPr txBox="1"/>
          <p:nvPr/>
        </p:nvSpPr>
        <p:spPr>
          <a:xfrm>
            <a:off x="6217920" y="1975104"/>
            <a:ext cx="4754880" cy="256032"/>
          </a:xfrm>
          <a:prstGeom prst="rect">
            <a:avLst/>
          </a:prstGeom>
          <a:noFill/>
        </p:spPr>
        <p:txBody>
          <a:bodyPr wrap="square" lIns="0" rIns="0" tIns="0" bIns="0" anchor="t">
            <a:spAutoFit/>
          </a:bodyPr>
          <a:lstStyle/>
          <a:p>
            <a:pPr algn="l">
              <a:lnSpc>
                <a:spcPct val="112000"/>
              </a:lnSpc>
            </a:pPr>
            <a:r>
              <a:rPr sz="1050" b="0" i="0">
                <a:solidFill>
                  <a:srgbClr val="E2E8F0"/>
                </a:solidFill>
                <a:latin typeface="Consolas"/>
                <a:ea typeface="Consolas"/>
              </a:rPr>
              <a:t>$ cd property-agent-system</a:t>
            </a:r>
          </a:p>
        </p:txBody>
      </p:sp>
      <p:sp>
        <p:nvSpPr>
          <p:cNvPr id="34" name="TextBox 33"/>
          <p:cNvSpPr txBox="1"/>
          <p:nvPr/>
        </p:nvSpPr>
        <p:spPr>
          <a:xfrm>
            <a:off x="6217920" y="2286000"/>
            <a:ext cx="4754880" cy="256032"/>
          </a:xfrm>
          <a:prstGeom prst="rect">
            <a:avLst/>
          </a:prstGeom>
          <a:noFill/>
        </p:spPr>
        <p:txBody>
          <a:bodyPr wrap="square" lIns="0" rIns="0" tIns="0" bIns="0" anchor="t">
            <a:spAutoFit/>
          </a:bodyPr>
          <a:lstStyle/>
          <a:p>
            <a:pPr algn="l">
              <a:lnSpc>
                <a:spcPct val="112000"/>
              </a:lnSpc>
            </a:pPr>
            <a:r>
              <a:rPr sz="1050" b="0" i="0">
                <a:solidFill>
                  <a:srgbClr val="86EFAC"/>
                </a:solidFill>
                <a:latin typeface="Consolas"/>
                <a:ea typeface="Consolas"/>
              </a:rPr>
              <a:t>$ ./run.sh</a:t>
            </a:r>
          </a:p>
        </p:txBody>
      </p:sp>
      <p:sp>
        <p:nvSpPr>
          <p:cNvPr id="35" name="TextBox 34"/>
          <p:cNvSpPr txBox="1"/>
          <p:nvPr/>
        </p:nvSpPr>
        <p:spPr>
          <a:xfrm>
            <a:off x="6217920" y="2596896"/>
            <a:ext cx="4754880" cy="256032"/>
          </a:xfrm>
          <a:prstGeom prst="rect">
            <a:avLst/>
          </a:prstGeom>
          <a:noFill/>
        </p:spPr>
        <p:txBody>
          <a:bodyPr wrap="square" lIns="0" rIns="0" tIns="0" bIns="0" anchor="t">
            <a:spAutoFit/>
          </a:bodyPr>
          <a:lstStyle/>
          <a:p>
            <a:pPr algn="l">
              <a:lnSpc>
                <a:spcPct val="112000"/>
              </a:lnSpc>
            </a:pPr>
            <a:r>
              <a:rPr sz="1050" b="0" i="0">
                <a:solidFill>
                  <a:srgbClr val="94A3B8"/>
                </a:solidFill>
                <a:latin typeface="Consolas"/>
                <a:ea typeface="Consolas"/>
              </a:rPr>
              <a:t># 打开 http://127.0.0.1:8000</a:t>
            </a:r>
          </a:p>
        </p:txBody>
      </p:sp>
      <p:sp>
        <p:nvSpPr>
          <p:cNvPr id="36" name="TextBox 35"/>
          <p:cNvSpPr txBox="1"/>
          <p:nvPr/>
        </p:nvSpPr>
        <p:spPr>
          <a:xfrm>
            <a:off x="6217920" y="2907792"/>
            <a:ext cx="4754880" cy="256032"/>
          </a:xfrm>
          <a:prstGeom prst="rect">
            <a:avLst/>
          </a:prstGeom>
          <a:noFill/>
        </p:spPr>
        <p:txBody>
          <a:bodyPr wrap="square" lIns="0" rIns="0" tIns="0" bIns="0" anchor="t">
            <a:spAutoFit/>
          </a:bodyPr>
          <a:lstStyle/>
          <a:p>
            <a:pPr algn="l">
              <a:lnSpc>
                <a:spcPct val="112000"/>
              </a:lnSpc>
            </a:pPr>
            <a:r>
              <a:rPr sz="1050" b="0" i="0">
                <a:solidFill>
                  <a:srgbClr val="94A3B8"/>
                </a:solidFill>
                <a:latin typeface="Consolas"/>
                <a:ea typeface="Consolas"/>
              </a:rPr>
              <a:t># 首次运行自动建环境、生成数据、分析、初始化</a:t>
            </a:r>
          </a:p>
        </p:txBody>
      </p:sp>
      <p:sp>
        <p:nvSpPr>
          <p:cNvPr id="37" name="TextBox 36"/>
          <p:cNvSpPr txBox="1"/>
          <p:nvPr/>
        </p:nvSpPr>
        <p:spPr>
          <a:xfrm>
            <a:off x="6016752" y="3675887"/>
            <a:ext cx="1097280" cy="228600"/>
          </a:xfrm>
          <a:prstGeom prst="rect">
            <a:avLst/>
          </a:prstGeom>
          <a:noFill/>
        </p:spPr>
        <p:txBody>
          <a:bodyPr wrap="square" lIns="0" rIns="0" tIns="0" bIns="0" anchor="t">
            <a:spAutoFit/>
          </a:bodyPr>
          <a:lstStyle/>
          <a:p>
            <a:pPr algn="l">
              <a:lnSpc>
                <a:spcPct val="112000"/>
              </a:lnSpc>
            </a:pPr>
            <a:r>
              <a:rPr sz="1050" b="1" i="0">
                <a:solidFill>
                  <a:srgbClr val="0B1F3A"/>
                </a:solidFill>
                <a:latin typeface="微软雅黑"/>
                <a:ea typeface="微软雅黑"/>
              </a:rPr>
              <a:t>运行环境</a:t>
            </a:r>
          </a:p>
        </p:txBody>
      </p:sp>
      <p:sp>
        <p:nvSpPr>
          <p:cNvPr id="38" name="TextBox 37"/>
          <p:cNvSpPr txBox="1"/>
          <p:nvPr/>
        </p:nvSpPr>
        <p:spPr>
          <a:xfrm>
            <a:off x="6016752" y="3931920"/>
            <a:ext cx="5120640" cy="228600"/>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Python 3.9+ · FastAPI · SQLite · Pandas · 原生前端</a:t>
            </a:r>
          </a:p>
        </p:txBody>
      </p:sp>
      <p:sp>
        <p:nvSpPr>
          <p:cNvPr id="39" name="TextBox 38"/>
          <p:cNvSpPr txBox="1"/>
          <p:nvPr/>
        </p:nvSpPr>
        <p:spPr>
          <a:xfrm>
            <a:off x="6016752" y="4315968"/>
            <a:ext cx="5166360" cy="1737360"/>
          </a:xfrm>
          <a:prstGeom prst="rect">
            <a:avLst/>
          </a:prstGeom>
          <a:noFill/>
        </p:spPr>
        <p:txBody>
          <a:bodyPr wrap="square" lIns="0" rIns="0" tIns="0" bIns="0" anchor="t">
            <a:spAutoFit/>
          </a:bodyPr>
          <a:lstStyle/>
          <a:p>
            <a:pPr marL="201168" indent="-201168">
              <a:lnSpc>
                <a:spcPct val="120000"/>
              </a:lnSpc>
              <a:spcAft>
                <a:spcPts val="600"/>
              </a:spcAft>
            </a:pPr>
            <a:r>
              <a:rPr sz="1350" b="1" i="0">
                <a:solidFill>
                  <a:srgbClr val="2563EB"/>
                </a:solidFill>
                <a:latin typeface="微软雅黑"/>
                <a:ea typeface="微软雅黑"/>
              </a:rPr>
              <a:t>•  </a:t>
            </a:r>
            <a:r>
              <a:rPr sz="1350" b="0" i="0">
                <a:solidFill>
                  <a:srgbClr val="0B1F3A"/>
                </a:solidFill>
                <a:latin typeface="微软雅黑"/>
                <a:ea typeface="微软雅黑"/>
              </a:rPr>
              <a:t>一条命令启动，首次运行自动准备数据</a:t>
            </a:r>
          </a:p>
          <a:p>
            <a:pPr marL="201168" indent="-201168">
              <a:lnSpc>
                <a:spcPct val="120000"/>
              </a:lnSpc>
              <a:spcAft>
                <a:spcPts val="600"/>
              </a:spcAft>
            </a:pPr>
            <a:r>
              <a:rPr sz="1350" b="1" i="0">
                <a:solidFill>
                  <a:srgbClr val="2563EB"/>
                </a:solidFill>
                <a:latin typeface="微软雅黑"/>
                <a:ea typeface="微软雅黑"/>
              </a:rPr>
              <a:t>•  </a:t>
            </a:r>
            <a:r>
              <a:rPr sz="1350" b="0" i="0">
                <a:solidFill>
                  <a:srgbClr val="0B1F3A"/>
                </a:solidFill>
                <a:latin typeface="微软雅黑"/>
                <a:ea typeface="微软雅黑"/>
              </a:rPr>
              <a:t>ECharts 与静态资源本地加载，断网可演示</a:t>
            </a:r>
          </a:p>
          <a:p>
            <a:pPr marL="201168" indent="-201168">
              <a:lnSpc>
                <a:spcPct val="120000"/>
              </a:lnSpc>
              <a:spcAft>
                <a:spcPts val="600"/>
              </a:spcAft>
            </a:pPr>
            <a:r>
              <a:rPr sz="1350" b="1" i="0">
                <a:solidFill>
                  <a:srgbClr val="2563EB"/>
                </a:solidFill>
                <a:latin typeface="微软雅黑"/>
                <a:ea typeface="微软雅黑"/>
              </a:rPr>
              <a:t>•  </a:t>
            </a:r>
            <a:r>
              <a:rPr sz="1350" b="0" i="0">
                <a:solidFill>
                  <a:srgbClr val="0B1F3A"/>
                </a:solidFill>
                <a:latin typeface="微软雅黑"/>
                <a:ea typeface="微软雅黑"/>
              </a:rPr>
              <a:t>固定随机种子 20261020，数据与图表可复现</a:t>
            </a:r>
          </a:p>
          <a:p>
            <a:pPr marL="201168" indent="-201168">
              <a:lnSpc>
                <a:spcPct val="120000"/>
              </a:lnSpc>
              <a:spcAft>
                <a:spcPts val="600"/>
              </a:spcAft>
            </a:pPr>
            <a:r>
              <a:rPr sz="1350" b="1" i="0">
                <a:solidFill>
                  <a:srgbClr val="2563EB"/>
                </a:solidFill>
                <a:latin typeface="微软雅黑"/>
                <a:ea typeface="微软雅黑"/>
              </a:rPr>
              <a:t>•  </a:t>
            </a:r>
            <a:r>
              <a:rPr sz="1350" b="0" i="0">
                <a:solidFill>
                  <a:srgbClr val="0B1F3A"/>
                </a:solidFill>
                <a:latin typeface="微软雅黑"/>
                <a:ea typeface="微软雅黑"/>
              </a:rPr>
              <a:t>pytest 22 项通过；也可直接用 /docs 调 API</a:t>
            </a:r>
          </a:p>
        </p:txBody>
      </p:sp>
      <p:sp>
        <p:nvSpPr>
          <p:cNvPr id="40" name="Rectangle 39"/>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42" name="TextBox 41"/>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0972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58368" y="365760"/>
            <a:ext cx="8229600" cy="256032"/>
          </a:xfrm>
          <a:prstGeom prst="rect">
            <a:avLst/>
          </a:prstGeom>
          <a:noFill/>
        </p:spPr>
        <p:txBody>
          <a:bodyPr wrap="square" lIns="0" rIns="0" tIns="0" bIns="0" anchor="t">
            <a:spAutoFit/>
          </a:bodyPr>
          <a:lstStyle/>
          <a:p>
            <a:pPr algn="l">
              <a:lnSpc>
                <a:spcPct val="112000"/>
              </a:lnSpc>
            </a:pPr>
            <a:r>
              <a:rPr sz="1100" b="1" i="0">
                <a:solidFill>
                  <a:srgbClr val="2563EB"/>
                </a:solidFill>
                <a:latin typeface="微软雅黑"/>
                <a:ea typeface="微软雅黑"/>
              </a:rPr>
              <a:t>07 / 不足与展望</a:t>
            </a:r>
          </a:p>
        </p:txBody>
      </p:sp>
      <p:sp>
        <p:nvSpPr>
          <p:cNvPr id="5" name="TextBox 4"/>
          <p:cNvSpPr txBox="1"/>
          <p:nvPr/>
        </p:nvSpPr>
        <p:spPr>
          <a:xfrm>
            <a:off x="658368" y="621792"/>
            <a:ext cx="10881360" cy="502920"/>
          </a:xfrm>
          <a:prstGeom prst="rect">
            <a:avLst/>
          </a:prstGeom>
          <a:noFill/>
        </p:spPr>
        <p:txBody>
          <a:bodyPr wrap="square" lIns="0" rIns="0" tIns="0" bIns="0" anchor="t">
            <a:spAutoFit/>
          </a:bodyPr>
          <a:lstStyle/>
          <a:p>
            <a:pPr algn="l">
              <a:lnSpc>
                <a:spcPct val="112000"/>
              </a:lnSpc>
            </a:pPr>
            <a:r>
              <a:rPr sz="2900" b="1" i="0">
                <a:solidFill>
                  <a:srgbClr val="0B1F3A"/>
                </a:solidFill>
                <a:latin typeface="微软雅黑"/>
                <a:ea typeface="微软雅黑"/>
              </a:rPr>
              <a:t>边界诚实：当前是原型，未来可工程化</a:t>
            </a:r>
          </a:p>
        </p:txBody>
      </p:sp>
      <p:sp>
        <p:nvSpPr>
          <p:cNvPr id="6" name="TextBox 5"/>
          <p:cNvSpPr txBox="1"/>
          <p:nvPr/>
        </p:nvSpPr>
        <p:spPr>
          <a:xfrm>
            <a:off x="658368" y="1115568"/>
            <a:ext cx="10881360" cy="274320"/>
          </a:xfrm>
          <a:prstGeom prst="rect">
            <a:avLst/>
          </a:prstGeom>
          <a:noFill/>
        </p:spPr>
        <p:txBody>
          <a:bodyPr wrap="square" lIns="0" rIns="0" tIns="0" bIns="0" anchor="t">
            <a:spAutoFit/>
          </a:bodyPr>
          <a:lstStyle/>
          <a:p>
            <a:pPr algn="l">
              <a:lnSpc>
                <a:spcPct val="112000"/>
              </a:lnSpc>
            </a:pPr>
            <a:r>
              <a:rPr sz="1250" b="0" i="0">
                <a:solidFill>
                  <a:srgbClr val="64748B"/>
                </a:solidFill>
                <a:latin typeface="微软雅黑"/>
                <a:ea typeface="微软雅黑"/>
              </a:rPr>
              <a:t>把局限写清楚，比把指标讲漂亮更重要</a:t>
            </a:r>
          </a:p>
        </p:txBody>
      </p:sp>
      <p:sp>
        <p:nvSpPr>
          <p:cNvPr id="7" name="TextBox 6"/>
          <p:cNvSpPr txBox="1"/>
          <p:nvPr/>
        </p:nvSpPr>
        <p:spPr>
          <a:xfrm>
            <a:off x="713232" y="1517904"/>
            <a:ext cx="2743200" cy="274320"/>
          </a:xfrm>
          <a:prstGeom prst="rect">
            <a:avLst/>
          </a:prstGeom>
          <a:noFill/>
        </p:spPr>
        <p:txBody>
          <a:bodyPr wrap="square" lIns="0" rIns="0" tIns="0" bIns="0" anchor="t">
            <a:spAutoFit/>
          </a:bodyPr>
          <a:lstStyle/>
          <a:p>
            <a:pPr algn="l">
              <a:lnSpc>
                <a:spcPct val="112000"/>
              </a:lnSpc>
            </a:pPr>
            <a:r>
              <a:rPr sz="1400" b="1" i="0">
                <a:solidFill>
                  <a:srgbClr val="991B1B"/>
                </a:solidFill>
                <a:latin typeface="微软雅黑"/>
                <a:ea typeface="微软雅黑"/>
              </a:rPr>
              <a:t>当前不足</a:t>
            </a:r>
          </a:p>
        </p:txBody>
      </p:sp>
      <p:sp>
        <p:nvSpPr>
          <p:cNvPr id="8" name="TextBox 7"/>
          <p:cNvSpPr txBox="1"/>
          <p:nvPr/>
        </p:nvSpPr>
        <p:spPr>
          <a:xfrm>
            <a:off x="6629400" y="1517904"/>
            <a:ext cx="2743200" cy="274320"/>
          </a:xfrm>
          <a:prstGeom prst="rect">
            <a:avLst/>
          </a:prstGeom>
          <a:noFill/>
        </p:spPr>
        <p:txBody>
          <a:bodyPr wrap="square" lIns="0" rIns="0" tIns="0" bIns="0" anchor="t">
            <a:spAutoFit/>
          </a:bodyPr>
          <a:lstStyle/>
          <a:p>
            <a:pPr algn="l">
              <a:lnSpc>
                <a:spcPct val="112000"/>
              </a:lnSpc>
            </a:pPr>
            <a:r>
              <a:rPr sz="1400" b="1" i="0">
                <a:solidFill>
                  <a:srgbClr val="047857"/>
                </a:solidFill>
                <a:latin typeface="微软雅黑"/>
                <a:ea typeface="微软雅黑"/>
              </a:rPr>
              <a:t>后续展望</a:t>
            </a:r>
          </a:p>
        </p:txBody>
      </p:sp>
      <p:sp>
        <p:nvSpPr>
          <p:cNvPr id="9" name="Rounded Rectangle 8"/>
          <p:cNvSpPr/>
          <p:nvPr/>
        </p:nvSpPr>
        <p:spPr>
          <a:xfrm>
            <a:off x="685800" y="1938528"/>
            <a:ext cx="4617720" cy="896112"/>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96112" y="2048256"/>
            <a:ext cx="4206240" cy="256032"/>
          </a:xfrm>
          <a:prstGeom prst="rect">
            <a:avLst/>
          </a:prstGeom>
          <a:noFill/>
        </p:spPr>
        <p:txBody>
          <a:bodyPr wrap="square" lIns="0" rIns="0" tIns="0" bIns="0" anchor="t">
            <a:spAutoFit/>
          </a:bodyPr>
          <a:lstStyle/>
          <a:p>
            <a:pPr algn="l">
              <a:lnSpc>
                <a:spcPct val="112000"/>
              </a:lnSpc>
            </a:pPr>
            <a:r>
              <a:rPr sz="1200" b="1" i="0">
                <a:solidFill>
                  <a:srgbClr val="0B1F3A"/>
                </a:solidFill>
                <a:latin typeface="微软雅黑"/>
                <a:ea typeface="微软雅黑"/>
              </a:rPr>
              <a:t>规则分类泛化有限</a:t>
            </a:r>
          </a:p>
        </p:txBody>
      </p:sp>
      <p:sp>
        <p:nvSpPr>
          <p:cNvPr id="11" name="TextBox 10"/>
          <p:cNvSpPr txBox="1"/>
          <p:nvPr/>
        </p:nvSpPr>
        <p:spPr>
          <a:xfrm>
            <a:off x="896112" y="2377440"/>
            <a:ext cx="4206240" cy="365760"/>
          </a:xfrm>
          <a:prstGeom prst="rect">
            <a:avLst/>
          </a:prstGeom>
          <a:noFill/>
        </p:spPr>
        <p:txBody>
          <a:bodyPr wrap="square" lIns="0" rIns="0" tIns="0" bIns="0" anchor="t">
            <a:spAutoFit/>
          </a:bodyPr>
          <a:lstStyle/>
          <a:p>
            <a:pPr algn="l">
              <a:lnSpc>
                <a:spcPct val="120000"/>
              </a:lnSpc>
            </a:pPr>
            <a:r>
              <a:rPr sz="1200" b="0" i="0">
                <a:solidFill>
                  <a:srgbClr val="64748B"/>
                </a:solidFill>
                <a:latin typeface="微软雅黑"/>
                <a:ea typeface="微软雅黑"/>
              </a:rPr>
              <a:t>未接入大模型，对新表达依赖规则覆盖</a:t>
            </a:r>
          </a:p>
        </p:txBody>
      </p:sp>
      <p:sp>
        <p:nvSpPr>
          <p:cNvPr id="12" name="Right Arrow 11"/>
          <p:cNvSpPr/>
          <p:nvPr/>
        </p:nvSpPr>
        <p:spPr>
          <a:xfrm>
            <a:off x="5440680" y="2267712"/>
            <a:ext cx="384048" cy="237744"/>
          </a:xfrm>
          <a:prstGeom prst="rightArrow">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989320" y="1938528"/>
            <a:ext cx="5532120" cy="896112"/>
          </a:xfrm>
          <a:prstGeom prst="roundRect">
            <a:avLst>
              <a:gd name="adj" fmla="val 8000"/>
            </a:avLst>
          </a:prstGeom>
          <a:solidFill>
            <a:srgbClr val="F0FDF4"/>
          </a:solidFill>
          <a:ln w="11430">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99632" y="2048256"/>
            <a:ext cx="5120640" cy="256032"/>
          </a:xfrm>
          <a:prstGeom prst="rect">
            <a:avLst/>
          </a:prstGeom>
          <a:noFill/>
        </p:spPr>
        <p:txBody>
          <a:bodyPr wrap="square" lIns="0" rIns="0" tIns="0" bIns="0" anchor="t">
            <a:spAutoFit/>
          </a:bodyPr>
          <a:lstStyle/>
          <a:p>
            <a:pPr algn="l">
              <a:lnSpc>
                <a:spcPct val="112000"/>
              </a:lnSpc>
            </a:pPr>
            <a:r>
              <a:rPr sz="1200" b="1" i="0">
                <a:solidFill>
                  <a:srgbClr val="166534"/>
                </a:solidFill>
                <a:latin typeface="微软雅黑"/>
                <a:ea typeface="微软雅黑"/>
              </a:rPr>
              <a:t>LLM 语义兜底 + 规则校验</a:t>
            </a:r>
          </a:p>
        </p:txBody>
      </p:sp>
      <p:sp>
        <p:nvSpPr>
          <p:cNvPr id="15" name="TextBox 14"/>
          <p:cNvSpPr txBox="1"/>
          <p:nvPr/>
        </p:nvSpPr>
        <p:spPr>
          <a:xfrm>
            <a:off x="6199632" y="2377440"/>
            <a:ext cx="5120640" cy="365760"/>
          </a:xfrm>
          <a:prstGeom prst="rect">
            <a:avLst/>
          </a:prstGeom>
          <a:noFill/>
        </p:spPr>
        <p:txBody>
          <a:bodyPr wrap="square" lIns="0" rIns="0" tIns="0" bIns="0" anchor="t">
            <a:spAutoFit/>
          </a:bodyPr>
          <a:lstStyle/>
          <a:p>
            <a:pPr algn="l">
              <a:lnSpc>
                <a:spcPct val="120000"/>
              </a:lnSpc>
            </a:pPr>
            <a:r>
              <a:rPr sz="1200" b="0" i="0">
                <a:solidFill>
                  <a:srgbClr val="64748B"/>
                </a:solidFill>
                <a:latin typeface="微软雅黑"/>
                <a:ea typeface="微软雅黑"/>
              </a:rPr>
              <a:t>大模型做候选分类，规则层守安全底线</a:t>
            </a:r>
          </a:p>
        </p:txBody>
      </p:sp>
      <p:sp>
        <p:nvSpPr>
          <p:cNvPr id="16" name="Rounded Rectangle 15"/>
          <p:cNvSpPr/>
          <p:nvPr/>
        </p:nvSpPr>
        <p:spPr>
          <a:xfrm>
            <a:off x="685800" y="2990088"/>
            <a:ext cx="4617720" cy="896112"/>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96112" y="3099816"/>
            <a:ext cx="4206240" cy="256032"/>
          </a:xfrm>
          <a:prstGeom prst="rect">
            <a:avLst/>
          </a:prstGeom>
          <a:noFill/>
        </p:spPr>
        <p:txBody>
          <a:bodyPr wrap="square" lIns="0" rIns="0" tIns="0" bIns="0" anchor="t">
            <a:spAutoFit/>
          </a:bodyPr>
          <a:lstStyle/>
          <a:p>
            <a:pPr algn="l">
              <a:lnSpc>
                <a:spcPct val="112000"/>
              </a:lnSpc>
            </a:pPr>
            <a:r>
              <a:rPr sz="1200" b="1" i="0">
                <a:solidFill>
                  <a:srgbClr val="0B1F3A"/>
                </a:solidFill>
                <a:latin typeface="微软雅黑"/>
                <a:ea typeface="微软雅黑"/>
              </a:rPr>
              <a:t>监控按请求触发</a:t>
            </a:r>
          </a:p>
        </p:txBody>
      </p:sp>
      <p:sp>
        <p:nvSpPr>
          <p:cNvPr id="18" name="TextBox 17"/>
          <p:cNvSpPr txBox="1"/>
          <p:nvPr/>
        </p:nvSpPr>
        <p:spPr>
          <a:xfrm>
            <a:off x="896112" y="3429000"/>
            <a:ext cx="4206240" cy="365760"/>
          </a:xfrm>
          <a:prstGeom prst="rect">
            <a:avLst/>
          </a:prstGeom>
          <a:noFill/>
        </p:spPr>
        <p:txBody>
          <a:bodyPr wrap="square" lIns="0" rIns="0" tIns="0" bIns="0" anchor="t">
            <a:spAutoFit/>
          </a:bodyPr>
          <a:lstStyle/>
          <a:p>
            <a:pPr algn="l">
              <a:lnSpc>
                <a:spcPct val="120000"/>
              </a:lnSpc>
            </a:pPr>
            <a:r>
              <a:rPr sz="1200" b="0" i="0">
                <a:solidFill>
                  <a:srgbClr val="64748B"/>
                </a:solidFill>
                <a:latin typeface="微软雅黑"/>
                <a:ea typeface="微软雅黑"/>
              </a:rPr>
              <a:t>页面刷新 / 演示 / API 调用才巡检</a:t>
            </a:r>
          </a:p>
        </p:txBody>
      </p:sp>
      <p:sp>
        <p:nvSpPr>
          <p:cNvPr id="19" name="Right Arrow 18"/>
          <p:cNvSpPr/>
          <p:nvPr/>
        </p:nvSpPr>
        <p:spPr>
          <a:xfrm>
            <a:off x="5440680" y="3319272"/>
            <a:ext cx="384048" cy="237744"/>
          </a:xfrm>
          <a:prstGeom prst="rightArrow">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989320" y="2990088"/>
            <a:ext cx="5532120" cy="896112"/>
          </a:xfrm>
          <a:prstGeom prst="roundRect">
            <a:avLst>
              <a:gd name="adj" fmla="val 8000"/>
            </a:avLst>
          </a:prstGeom>
          <a:solidFill>
            <a:srgbClr val="F0FDF4"/>
          </a:solidFill>
          <a:ln w="11430">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99632" y="3099816"/>
            <a:ext cx="5120640" cy="256032"/>
          </a:xfrm>
          <a:prstGeom prst="rect">
            <a:avLst/>
          </a:prstGeom>
          <a:noFill/>
        </p:spPr>
        <p:txBody>
          <a:bodyPr wrap="square" lIns="0" rIns="0" tIns="0" bIns="0" anchor="t">
            <a:spAutoFit/>
          </a:bodyPr>
          <a:lstStyle/>
          <a:p>
            <a:pPr algn="l">
              <a:lnSpc>
                <a:spcPct val="112000"/>
              </a:lnSpc>
            </a:pPr>
            <a:r>
              <a:rPr sz="1200" b="1" i="0">
                <a:solidFill>
                  <a:srgbClr val="166534"/>
                </a:solidFill>
                <a:latin typeface="微软雅黑"/>
                <a:ea typeface="微软雅黑"/>
              </a:rPr>
              <a:t>APScheduler / Celery 常驻巡检</a:t>
            </a:r>
          </a:p>
        </p:txBody>
      </p:sp>
      <p:sp>
        <p:nvSpPr>
          <p:cNvPr id="22" name="TextBox 21"/>
          <p:cNvSpPr txBox="1"/>
          <p:nvPr/>
        </p:nvSpPr>
        <p:spPr>
          <a:xfrm>
            <a:off x="6199632" y="3429000"/>
            <a:ext cx="5120640" cy="365760"/>
          </a:xfrm>
          <a:prstGeom prst="rect">
            <a:avLst/>
          </a:prstGeom>
          <a:noFill/>
        </p:spPr>
        <p:txBody>
          <a:bodyPr wrap="square" lIns="0" rIns="0" tIns="0" bIns="0" anchor="t">
            <a:spAutoFit/>
          </a:bodyPr>
          <a:lstStyle/>
          <a:p>
            <a:pPr algn="l">
              <a:lnSpc>
                <a:spcPct val="120000"/>
              </a:lnSpc>
            </a:pPr>
            <a:r>
              <a:rPr sz="1200" b="0" i="0">
                <a:solidFill>
                  <a:srgbClr val="64748B"/>
                </a:solidFill>
                <a:latin typeface="微软雅黑"/>
                <a:ea typeface="微软雅黑"/>
              </a:rPr>
              <a:t>按分钟扫描，预警不依赖人工触发</a:t>
            </a:r>
          </a:p>
        </p:txBody>
      </p:sp>
      <p:sp>
        <p:nvSpPr>
          <p:cNvPr id="23" name="Rounded Rectangle 22"/>
          <p:cNvSpPr/>
          <p:nvPr/>
        </p:nvSpPr>
        <p:spPr>
          <a:xfrm>
            <a:off x="685800" y="4041648"/>
            <a:ext cx="4617720" cy="896112"/>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6112" y="4151376"/>
            <a:ext cx="4206240" cy="256032"/>
          </a:xfrm>
          <a:prstGeom prst="rect">
            <a:avLst/>
          </a:prstGeom>
          <a:noFill/>
        </p:spPr>
        <p:txBody>
          <a:bodyPr wrap="square" lIns="0" rIns="0" tIns="0" bIns="0" anchor="t">
            <a:spAutoFit/>
          </a:bodyPr>
          <a:lstStyle/>
          <a:p>
            <a:pPr algn="l">
              <a:lnSpc>
                <a:spcPct val="112000"/>
              </a:lnSpc>
            </a:pPr>
            <a:r>
              <a:rPr sz="1200" b="1" i="0">
                <a:solidFill>
                  <a:srgbClr val="0B1F3A"/>
                </a:solidFill>
                <a:latin typeface="微软雅黑"/>
                <a:ea typeface="微软雅黑"/>
              </a:rPr>
              <a:t>SQLite 单机部署</a:t>
            </a:r>
          </a:p>
        </p:txBody>
      </p:sp>
      <p:sp>
        <p:nvSpPr>
          <p:cNvPr id="25" name="TextBox 24"/>
          <p:cNvSpPr txBox="1"/>
          <p:nvPr/>
        </p:nvSpPr>
        <p:spPr>
          <a:xfrm>
            <a:off x="896112" y="4480560"/>
            <a:ext cx="4206240" cy="365760"/>
          </a:xfrm>
          <a:prstGeom prst="rect">
            <a:avLst/>
          </a:prstGeom>
          <a:noFill/>
        </p:spPr>
        <p:txBody>
          <a:bodyPr wrap="square" lIns="0" rIns="0" tIns="0" bIns="0" anchor="t">
            <a:spAutoFit/>
          </a:bodyPr>
          <a:lstStyle/>
          <a:p>
            <a:pPr algn="l">
              <a:lnSpc>
                <a:spcPct val="120000"/>
              </a:lnSpc>
            </a:pPr>
            <a:r>
              <a:rPr sz="1200" b="0" i="0">
                <a:solidFill>
                  <a:srgbClr val="64748B"/>
                </a:solidFill>
                <a:latin typeface="微软雅黑"/>
                <a:ea typeface="微软雅黑"/>
              </a:rPr>
              <a:t>适合课程设计与小规模试点</a:t>
            </a:r>
          </a:p>
        </p:txBody>
      </p:sp>
      <p:sp>
        <p:nvSpPr>
          <p:cNvPr id="26" name="Right Arrow 25"/>
          <p:cNvSpPr/>
          <p:nvPr/>
        </p:nvSpPr>
        <p:spPr>
          <a:xfrm>
            <a:off x="5440680" y="4370832"/>
            <a:ext cx="384048" cy="237744"/>
          </a:xfrm>
          <a:prstGeom prst="rightArrow">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5989320" y="4041648"/>
            <a:ext cx="5532120" cy="896112"/>
          </a:xfrm>
          <a:prstGeom prst="roundRect">
            <a:avLst>
              <a:gd name="adj" fmla="val 8000"/>
            </a:avLst>
          </a:prstGeom>
          <a:solidFill>
            <a:srgbClr val="F0FDF4"/>
          </a:solidFill>
          <a:ln w="11430">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199632" y="4151376"/>
            <a:ext cx="5120640" cy="256032"/>
          </a:xfrm>
          <a:prstGeom prst="rect">
            <a:avLst/>
          </a:prstGeom>
          <a:noFill/>
        </p:spPr>
        <p:txBody>
          <a:bodyPr wrap="square" lIns="0" rIns="0" tIns="0" bIns="0" anchor="t">
            <a:spAutoFit/>
          </a:bodyPr>
          <a:lstStyle/>
          <a:p>
            <a:pPr algn="l">
              <a:lnSpc>
                <a:spcPct val="112000"/>
              </a:lnSpc>
            </a:pPr>
            <a:r>
              <a:rPr sz="1200" b="1" i="0">
                <a:solidFill>
                  <a:srgbClr val="166534"/>
                </a:solidFill>
                <a:latin typeface="微软雅黑"/>
                <a:ea typeface="微软雅黑"/>
              </a:rPr>
              <a:t>PostgreSQL + 权限与多租户</a:t>
            </a:r>
          </a:p>
        </p:txBody>
      </p:sp>
      <p:sp>
        <p:nvSpPr>
          <p:cNvPr id="29" name="TextBox 28"/>
          <p:cNvSpPr txBox="1"/>
          <p:nvPr/>
        </p:nvSpPr>
        <p:spPr>
          <a:xfrm>
            <a:off x="6199632" y="4480560"/>
            <a:ext cx="5120640" cy="365760"/>
          </a:xfrm>
          <a:prstGeom prst="rect">
            <a:avLst/>
          </a:prstGeom>
          <a:noFill/>
        </p:spPr>
        <p:txBody>
          <a:bodyPr wrap="square" lIns="0" rIns="0" tIns="0" bIns="0" anchor="t">
            <a:spAutoFit/>
          </a:bodyPr>
          <a:lstStyle/>
          <a:p>
            <a:pPr algn="l">
              <a:lnSpc>
                <a:spcPct val="120000"/>
              </a:lnSpc>
            </a:pPr>
            <a:r>
              <a:rPr sz="1200" b="0" i="0">
                <a:solidFill>
                  <a:srgbClr val="64748B"/>
                </a:solidFill>
                <a:latin typeface="微软雅黑"/>
                <a:ea typeface="微软雅黑"/>
              </a:rPr>
              <a:t>增加审计、角色与数据隔离</a:t>
            </a:r>
          </a:p>
        </p:txBody>
      </p:sp>
      <p:sp>
        <p:nvSpPr>
          <p:cNvPr id="30" name="Rounded Rectangle 29"/>
          <p:cNvSpPr/>
          <p:nvPr/>
        </p:nvSpPr>
        <p:spPr>
          <a:xfrm>
            <a:off x="685800" y="5093208"/>
            <a:ext cx="4617720" cy="896112"/>
          </a:xfrm>
          <a:prstGeom prst="roundRect">
            <a:avLst>
              <a:gd name="adj" fmla="val 8000"/>
            </a:avLst>
          </a:prstGeom>
          <a:solidFill>
            <a:srgbClr val="FFFFFF"/>
          </a:solidFill>
          <a:ln w="1143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96112" y="5202936"/>
            <a:ext cx="4206240" cy="256032"/>
          </a:xfrm>
          <a:prstGeom prst="rect">
            <a:avLst/>
          </a:prstGeom>
          <a:noFill/>
        </p:spPr>
        <p:txBody>
          <a:bodyPr wrap="square" lIns="0" rIns="0" tIns="0" bIns="0" anchor="t">
            <a:spAutoFit/>
          </a:bodyPr>
          <a:lstStyle/>
          <a:p>
            <a:pPr algn="l">
              <a:lnSpc>
                <a:spcPct val="112000"/>
              </a:lnSpc>
            </a:pPr>
            <a:r>
              <a:rPr sz="1200" b="1" i="0">
                <a:solidFill>
                  <a:srgbClr val="0B1F3A"/>
                </a:solidFill>
                <a:latin typeface="微软雅黑"/>
                <a:ea typeface="微软雅黑"/>
              </a:rPr>
              <a:t>模拟数据与照片校验</a:t>
            </a:r>
          </a:p>
        </p:txBody>
      </p:sp>
      <p:sp>
        <p:nvSpPr>
          <p:cNvPr id="32" name="TextBox 31"/>
          <p:cNvSpPr txBox="1"/>
          <p:nvPr/>
        </p:nvSpPr>
        <p:spPr>
          <a:xfrm>
            <a:off x="896112" y="5532120"/>
            <a:ext cx="4206240" cy="365760"/>
          </a:xfrm>
          <a:prstGeom prst="rect">
            <a:avLst/>
          </a:prstGeom>
          <a:noFill/>
        </p:spPr>
        <p:txBody>
          <a:bodyPr wrap="square" lIns="0" rIns="0" tIns="0" bIns="0" anchor="t">
            <a:spAutoFit/>
          </a:bodyPr>
          <a:lstStyle/>
          <a:p>
            <a:pPr algn="l">
              <a:lnSpc>
                <a:spcPct val="120000"/>
              </a:lnSpc>
            </a:pPr>
            <a:r>
              <a:rPr sz="1200" b="0" i="0">
                <a:solidFill>
                  <a:srgbClr val="64748B"/>
                </a:solidFill>
                <a:latin typeface="微软雅黑"/>
                <a:ea typeface="微软雅黑"/>
              </a:rPr>
              <a:t>照片只校验数量，未识别图像内容</a:t>
            </a:r>
          </a:p>
        </p:txBody>
      </p:sp>
      <p:sp>
        <p:nvSpPr>
          <p:cNvPr id="33" name="Right Arrow 32"/>
          <p:cNvSpPr/>
          <p:nvPr/>
        </p:nvSpPr>
        <p:spPr>
          <a:xfrm>
            <a:off x="5440680" y="5422392"/>
            <a:ext cx="384048" cy="237744"/>
          </a:xfrm>
          <a:prstGeom prst="rightArrow">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5989320" y="5093208"/>
            <a:ext cx="5532120" cy="896112"/>
          </a:xfrm>
          <a:prstGeom prst="roundRect">
            <a:avLst>
              <a:gd name="adj" fmla="val 8000"/>
            </a:avLst>
          </a:prstGeom>
          <a:solidFill>
            <a:srgbClr val="F0FDF4"/>
          </a:solidFill>
          <a:ln w="11430">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199632" y="5202936"/>
            <a:ext cx="5120640" cy="256032"/>
          </a:xfrm>
          <a:prstGeom prst="rect">
            <a:avLst/>
          </a:prstGeom>
          <a:noFill/>
        </p:spPr>
        <p:txBody>
          <a:bodyPr wrap="square" lIns="0" rIns="0" tIns="0" bIns="0" anchor="t">
            <a:spAutoFit/>
          </a:bodyPr>
          <a:lstStyle/>
          <a:p>
            <a:pPr algn="l">
              <a:lnSpc>
                <a:spcPct val="112000"/>
              </a:lnSpc>
            </a:pPr>
            <a:r>
              <a:rPr sz="1200" b="1" i="0">
                <a:solidFill>
                  <a:srgbClr val="166534"/>
                </a:solidFill>
                <a:latin typeface="微软雅黑"/>
                <a:ea typeface="微软雅黑"/>
              </a:rPr>
              <a:t>真实脱敏数据 + 图像识别</a:t>
            </a:r>
          </a:p>
        </p:txBody>
      </p:sp>
      <p:sp>
        <p:nvSpPr>
          <p:cNvPr id="36" name="TextBox 35"/>
          <p:cNvSpPr txBox="1"/>
          <p:nvPr/>
        </p:nvSpPr>
        <p:spPr>
          <a:xfrm>
            <a:off x="6199632" y="5532120"/>
            <a:ext cx="5120640" cy="365760"/>
          </a:xfrm>
          <a:prstGeom prst="rect">
            <a:avLst/>
          </a:prstGeom>
          <a:noFill/>
        </p:spPr>
        <p:txBody>
          <a:bodyPr wrap="square" lIns="0" rIns="0" tIns="0" bIns="0" anchor="t">
            <a:spAutoFit/>
          </a:bodyPr>
          <a:lstStyle/>
          <a:p>
            <a:pPr algn="l">
              <a:lnSpc>
                <a:spcPct val="120000"/>
              </a:lnSpc>
            </a:pPr>
            <a:r>
              <a:rPr sz="1200" b="0" i="0">
                <a:solidFill>
                  <a:srgbClr val="64748B"/>
                </a:solidFill>
                <a:latin typeface="微软雅黑"/>
                <a:ea typeface="微软雅黑"/>
              </a:rPr>
              <a:t>接入现场照片识别与 OCR 核验</a:t>
            </a:r>
          </a:p>
        </p:txBody>
      </p:sp>
      <p:sp>
        <p:nvSpPr>
          <p:cNvPr id="37" name="TextBox 36"/>
          <p:cNvSpPr txBox="1"/>
          <p:nvPr/>
        </p:nvSpPr>
        <p:spPr>
          <a:xfrm>
            <a:off x="713232" y="6089904"/>
            <a:ext cx="10515600" cy="256032"/>
          </a:xfrm>
          <a:prstGeom prst="rect">
            <a:avLst/>
          </a:prstGeom>
          <a:noFill/>
        </p:spPr>
        <p:txBody>
          <a:bodyPr wrap="square" lIns="0" rIns="0" tIns="0" bIns="0" anchor="t">
            <a:spAutoFit/>
          </a:bodyPr>
          <a:lstStyle/>
          <a:p>
            <a:pPr algn="l">
              <a:lnSpc>
                <a:spcPct val="112000"/>
              </a:lnSpc>
            </a:pPr>
            <a:r>
              <a:rPr sz="1100" b="0" i="0">
                <a:solidFill>
                  <a:srgbClr val="64748B"/>
                </a:solidFill>
                <a:latin typeface="微软雅黑"/>
                <a:ea typeface="微软雅黑"/>
              </a:rPr>
              <a:t>当前定位：单机可演示原型；生产化还需要工程与数据的两步跨越。</a:t>
            </a:r>
          </a:p>
        </p:txBody>
      </p:sp>
      <p:sp>
        <p:nvSpPr>
          <p:cNvPr id="38" name="Rectangle 37"/>
          <p:cNvSpPr/>
          <p:nvPr/>
        </p:nvSpPr>
        <p:spPr>
          <a:xfrm>
            <a:off x="658368" y="6428232"/>
            <a:ext cx="10881360" cy="73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64748B"/>
                </a:solidFill>
                <a:latin typeface="微软雅黑"/>
                <a:ea typeface="微软雅黑"/>
              </a:rPr>
              <a:t>智修云 · 多智能体物业工单闭环系统</a:t>
            </a:r>
          </a:p>
        </p:txBody>
      </p:sp>
      <p:sp>
        <p:nvSpPr>
          <p:cNvPr id="40" name="TextBox 39"/>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64748B"/>
                </a:solidFill>
                <a:latin typeface="微软雅黑"/>
                <a:ea typeface="微软雅黑"/>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778240" y="3108960"/>
            <a:ext cx="5303520" cy="5303520"/>
          </a:xfrm>
          <a:prstGeom prst="ellipse">
            <a:avLst/>
          </a:prstGeom>
          <a:solidFill>
            <a:srgbClr val="122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63040" y="3840480"/>
            <a:ext cx="4023360" cy="4023360"/>
          </a:xfrm>
          <a:prstGeom prst="ellipse">
            <a:avLst/>
          </a:prstGeom>
          <a:noFill/>
          <a:ln w="15240">
            <a:solidFill>
              <a:srgbClr val="1E3A5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658368"/>
            <a:ext cx="5486400" cy="320040"/>
          </a:xfrm>
          <a:prstGeom prst="rect">
            <a:avLst/>
          </a:prstGeom>
          <a:noFill/>
        </p:spPr>
        <p:txBody>
          <a:bodyPr wrap="square" lIns="0" rIns="0" tIns="0" bIns="0" anchor="t">
            <a:spAutoFit/>
          </a:bodyPr>
          <a:lstStyle/>
          <a:p>
            <a:pPr algn="l">
              <a:lnSpc>
                <a:spcPct val="112000"/>
              </a:lnSpc>
            </a:pPr>
            <a:r>
              <a:rPr sz="1400" b="1" i="0">
                <a:solidFill>
                  <a:srgbClr val="93C5FD"/>
                </a:solidFill>
                <a:latin typeface="微软雅黑"/>
                <a:ea typeface="微软雅黑"/>
              </a:rPr>
              <a:t>总结与致谢</a:t>
            </a:r>
          </a:p>
        </p:txBody>
      </p:sp>
      <p:sp>
        <p:nvSpPr>
          <p:cNvPr id="6" name="TextBox 5"/>
          <p:cNvSpPr txBox="1"/>
          <p:nvPr/>
        </p:nvSpPr>
        <p:spPr>
          <a:xfrm>
            <a:off x="777240" y="1417320"/>
            <a:ext cx="8229600" cy="548640"/>
          </a:xfrm>
          <a:prstGeom prst="rect">
            <a:avLst/>
          </a:prstGeom>
          <a:noFill/>
        </p:spPr>
        <p:txBody>
          <a:bodyPr wrap="square" lIns="0" rIns="0" tIns="0" bIns="0" anchor="t">
            <a:spAutoFit/>
          </a:bodyPr>
          <a:lstStyle/>
          <a:p>
            <a:pPr algn="l">
              <a:lnSpc>
                <a:spcPct val="112000"/>
              </a:lnSpc>
            </a:pPr>
            <a:r>
              <a:rPr sz="2600" b="1" i="0">
                <a:solidFill>
                  <a:srgbClr val="FFFFFF"/>
                </a:solidFill>
                <a:latin typeface="微软雅黑"/>
                <a:ea typeface="微软雅黑"/>
              </a:rPr>
              <a:t>把一条物业报修，变成一条</a:t>
            </a:r>
          </a:p>
        </p:txBody>
      </p:sp>
      <p:sp>
        <p:nvSpPr>
          <p:cNvPr id="7" name="TextBox 6"/>
          <p:cNvSpPr txBox="1"/>
          <p:nvPr/>
        </p:nvSpPr>
        <p:spPr>
          <a:xfrm>
            <a:off x="777240" y="2011680"/>
            <a:ext cx="9601200" cy="640080"/>
          </a:xfrm>
          <a:prstGeom prst="rect">
            <a:avLst/>
          </a:prstGeom>
          <a:noFill/>
        </p:spPr>
        <p:txBody>
          <a:bodyPr wrap="square" lIns="0" rIns="0" tIns="0" bIns="0" anchor="t">
            <a:spAutoFit/>
          </a:bodyPr>
          <a:lstStyle/>
          <a:p>
            <a:pPr algn="l">
              <a:lnSpc>
                <a:spcPct val="112000"/>
              </a:lnSpc>
            </a:pPr>
            <a:r>
              <a:rPr sz="3100" b="1" i="0">
                <a:solidFill>
                  <a:srgbClr val="FFFFFF"/>
                </a:solidFill>
                <a:latin typeface="微软雅黑"/>
                <a:ea typeface="微软雅黑"/>
              </a:rPr>
              <a:t>可解释、可追溯、可复现的闭环。</a:t>
            </a:r>
          </a:p>
        </p:txBody>
      </p:sp>
      <p:sp>
        <p:nvSpPr>
          <p:cNvPr id="8" name="TextBox 7"/>
          <p:cNvSpPr txBox="1"/>
          <p:nvPr/>
        </p:nvSpPr>
        <p:spPr>
          <a:xfrm>
            <a:off x="795528" y="2852928"/>
            <a:ext cx="7772400" cy="365760"/>
          </a:xfrm>
          <a:prstGeom prst="rect">
            <a:avLst/>
          </a:prstGeom>
          <a:noFill/>
        </p:spPr>
        <p:txBody>
          <a:bodyPr wrap="square" lIns="0" rIns="0" tIns="0" bIns="0" anchor="t">
            <a:spAutoFit/>
          </a:bodyPr>
          <a:lstStyle/>
          <a:p>
            <a:pPr algn="l">
              <a:lnSpc>
                <a:spcPct val="112000"/>
              </a:lnSpc>
            </a:pPr>
            <a:r>
              <a:rPr sz="1400" b="0" i="0">
                <a:solidFill>
                  <a:srgbClr val="CBD5E1"/>
                </a:solidFill>
                <a:latin typeface="微软雅黑"/>
                <a:ea typeface="微软雅黑"/>
              </a:rPr>
              <a:t>4 个专职 Agent + 1 个编排中心，覆盖理解、派单、监控、验收与看板。</a:t>
            </a:r>
          </a:p>
        </p:txBody>
      </p:sp>
      <p:sp>
        <p:nvSpPr>
          <p:cNvPr id="9" name="TextBox 8"/>
          <p:cNvSpPr txBox="1"/>
          <p:nvPr/>
        </p:nvSpPr>
        <p:spPr>
          <a:xfrm>
            <a:off x="795528" y="3703320"/>
            <a:ext cx="1645920" cy="457200"/>
          </a:xfrm>
          <a:prstGeom prst="rect">
            <a:avLst/>
          </a:prstGeom>
          <a:noFill/>
        </p:spPr>
        <p:txBody>
          <a:bodyPr wrap="square" lIns="0" rIns="0" tIns="0" bIns="0" anchor="t">
            <a:spAutoFit/>
          </a:bodyPr>
          <a:lstStyle/>
          <a:p>
            <a:pPr algn="l">
              <a:lnSpc>
                <a:spcPct val="112000"/>
              </a:lnSpc>
            </a:pPr>
            <a:r>
              <a:rPr sz="2600" b="1" i="0">
                <a:solidFill>
                  <a:srgbClr val="67E8F9"/>
                </a:solidFill>
                <a:latin typeface="微软雅黑"/>
                <a:ea typeface="微软雅黑"/>
              </a:rPr>
              <a:t>4 + 1</a:t>
            </a:r>
          </a:p>
        </p:txBody>
      </p:sp>
      <p:sp>
        <p:nvSpPr>
          <p:cNvPr id="10" name="TextBox 9"/>
          <p:cNvSpPr txBox="1"/>
          <p:nvPr/>
        </p:nvSpPr>
        <p:spPr>
          <a:xfrm>
            <a:off x="795528" y="4224528"/>
            <a:ext cx="1645920" cy="228600"/>
          </a:xfrm>
          <a:prstGeom prst="rect">
            <a:avLst/>
          </a:prstGeom>
          <a:noFill/>
        </p:spPr>
        <p:txBody>
          <a:bodyPr wrap="square" lIns="0" rIns="0" tIns="0" bIns="0" anchor="t">
            <a:spAutoFit/>
          </a:bodyPr>
          <a:lstStyle/>
          <a:p>
            <a:pPr algn="l">
              <a:lnSpc>
                <a:spcPct val="112000"/>
              </a:lnSpc>
            </a:pPr>
            <a:r>
              <a:rPr sz="1000" b="0" i="0">
                <a:solidFill>
                  <a:srgbClr val="94A3B8"/>
                </a:solidFill>
                <a:latin typeface="微软雅黑"/>
                <a:ea typeface="微软雅黑"/>
              </a:rPr>
              <a:t>协作节点</a:t>
            </a:r>
          </a:p>
        </p:txBody>
      </p:sp>
      <p:sp>
        <p:nvSpPr>
          <p:cNvPr id="11" name="TextBox 10"/>
          <p:cNvSpPr txBox="1"/>
          <p:nvPr/>
        </p:nvSpPr>
        <p:spPr>
          <a:xfrm>
            <a:off x="2852928" y="3703320"/>
            <a:ext cx="1645920" cy="457200"/>
          </a:xfrm>
          <a:prstGeom prst="rect">
            <a:avLst/>
          </a:prstGeom>
          <a:noFill/>
        </p:spPr>
        <p:txBody>
          <a:bodyPr wrap="square" lIns="0" rIns="0" tIns="0" bIns="0" anchor="t">
            <a:spAutoFit/>
          </a:bodyPr>
          <a:lstStyle/>
          <a:p>
            <a:pPr algn="l">
              <a:lnSpc>
                <a:spcPct val="112000"/>
              </a:lnSpc>
            </a:pPr>
            <a:r>
              <a:rPr sz="2600" b="1" i="0">
                <a:solidFill>
                  <a:srgbClr val="67E8F9"/>
                </a:solidFill>
                <a:latin typeface="微软雅黑"/>
                <a:ea typeface="微软雅黑"/>
              </a:rPr>
              <a:t>3000</a:t>
            </a:r>
          </a:p>
        </p:txBody>
      </p:sp>
      <p:sp>
        <p:nvSpPr>
          <p:cNvPr id="12" name="TextBox 11"/>
          <p:cNvSpPr txBox="1"/>
          <p:nvPr/>
        </p:nvSpPr>
        <p:spPr>
          <a:xfrm>
            <a:off x="2852928" y="4224528"/>
            <a:ext cx="1645920" cy="228600"/>
          </a:xfrm>
          <a:prstGeom prst="rect">
            <a:avLst/>
          </a:prstGeom>
          <a:noFill/>
        </p:spPr>
        <p:txBody>
          <a:bodyPr wrap="square" lIns="0" rIns="0" tIns="0" bIns="0" anchor="t">
            <a:spAutoFit/>
          </a:bodyPr>
          <a:lstStyle/>
          <a:p>
            <a:pPr algn="l">
              <a:lnSpc>
                <a:spcPct val="112000"/>
              </a:lnSpc>
            </a:pPr>
            <a:r>
              <a:rPr sz="1000" b="0" i="0">
                <a:solidFill>
                  <a:srgbClr val="94A3B8"/>
                </a:solidFill>
                <a:latin typeface="微软雅黑"/>
                <a:ea typeface="微软雅黑"/>
              </a:rPr>
              <a:t>历史工单</a:t>
            </a:r>
          </a:p>
        </p:txBody>
      </p:sp>
      <p:sp>
        <p:nvSpPr>
          <p:cNvPr id="13" name="TextBox 12"/>
          <p:cNvSpPr txBox="1"/>
          <p:nvPr/>
        </p:nvSpPr>
        <p:spPr>
          <a:xfrm>
            <a:off x="4910328" y="3703320"/>
            <a:ext cx="1645920" cy="457200"/>
          </a:xfrm>
          <a:prstGeom prst="rect">
            <a:avLst/>
          </a:prstGeom>
          <a:noFill/>
        </p:spPr>
        <p:txBody>
          <a:bodyPr wrap="square" lIns="0" rIns="0" tIns="0" bIns="0" anchor="t">
            <a:spAutoFit/>
          </a:bodyPr>
          <a:lstStyle/>
          <a:p>
            <a:pPr algn="l">
              <a:lnSpc>
                <a:spcPct val="112000"/>
              </a:lnSpc>
            </a:pPr>
            <a:r>
              <a:rPr sz="2600" b="1" i="0">
                <a:solidFill>
                  <a:srgbClr val="67E8F9"/>
                </a:solidFill>
                <a:latin typeface="微软雅黑"/>
                <a:ea typeface="微软雅黑"/>
              </a:rPr>
              <a:t>600</a:t>
            </a:r>
          </a:p>
        </p:txBody>
      </p:sp>
      <p:sp>
        <p:nvSpPr>
          <p:cNvPr id="14" name="TextBox 13"/>
          <p:cNvSpPr txBox="1"/>
          <p:nvPr/>
        </p:nvSpPr>
        <p:spPr>
          <a:xfrm>
            <a:off x="4910328" y="4224528"/>
            <a:ext cx="1645920" cy="228600"/>
          </a:xfrm>
          <a:prstGeom prst="rect">
            <a:avLst/>
          </a:prstGeom>
          <a:noFill/>
        </p:spPr>
        <p:txBody>
          <a:bodyPr wrap="square" lIns="0" rIns="0" tIns="0" bIns="0" anchor="t">
            <a:spAutoFit/>
          </a:bodyPr>
          <a:lstStyle/>
          <a:p>
            <a:pPr algn="l">
              <a:lnSpc>
                <a:spcPct val="112000"/>
              </a:lnSpc>
            </a:pPr>
            <a:r>
              <a:rPr sz="1000" b="0" i="0">
                <a:solidFill>
                  <a:srgbClr val="94A3B8"/>
                </a:solidFill>
                <a:latin typeface="微软雅黑"/>
                <a:ea typeface="微软雅黑"/>
              </a:rPr>
              <a:t>评估样本</a:t>
            </a:r>
          </a:p>
        </p:txBody>
      </p:sp>
      <p:sp>
        <p:nvSpPr>
          <p:cNvPr id="15" name="TextBox 14"/>
          <p:cNvSpPr txBox="1"/>
          <p:nvPr/>
        </p:nvSpPr>
        <p:spPr>
          <a:xfrm>
            <a:off x="6967728" y="3703320"/>
            <a:ext cx="1645920" cy="457200"/>
          </a:xfrm>
          <a:prstGeom prst="rect">
            <a:avLst/>
          </a:prstGeom>
          <a:noFill/>
        </p:spPr>
        <p:txBody>
          <a:bodyPr wrap="square" lIns="0" rIns="0" tIns="0" bIns="0" anchor="t">
            <a:spAutoFit/>
          </a:bodyPr>
          <a:lstStyle/>
          <a:p>
            <a:pPr algn="l">
              <a:lnSpc>
                <a:spcPct val="112000"/>
              </a:lnSpc>
            </a:pPr>
            <a:r>
              <a:rPr sz="2600" b="1" i="0">
                <a:solidFill>
                  <a:srgbClr val="67E8F9"/>
                </a:solidFill>
                <a:latin typeface="微软雅黑"/>
                <a:ea typeface="微软雅黑"/>
              </a:rPr>
              <a:t>22</a:t>
            </a:r>
          </a:p>
        </p:txBody>
      </p:sp>
      <p:sp>
        <p:nvSpPr>
          <p:cNvPr id="16" name="TextBox 15"/>
          <p:cNvSpPr txBox="1"/>
          <p:nvPr/>
        </p:nvSpPr>
        <p:spPr>
          <a:xfrm>
            <a:off x="6967728" y="4224528"/>
            <a:ext cx="1645920" cy="228600"/>
          </a:xfrm>
          <a:prstGeom prst="rect">
            <a:avLst/>
          </a:prstGeom>
          <a:noFill/>
        </p:spPr>
        <p:txBody>
          <a:bodyPr wrap="square" lIns="0" rIns="0" tIns="0" bIns="0" anchor="t">
            <a:spAutoFit/>
          </a:bodyPr>
          <a:lstStyle/>
          <a:p>
            <a:pPr algn="l">
              <a:lnSpc>
                <a:spcPct val="112000"/>
              </a:lnSpc>
            </a:pPr>
            <a:r>
              <a:rPr sz="1000" b="0" i="0">
                <a:solidFill>
                  <a:srgbClr val="94A3B8"/>
                </a:solidFill>
                <a:latin typeface="微软雅黑"/>
                <a:ea typeface="微软雅黑"/>
              </a:rPr>
              <a:t>项测试</a:t>
            </a:r>
          </a:p>
        </p:txBody>
      </p:sp>
      <p:sp>
        <p:nvSpPr>
          <p:cNvPr id="17" name="Rectangle 16"/>
          <p:cNvSpPr/>
          <p:nvPr/>
        </p:nvSpPr>
        <p:spPr>
          <a:xfrm>
            <a:off x="795528" y="4736592"/>
            <a:ext cx="4754880" cy="10972"/>
          </a:xfrm>
          <a:prstGeom prst="rect">
            <a:avLst/>
          </a:prstGeom>
          <a:solidFill>
            <a:srgbClr val="335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5528" y="4937760"/>
            <a:ext cx="8686800" cy="365760"/>
          </a:xfrm>
          <a:prstGeom prst="rect">
            <a:avLst/>
          </a:prstGeom>
          <a:noFill/>
        </p:spPr>
        <p:txBody>
          <a:bodyPr wrap="square" lIns="0" rIns="0" tIns="0" bIns="0" anchor="t">
            <a:spAutoFit/>
          </a:bodyPr>
          <a:lstStyle/>
          <a:p>
            <a:pPr algn="l">
              <a:lnSpc>
                <a:spcPct val="112000"/>
              </a:lnSpc>
            </a:pPr>
            <a:r>
              <a:rPr sz="1700" b="1" i="0">
                <a:solidFill>
                  <a:srgbClr val="FFFFFF"/>
                </a:solidFill>
                <a:latin typeface="微软雅黑"/>
                <a:ea typeface="微软雅黑"/>
              </a:rPr>
              <a:t>感谢指导老师的悉心指导，感谢各位评审老师！</a:t>
            </a:r>
          </a:p>
        </p:txBody>
      </p:sp>
      <p:sp>
        <p:nvSpPr>
          <p:cNvPr id="19" name="TextBox 18"/>
          <p:cNvSpPr txBox="1"/>
          <p:nvPr/>
        </p:nvSpPr>
        <p:spPr>
          <a:xfrm>
            <a:off x="795528" y="5394960"/>
            <a:ext cx="6400800" cy="320040"/>
          </a:xfrm>
          <a:prstGeom prst="rect">
            <a:avLst/>
          </a:prstGeom>
          <a:noFill/>
        </p:spPr>
        <p:txBody>
          <a:bodyPr wrap="square" lIns="0" rIns="0" tIns="0" bIns="0" anchor="t">
            <a:spAutoFit/>
          </a:bodyPr>
          <a:lstStyle/>
          <a:p>
            <a:pPr algn="l">
              <a:lnSpc>
                <a:spcPct val="112000"/>
              </a:lnSpc>
            </a:pPr>
            <a:r>
              <a:rPr sz="1400" b="0" i="0">
                <a:solidFill>
                  <a:srgbClr val="67E8F9"/>
                </a:solidFill>
                <a:latin typeface="微软雅黑"/>
                <a:ea typeface="微软雅黑"/>
              </a:rPr>
              <a:t>恳请各位老师批评指正</a:t>
            </a:r>
          </a:p>
        </p:txBody>
      </p:sp>
      <p:sp>
        <p:nvSpPr>
          <p:cNvPr id="20" name="TextBox 19"/>
          <p:cNvSpPr txBox="1"/>
          <p:nvPr/>
        </p:nvSpPr>
        <p:spPr>
          <a:xfrm>
            <a:off x="795528" y="5897880"/>
            <a:ext cx="5486400" cy="274320"/>
          </a:xfrm>
          <a:prstGeom prst="rect">
            <a:avLst/>
          </a:prstGeom>
          <a:noFill/>
        </p:spPr>
        <p:txBody>
          <a:bodyPr wrap="square" lIns="0" rIns="0" tIns="0" bIns="0" anchor="t">
            <a:spAutoFit/>
          </a:bodyPr>
          <a:lstStyle/>
          <a:p>
            <a:pPr algn="l">
              <a:lnSpc>
                <a:spcPct val="112000"/>
              </a:lnSpc>
            </a:pPr>
            <a:r>
              <a:rPr sz="1100" b="0" i="0">
                <a:solidFill>
                  <a:srgbClr val="94A3B8"/>
                </a:solidFill>
                <a:latin typeface="微软雅黑"/>
                <a:ea typeface="微软雅黑"/>
              </a:rPr>
              <a:t>答辩人：____________　　2026 年 10 月</a:t>
            </a:r>
          </a:p>
        </p:txBody>
      </p:sp>
      <p:sp>
        <p:nvSpPr>
          <p:cNvPr id="21" name="Rectangle 20"/>
          <p:cNvSpPr/>
          <p:nvPr/>
        </p:nvSpPr>
        <p:spPr>
          <a:xfrm>
            <a:off x="658368" y="6428232"/>
            <a:ext cx="10881360" cy="7315"/>
          </a:xfrm>
          <a:prstGeom prst="rect">
            <a:avLst/>
          </a:prstGeom>
          <a:solidFill>
            <a:srgbClr val="3355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8368" y="6492240"/>
            <a:ext cx="5486400" cy="201168"/>
          </a:xfrm>
          <a:prstGeom prst="rect">
            <a:avLst/>
          </a:prstGeom>
          <a:noFill/>
        </p:spPr>
        <p:txBody>
          <a:bodyPr wrap="square" lIns="0" rIns="0" tIns="0" bIns="0" anchor="t">
            <a:spAutoFit/>
          </a:bodyPr>
          <a:lstStyle/>
          <a:p>
            <a:pPr algn="l">
              <a:lnSpc>
                <a:spcPct val="112000"/>
              </a:lnSpc>
            </a:pPr>
            <a:r>
              <a:rPr sz="950" b="0" i="0">
                <a:solidFill>
                  <a:srgbClr val="94A3B8"/>
                </a:solidFill>
                <a:latin typeface="微软雅黑"/>
                <a:ea typeface="微软雅黑"/>
              </a:rPr>
              <a:t>智修云 · 多智能体物业工单闭环系统</a:t>
            </a:r>
          </a:p>
        </p:txBody>
      </p:sp>
      <p:sp>
        <p:nvSpPr>
          <p:cNvPr id="23" name="TextBox 22"/>
          <p:cNvSpPr txBox="1"/>
          <p:nvPr/>
        </p:nvSpPr>
        <p:spPr>
          <a:xfrm>
            <a:off x="10607040" y="6492240"/>
            <a:ext cx="914400" cy="201168"/>
          </a:xfrm>
          <a:prstGeom prst="rect">
            <a:avLst/>
          </a:prstGeom>
          <a:noFill/>
        </p:spPr>
        <p:txBody>
          <a:bodyPr wrap="square" lIns="0" rIns="0" tIns="0" bIns="0" anchor="t">
            <a:spAutoFit/>
          </a:bodyPr>
          <a:lstStyle/>
          <a:p>
            <a:pPr algn="r">
              <a:lnSpc>
                <a:spcPct val="112000"/>
              </a:lnSpc>
            </a:pPr>
            <a:r>
              <a:rPr sz="950" b="1" i="0">
                <a:solidFill>
                  <a:srgbClr val="94A3B8"/>
                </a:solidFill>
                <a:latin typeface="微软雅黑"/>
                <a:ea typeface="微软雅黑"/>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